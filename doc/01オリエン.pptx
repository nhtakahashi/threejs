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13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ABF8F32A-0E29-455D-BF0E-64EA0687DC42}"/>
    <pc:docChg chg="custSel mod addSld delSld modSld addMainMaster delMainMaster modMainMaster modNotesMaster setSldSz">
      <pc:chgData name="NH-STAFF 高橋真広" userId="60c902bb-f64f-40cf-869e-8386dac879fa" providerId="ADAL" clId="{ABF8F32A-0E29-455D-BF0E-64EA0687DC42}" dt="2026-05-30T09:21:44.754" v="2" actId="26606"/>
      <pc:docMkLst>
        <pc:docMk/>
      </pc:docMkLst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56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57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58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59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0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1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2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3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4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5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6"/>
        </pc:sldMkLst>
      </pc:sldChg>
      <pc:sldChg chg="ad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0" sldId="267"/>
        </pc:sldMkLst>
      </pc:sldChg>
      <pc:sldChg chg="del replId">
        <pc:chgData name="NH-STAFF 高橋真広" userId="60c902bb-f64f-40cf-869e-8386dac879fa" providerId="ADAL" clId="{ABF8F32A-0E29-455D-BF0E-64EA0687DC42}" dt="2026-05-30T09:21:44.754" v="2" actId="26606"/>
        <pc:sldMkLst>
          <pc:docMk/>
          <pc:sldMk cId="2128380218" sldId="268"/>
        </pc:sldMkLst>
      </pc:sldChg>
      <pc:sldMasterChg chg="add addSldLayout">
        <pc:chgData name="NH-STAFF 高橋真広" userId="60c902bb-f64f-40cf-869e-8386dac879fa" providerId="ADAL" clId="{ABF8F32A-0E29-455D-BF0E-64EA0687DC42}" dt="2026-05-30T09:21:44.754" v="2" actId="26606"/>
        <pc:sldMasterMkLst>
          <pc:docMk/>
          <pc:sldMasterMk cId="0" sldId="2147483648"/>
        </pc:sldMasterMkLst>
        <pc:sldLayoutChg chg="add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replId delSldLayout modSldLayout">
        <pc:chgData name="NH-STAFF 高橋真広" userId="60c902bb-f64f-40cf-869e-8386dac879fa" providerId="ADAL" clId="{ABF8F32A-0E29-455D-BF0E-64EA0687DC42}" dt="2026-05-30T09:21:44.754" v="2" actId="26606"/>
        <pc:sldMasterMkLst>
          <pc:docMk/>
          <pc:sldMasterMk cId="2907289730" sldId="2147483660"/>
        </pc:sldMasterMkLst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2040515858" sldId="2147483650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4083904788" sldId="2147483651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1395402986" sldId="2147483652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797884901" sldId="2147483653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539588861" sldId="2147483654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2042860812" sldId="2147483655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3888451093" sldId="2147483656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2189387916" sldId="2147483657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2575747102" sldId="2147483658"/>
          </pc:sldLayoutMkLst>
        </pc:sldLayoutChg>
        <pc:sldLayoutChg chg="del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2950866720" sldId="2147483659"/>
          </pc:sldLayoutMkLst>
        </pc:sldLayoutChg>
        <pc:sldLayoutChg chg="del replId">
          <pc:chgData name="NH-STAFF 高橋真広" userId="60c902bb-f64f-40cf-869e-8386dac879fa" providerId="ADAL" clId="{ABF8F32A-0E29-455D-BF0E-64EA0687DC42}" dt="2026-05-30T09:21:44.754" v="2" actId="26606"/>
          <pc:sldLayoutMkLst>
            <pc:docMk/>
            <pc:sldMasterMk cId="2907289730" sldId="2147483660"/>
            <pc:sldLayoutMk cId="384910677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7315200" y="548640"/>
            <a:ext cx="914400" cy="914400"/>
          </a:xfrm>
          <a:prstGeom prst="rect">
            <a:avLst/>
          </a:prstGeom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7772400" y="91440"/>
            <a:ext cx="914400" cy="914400"/>
          </a:xfrm>
          <a:prstGeom prst="rect">
            <a:avLst/>
          </a:prstGeom>
          <a:ln w="158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 flipV="1">
            <a:off x="7315200" y="91440"/>
            <a:ext cx="457200" cy="45720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 flipV="1">
            <a:off x="8229600" y="91440"/>
            <a:ext cx="457200" cy="45720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 flipV="1">
            <a:off x="7315200" y="1005840"/>
            <a:ext cx="457200" cy="45720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 flipV="1">
            <a:off x="8229600" y="1005840"/>
            <a:ext cx="457200" cy="45720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SYLLABUS /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54864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実践講座</a:t>
            </a:r>
            <a:endParaRPr lang="en-US" sz="4000" dirty="0"/>
          </a:p>
        </p:txBody>
      </p:sp>
      <p:sp>
        <p:nvSpPr>
          <p:cNvPr id="27" name="Shape 25"/>
          <p:cNvSpPr/>
          <p:nvPr/>
        </p:nvSpPr>
        <p:spPr>
          <a:xfrm>
            <a:off x="548640" y="2697480"/>
            <a:ext cx="146304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4864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ブラウザで動く3Dグラフィックスを、コードから作る10回の実践プログラム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 10 回</a:t>
            </a:r>
            <a:r>
              <a:rPr lang="en-US" sz="13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/  </a:t>
            </a:r>
            <a:r>
              <a:rPr lang="en-US" sz="1300" b="1" dirty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回 2 時間</a:t>
            </a:r>
            <a:r>
              <a:rPr lang="en-US" sz="13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/  </a:t>
            </a:r>
            <a:r>
              <a:rPr lang="en-US" sz="13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対象: JavaScript 経験のある初心者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Course Overview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548640" y="1234440"/>
            <a:ext cx="73152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256032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315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D3EE"/>
                </a:solidFill>
              </a:rPr>
              <a:t>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ゴール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148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Three.jsとWebGLの仕組みを理解し、自分でインタラクティブな3Dシーンを設計・実装できる状態を目指します。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1554480"/>
            <a:ext cx="256032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4747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C4899"/>
                </a:solidFill>
              </a:rPr>
              <a:t>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2148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JavaScriptの基本構文(変数・関数・配列・ES6)を使える方。3DやWebGLは未経験でOK。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554480"/>
            <a:ext cx="2560320" cy="1783080"/>
          </a:xfrm>
          <a:prstGeom prst="rect">
            <a:avLst/>
          </a:prstGeom>
          <a:solidFill>
            <a:srgbClr val="111827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3E635"/>
                </a:solidFill>
              </a:rPr>
              <a:t>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進め方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21488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毎回「解説 60分 → ハンズオン 50分 → 振り返り 10分」。最終回でオリジナル作品を発表。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必要な環境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Node.js 20+ / Vite / VS Code / Chrome (WebGL2対応) / Git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最終成果物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インタラクティブな3D作品 (1ページのWebサイトに組み込み可能な状態) を1本完成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ターミナル基本操作 / npm の基本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Three.jsの概要と開発環境構築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Three.jsで何ができるかを把握し、Vite + Three.jsの最小プロジェクトを自分で起動できる。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WebGLとThree.jsの関係 / 公式ドキュメントの読み方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Vite による開発サーバ・ホットリロード環境構築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npm install three / ES Modules でのインポート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ブラウザDevToolsを使ったWebGL状態の確認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Viteでプロジェクトを作成し、青いキャンバスを画面に表示するまでをゼロから構築。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第1回の環境構築完了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基本構造と最初の3Dシーン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Scene / Camera / Renderer の三要素を理解し、自分で立方体を回転表示できる。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Scene・PerspectiveCamera・WebGLRendererの役割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Mesh = Geometry + Material という考え方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requestAnimationFrameによるアニメーションループ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ウィンドウリサイズへの対応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回転するBoxGeometryを画面中央に表示し、リサイズしてもレイアウトが崩れないよう調整。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第2回までの基本シーン作成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マテリアルとライトの使い方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各種マテリアルとライトの違いを理解し、用途に応じて使い分けられる。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MeshBasic / Lambert / Phong / Standard / Physical の違い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AmbientLight・DirectionalLight・PointLight・SpotLight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色・粗さ・金属感などStandardMaterialの主要プロパティ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シャドウの有効化 (castShadow / receiveShadow)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球体・トーラス・床面を配置し、ライティングを切り替えて見え方の違いを比較。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マテリアルの基礎理解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テクスチャと背景表現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画像テクスチャを正しく貼り付け、空間全体の雰囲気を背景で演出できる。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TextureLoader / 非同期読込とエラー処理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UVマッピングの基礎・繰り返し (repeat / wrapS / wrapT)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Normal / Roughness / Metalness マップによる質感表現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CubeTexture と Environment Map による背景・反射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床にタイル状テクスチャを敷き、CubeTextureで空を表現したミニシーンを作成。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シーン構築・描画ループの理解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カメラ操作とユーザーインタラクション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ユーザー操作で視点を変えられるシーンを設計し、Rayキャストによる選択を実装できる。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/ 制限角度・ダンピング設定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Raycasterでマウスホバー・クリック判定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PerspectiveとOrthographicカメラの使い分け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ポインタイベントとタッチ対応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並んだ複数の立方体から、クリックしたものを強調表示するインタラクションを実装。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マテリアル・テクスチャの理解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モデル読み込みと外部リソース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外部3DモデルをWebに読み込み、サイズ・位置・マテリアルを調整して表示できる。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/ GLB フォーマットの特徴とライセンス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/ DRACOLoader による圧縮モデル対応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モデルの中心化・スケール調整・バウンディングボックス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無料モデル配布サイトと最適化の注意点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公開glTFモデルを読み込み、Raycasterと組み合わせてクリックで色が変わる展示台を作成。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シーンの基本構築 / 数学の基礎(三角関数)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アニメーションと動きの演出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オブジェクトの動きを設計し、補間ライブラリでなめらかな演出を加えられる。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によるモデル組込みアニメーション再生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/ tween.jsによる補間 (Easing) の選び方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time に基づくフレームレート非依存な更新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sin / cos を使った周期的なモーション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モデルの登場シーンを設計 — フェードイン・スケール変化・カメラワークを組み合わせて演出。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レンダリングループの理解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ポストプロセスとエフェクト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EffectComposerを使った後処理パイプラインを組み立て、画面全体の質感を底上げできる。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EffectComposer と Pass の概念 / RenderPass の役割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UnrealBloomPass による発光表現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FilmPass / GlitchPass / OutlinePass の使い所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パフォーマンスとの折り合いの付け方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ネオン発光する立方体群にBloomを適用し、サイバー風のシーンを構築。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ここまでの作品制作経験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パフォーマンス最適化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FPSが落ちる原因を計測から特定し、ポリゴン・テクスチャ・描画呼び出しを最適化できる。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stats.js / SpectorJS によるFPS・GPU計測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ジオメトリ統合・InstancedMeshによるドローコール削減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テクスチャ圧縮・ミップマップ・解像度の選定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視錐台カリングと LOD の考え方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1,000個のオブジェクトを通常Mesh vs InstancedMeshで比較し、FPSの差を計測。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863840" y="-146304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-1645920" y="38404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858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54864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82296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hours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1874520" y="2606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前提知識・準備物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第1〜9回の総合理解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48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実践プロジェクト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291840" y="1417320"/>
            <a:ext cx="5486400" cy="0"/>
          </a:xfrm>
          <a:prstGeom prst="line">
            <a:avLst/>
          </a:prstGeom>
          <a:noFill/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2918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学習目標 / 到達点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1828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テーマを設定し、自分の作品としてオリジナル3Dシーンを完成・発表できる。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主な内容 / トピック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278892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企画 → 設計 → 実装 → リファクタの進め方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Pages / Vercel での公開手順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コードレビューと相互フィードバック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次の学習ステップ (シェーダ・React Three Fiber) の案内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4069080"/>
            <a:ext cx="54864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3429000" y="40690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HANDS-ON   </a:t>
            </a:r>
            <a:r>
              <a:rPr lang="en-US" sz="100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個人テーマで作品を制作し、最終回の後半で1人5分の作品発表会を実施。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836</Words>
  <Application>Microsoft Office PowerPoint</Application>
  <PresentationFormat>画面に合わせる (16:9)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Yu Gothic UI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1</cp:revision>
  <dcterms:created xsi:type="dcterms:W3CDTF">2026-05-30T09:11:27Z</dcterms:created>
  <dcterms:modified xsi:type="dcterms:W3CDTF">2026-05-30T09:21:53Z</dcterms:modified>
</cp:coreProperties>
</file>