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ABF8F32A-0E29-455D-BF0E-64EA0687DC42}"/>
    <pc:docChg chg="custSel modSld modNotesMaster">
      <pc:chgData name="NH-STAFF 高橋真広" userId="60c902bb-f64f-40cf-869e-8386dac879fa" providerId="ADAL" clId="{ABF8F32A-0E29-455D-BF0E-64EA0687DC42}" dt="2026-05-30T13:57:46.675" v="1" actId="26606"/>
      <pc:docMkLst>
        <pc:docMk/>
      </pc:docMkLst>
      <pc:sldChg chg="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56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6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6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6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6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6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6"/>
            <ac:spMk id="11" creationId="{00000000-0000-0000-0000-000000000000}"/>
          </ac:spMkLst>
        </pc:spChg>
      </pc:sldChg>
      <pc:sldChg chg="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57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7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7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7"/>
            <ac:spMk id="21" creationId="{00000000-0000-0000-0000-000000000000}"/>
          </ac:spMkLst>
        </pc:sp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58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2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22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8"/>
            <ac:spMk id="23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58"/>
            <ac:spMk id="24" creationId="{00000000-0000-0000-0000-000000000000}"/>
          </ac:spMkLst>
        </pc:sp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59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14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19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20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21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23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24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59"/>
            <ac:spMk id="25" creationId="{00000000-0000-0000-0000-000000000000}"/>
          </ac:spMkLst>
        </pc:spChg>
        <pc:spChg chg="del mod replI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59"/>
            <ac:spMk id="26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59"/>
            <ac:spMk id="27" creationId="{00000000-0000-0000-0000-000000000000}"/>
          </ac:spMkLst>
        </pc:sp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0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1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1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21" creationId="{00000000-0000-0000-0000-000000000000}"/>
          </ac:spMkLst>
        </pc:spChg>
        <pc:spChg chg="del mod replI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0"/>
            <ac:spMk id="22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60"/>
            <ac:spMk id="23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60"/>
            <ac:spMk id="24" creationId="{00000000-0000-0000-0000-000000000000}"/>
          </ac:spMkLst>
        </pc:sp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1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12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16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21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1"/>
            <ac:spMk id="24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1"/>
            <ac:picMk id="25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1"/>
            <ac:picMk id="26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1"/>
            <ac:picMk id="27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1"/>
            <ac:picMk id="28" creationId="{00000000-0000-0000-0000-000000000000}"/>
          </ac:picMkLst>
        </pc:pic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2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1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19" creationId="{00000000-0000-0000-0000-000000000000}"/>
          </ac:spMkLst>
        </pc:spChg>
        <pc:spChg chg="del mod replI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2"/>
            <ac:spMk id="21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62"/>
            <ac:spMk id="22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62"/>
            <ac:spMk id="23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2"/>
            <ac:picMk id="20" creationId="{00000000-0000-0000-0000-000000000000}"/>
          </ac:picMkLst>
        </pc:picChg>
      </pc:sldChg>
      <pc:sldChg chg="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3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3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3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3"/>
            <ac:spMk id="8" creationId="{00000000-0000-0000-0000-000000000000}"/>
          </ac:spMkLst>
        </pc:sp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4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14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2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2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2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4"/>
            <ac:spMk id="29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64"/>
            <ac:spMk id="31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64"/>
            <ac:spMk id="33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4"/>
            <ac:picMk id="30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4"/>
            <ac:picMk id="32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4"/>
            <ac:picMk id="34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4"/>
            <ac:picMk id="35" creationId="{00000000-0000-0000-0000-000000000000}"/>
          </ac:picMkLst>
        </pc:pic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5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6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9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13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19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25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27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28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30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33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5"/>
            <ac:spMk id="34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5"/>
            <ac:picMk id="36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5"/>
            <ac:picMk id="37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5"/>
            <ac:picMk id="38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5"/>
            <ac:picMk id="39" creationId="{00000000-0000-0000-0000-000000000000}"/>
          </ac:picMkLst>
        </pc:picChg>
      </pc:sldChg>
      <pc:sldChg chg="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6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6"/>
            <ac:spMk id="19" creationId="{00000000-0000-0000-0000-000000000000}"/>
          </ac:spMkLst>
        </pc:spChg>
      </pc:sldChg>
      <pc:sldChg chg="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7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7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7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7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7"/>
            <ac:spMk id="7" creationId="{00000000-0000-0000-0000-000000000000}"/>
          </ac:spMkLst>
        </pc:sp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8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19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23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25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8"/>
            <ac:spMk id="26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8"/>
            <ac:picMk id="27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8"/>
            <ac:picMk id="28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8"/>
            <ac:picMk id="29" creationId="{00000000-0000-0000-0000-000000000000}"/>
          </ac:picMkLst>
        </pc:pic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69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5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11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13" creationId="{00000000-0000-0000-0000-000000000000}"/>
          </ac:spMkLst>
        </pc:spChg>
        <pc:spChg chg="del mod replI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69"/>
            <ac:spMk id="16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9"/>
            <ac:picMk id="17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5-30T13:57:46.429" v="0" actId="26606"/>
          <ac:picMkLst>
            <pc:docMk/>
            <pc:sldMk cId="0" sldId="269"/>
            <ac:picMk id="18" creationId="{00000000-0000-0000-0000-000000000000}"/>
          </ac:picMkLst>
        </pc:picChg>
      </pc:sldChg>
      <pc:sldChg chg="addSp del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70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1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1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16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1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1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2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0"/>
            <ac:spMk id="21" creationId="{00000000-0000-0000-0000-000000000000}"/>
          </ac:spMkLst>
        </pc:spChg>
        <pc:spChg chg="mod replId">
          <ac:chgData name="NH-STAFF 高橋真広" userId="60c902bb-f64f-40cf-869e-8386dac879fa" providerId="ADAL" clId="{ABF8F32A-0E29-455D-BF0E-64EA0687DC42}" dt="2026-05-30T13:57:46.429" v="0" actId="26606"/>
          <ac:spMkLst>
            <pc:docMk/>
            <pc:sldMk cId="0" sldId="270"/>
            <ac:spMk id="23" creationId="{00000000-0000-0000-0000-000000000000}"/>
          </ac:spMkLst>
        </pc:spChg>
      </pc:sldChg>
      <pc:sldChg chg="addSp 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71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19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1"/>
            <ac:spMk id="21" creationId="{00000000-0000-0000-0000-000000000000}"/>
          </ac:spMkLst>
        </pc:spChg>
      </pc:sldChg>
      <pc:sldChg chg="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72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2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2"/>
            <ac:spMk id="28" creationId="{00000000-0000-0000-0000-000000000000}"/>
          </ac:spMkLst>
        </pc:spChg>
      </pc:sldChg>
      <pc:sldChg chg="modSp mod modNotes">
        <pc:chgData name="NH-STAFF 高橋真広" userId="60c902bb-f64f-40cf-869e-8386dac879fa" providerId="ADAL" clId="{ABF8F32A-0E29-455D-BF0E-64EA0687DC42}" dt="2026-05-30T13:57:46.675" v="1" actId="26606"/>
        <pc:sldMkLst>
          <pc:docMk/>
          <pc:sldMk cId="0" sldId="273"/>
        </pc:sldMkLst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3:57:46.675" v="1" actId="26606"/>
          <ac:spMkLst>
            <pc:docMk/>
            <pc:sldMk cId="0" sldId="273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599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371600"/>
            <a:ext cx="4114800" cy="41148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914400" y="3291840"/>
            <a:ext cx="2743200" cy="27432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02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基本構造と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最初の3Dシーン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Scene・Camera・Renderer で立方体を動かす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09728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本日のアジェンダ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7190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3つの構成要素を理解する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/ Camera / Renderer の役割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7373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2770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メッシュとループの仕組み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= Geometry + Material / アニメーションループ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788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38221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ハンズオン演習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回転する立方体を画面中央に表示する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38404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解説 60 min → ハンズオン 50 min → 振り返り 10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前提知識・準備物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第1回の到達点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377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プロジェクトを起動できる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three が完了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で import できる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749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青いキャンバスを表示できた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64592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28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今回必要なもの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前回のプロジェクト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0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my-threejs-app をそのまま使用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ターミナル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29200" y="3273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で起動できる状態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数学の知識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不要（コピペで進められる）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3Dシーンを支える3つの要素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645920" y="1874520"/>
            <a:ext cx="640080" cy="64008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3D空間そのもの。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オブジェクトを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配置する入れ物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64592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640080" cy="64008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0116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1188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1188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どこから・どの範囲を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見るかを決める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視点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64592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7040880" y="1874520"/>
            <a:ext cx="640080" cy="640080"/>
          </a:xfrm>
          <a:prstGeom prst="ellipse">
            <a:avLst/>
          </a:prstGeom>
          <a:solidFill>
            <a:srgbClr val="A3E635">
              <a:alpha val="1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0116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0936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レンダラー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0936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シーンをカメラ視点で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画面に描き出す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描画エンジン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この3つが揃って初めて、画面に3Dが表示される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 — 3D空間の入れ物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すべてのオブジェクト・ライト・カメラを格納するルートコンテナ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100584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* as THREE from 'three';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scene = new THREE.Scene();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scene.background = new THREE.Color(0x0f172a);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add() で追加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08960" y="3200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scene.add(mesh) でオブジェクトを空間に配置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307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階層構造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10896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親子関係（グループ）で複数まとめて管理できる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3367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206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背景・霧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10896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や fog で空間の雰囲気を設定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PerspectiveCamera — 視点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人間の目に近い遠近感のあるカメラ。4つの引数で視界を定義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camera = new THREE.PerspectiveCamera(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75, window.innerWidth / window.innerHeight, 0.1, 1000 );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camera.position.z = 5;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3136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視野角（度）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が標準的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06324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84632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3136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アスペクト比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幅 ÷ 高さ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886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最近接距離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4178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これより手前は非表示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84048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3886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最遠距離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4178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これより奥は非表示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WebGLRenderer — 描画エンジン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をカメラ視点で &lt;canvas&gt; に描き出す心臓部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1234440"/>
          </a:xfrm>
          <a:prstGeom prst="roundRect">
            <a:avLst>
              <a:gd name="adj" fmla="val 4444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renderer = new THREE.WebGLRenderer({ antialias: true });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renderer.setSize(window.innerWidth, window.innerHeight);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renderer.setPixelRatio(window.devicePixelRatio);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document.body.appendChild(renderer.domElement);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4728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setSize()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描画領域のピクセルサイズを指定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862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setPixelRatio()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3867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 など高解像度ディスプレイに対応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2511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4306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render()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200400" y="4306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renderer.render(scene, camera) で1フレーム描画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オブジェクトを作る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 = Geometry + Material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82880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Mesh = Geometry + Material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形状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頂点の集まり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（立方体・球など）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18288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057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61188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材質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1188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表面の見た目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（色・質感）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8288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0574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0080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メッシュ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形状＋材質を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合わせた3D物体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788920" y="2606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5577840" y="2606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3000" dirty="0"/>
          </a:p>
        </p:txBody>
      </p:sp>
      <p:sp>
        <p:nvSpPr>
          <p:cNvPr id="21" name="Shape 16"/>
          <p:cNvSpPr/>
          <p:nvPr/>
        </p:nvSpPr>
        <p:spPr>
          <a:xfrm>
            <a:off x="731520" y="406908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1005840" y="4206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mesh = new THREE.Mesh(geometry, material);  scene.add(mesh);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代表的なジオメトリ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4864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BoxGeometry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立方体・直方体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(1, 1, 1)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54864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SphereGeometry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(1, 32, 16)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54864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6012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PlaneGeometry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平面（床・壁）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(10, 10)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54864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CylinderGeometry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円柱・円錐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(1, 1, 2)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52044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731520" y="3520440"/>
            <a:ext cx="54864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960120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TorusGeometry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ドーナツ形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(1, 0.4)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54864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892040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ConeGeometry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円錐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(1, 2, 32)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今回使うマテリアル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第3回で詳しく扱う。今回はまず動かすことを優先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468880" cy="5486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MeshBasicMaterial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ライト不要で常に一定の色。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動作確認に最適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46888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MeshNormalMaterial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971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面の向きを色で可視化。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デバッグに便利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46888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MeshStandardMaterial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971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物理ベースのリアルな質感。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ライトが必要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material = new THREE.MeshNormalMaterial();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最小コードで立方体を表示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3063240"/>
          </a:xfrm>
          <a:prstGeom prst="roundRect">
            <a:avLst>
              <a:gd name="adj" fmla="val 1791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7132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* as THREE from 'three';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scene = new THREE.Scene();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camera = new THREE.PerspectiveCamera(75, innerWidth/innerHeight, 0.1, 1000);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camera.position.z = 5;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renderer = new THREE.WebGLRenderer({ antialias: true });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renderer.setSize(innerWidth, innerHeight);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document.body.appendChild(renderer.domElement);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geometry = new THREE.BoxGeometry(1, 1, 1);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material = new THREE.MeshNormalMaterial();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cube = new THREE.Mesh(geometry, material);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scene.add(cube);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renderer.render(scene, camera);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描画されるまでの流れ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680960" cy="59436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60120" y="1783080"/>
            <a:ext cx="411480" cy="41148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7647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 を作る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764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オブジェクトを置く空間を用意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7680960" cy="59436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60120" y="2514600"/>
            <a:ext cx="411480" cy="41148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496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を置く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496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どこから見るかを決める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7680960" cy="59436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3246120"/>
            <a:ext cx="411480" cy="41148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227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Mesh を add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227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形状＋材質をシーンに追加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7680960" cy="59436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960120" y="3977640"/>
            <a:ext cx="411480" cy="41148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6012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3959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Renderer で描画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3959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render(scene, camera) を呼ぶ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ただし render を1回呼ぶだけでは静止画。動かすにはループが必要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アニメーションループ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 で毎フレーム再描画し、動きを生む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1691640"/>
          </a:xfrm>
          <a:prstGeom prst="roundRect">
            <a:avLst>
              <a:gd name="adj" fmla="val 3243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7132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animate()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requestAnimationFrame(animate);   // 次のフレームを予約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cube.rotation.x += 0.01;          // X軸に回転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cube.rotation.y += 0.01;          // Y軸に回転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renderer.render(scene, camera);   // 再描画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animate();                          // ループ開始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0448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FPS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03120" y="38862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ブラウザの描画タイミングに同期（通常 秒60回）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8853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4270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省電力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103120" y="42702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タブが非表示の間は自動的に停止する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ウィンドウリサイズへの対応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画面サイズが変わっても歪まないよう、カメラとレンダラーを更新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1417320"/>
          </a:xfrm>
          <a:prstGeom prst="roundRect">
            <a:avLst>
              <a:gd name="adj" fmla="val 3871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window.addEventListener('resize', () =&gt;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camera.aspect = innerWidth / innerHeight;  // 比率を更新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camera.updateProjectionMatrix();           // 投影行列を再計算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renderer.setSize(innerWidth, innerHeight);  // 描画サイズ更新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404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忘れると何が起きる？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54480" y="4114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updateProjectionMatrix() を呼ばないと、画面が伸びて立方体が楕円に歪む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よくあるつまずきポイント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6012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6733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画面が真っ黒で何も映らない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67335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camera.position.z を設定したか確認。原点だとカメラが立方体の中にいる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59152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60120" y="2404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43230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立方体が動かない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43230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animate() を呼び忘れ。または render がループ外にある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18104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60120" y="31638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19125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リサイズで歪む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19125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updateProjectionMatrix() と setSize() の両方が必要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77056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60120" y="39227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95020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Basic材質が真っ黒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95020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ライトが無い場合は Normal か Basic 材質で確認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HANDS-ON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回転する立方体を表示しよう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7190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Scene・Camera・Renderer を用意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9568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前回のプロジェクトの main.js に記述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2313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BoxGeometry でメッシュ作成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25511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MeshNormalMaterial と組み合わせて scene.add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29077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animate() ループを実装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314553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rotation.x / y を毎フレーム加算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3502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リサイズ対応を追加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3739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イベントでカメラ・レンダラー更新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06908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40965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ブラウザで確認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37360" y="43342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画面中央で立方体がなめらかに回転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43484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05840" y="4434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ゴール: 画面中央でカラフルな立方体が連続回転し、リサイズしても崩れない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A3E635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まとめ &amp; 次回予告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今日のまとめ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59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/ Camera / Renderer の三要素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= Geometry + Material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 でアニメーション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リサイズ時はカメラとレンダラーを更新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731520" y="3566160"/>
            <a:ext cx="768096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9"/>
          <p:cNvSpPr/>
          <p:nvPr/>
        </p:nvSpPr>
        <p:spPr>
          <a:xfrm>
            <a:off x="10058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次回: SESSION 03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100584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マテリアルとライトの使い方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005840" y="43434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各種マテリアルとライトの違いを理解し、用途に応じて使い分けられるようになります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42FDA3ABBCD154A9210F0A70488BDA5" ma:contentTypeVersion="13" ma:contentTypeDescription="新しいドキュメントを作成します。" ma:contentTypeScope="" ma:versionID="f113d3662dbff0b3d5c059083f0e6c17">
  <xsd:schema xmlns:xsd="http://www.w3.org/2001/XMLSchema" xmlns:xs="http://www.w3.org/2001/XMLSchema" xmlns:p="http://schemas.microsoft.com/office/2006/metadata/properties" xmlns:ns3="91a5efbd-7d02-4308-8565-d8690abf6588" targetNamespace="http://schemas.microsoft.com/office/2006/metadata/properties" ma:root="true" ma:fieldsID="18fefd990dfabeaf438368bc46c1ae56" ns3:_="">
    <xsd:import namespace="91a5efbd-7d02-4308-8565-d8690abf658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5efbd-7d02-4308-8565-d8690abf658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a5efbd-7d02-4308-8565-d8690abf6588" xsi:nil="true"/>
  </documentManagement>
</p:properties>
</file>

<file path=customXml/itemProps1.xml><?xml version="1.0" encoding="utf-8"?>
<ds:datastoreItem xmlns:ds="http://schemas.openxmlformats.org/officeDocument/2006/customXml" ds:itemID="{D3D7EBE7-3608-40A8-B15A-08FCCE764F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a5efbd-7d02-4308-8565-d8690abf6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0B75C3-813A-4130-A54A-CF7AEDBCF3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9FE25C-1909-401F-999A-ABDC0CD86299}">
  <ds:schemaRefs>
    <ds:schemaRef ds:uri="http://purl.org/dc/elements/1.1/"/>
    <ds:schemaRef ds:uri="91a5efbd-7d02-4308-8565-d8690abf6588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8d41d6d7-36ce-4e0c-8c6d-cf2c54c39039}" enabled="0" method="" siteId="{8d41d6d7-36ce-4e0c-8c6d-cf2c54c390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1031</Words>
  <Application>Microsoft Office PowerPoint</Application>
  <PresentationFormat>画面に合わせる (16:9)</PresentationFormat>
  <Paragraphs>302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NH-STAFF 高橋真広</cp:lastModifiedBy>
  <cp:revision>2</cp:revision>
  <dcterms:created xsi:type="dcterms:W3CDTF">2026-05-30T09:11:35Z</dcterms:created>
  <dcterms:modified xsi:type="dcterms:W3CDTF">2026-05-30T13:57:55Z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0x010100142FDA3ABBCD154A9210F0A70488BDA5</vt:lpwstr>
  </property>
</Properties>
</file>