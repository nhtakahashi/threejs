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-1164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mod addSld modSld modNotesMaster setSldSz">
      <pc:chgData name="NH-STAFF 高橋真広" userId="60c902bb-f64f-40cf-869e-8386dac879fa" providerId="ADAL" clId="{ABF8F32A-0E29-455D-BF0E-64EA0687DC42}" dt="2026-06-15T19:10:06.937" v="1" actId="26606"/>
      <pc:docMkLst>
        <pc:docMk/>
      </pc:docMkLst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56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1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1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1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2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6"/>
            <ac:spMk id="30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57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7"/>
            <ac:spMk id="28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58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1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3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8"/>
            <ac:spMk id="34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59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2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2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59"/>
            <ac:spMk id="37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0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2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2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3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0"/>
            <ac:spMk id="36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1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2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1"/>
            <ac:spMk id="37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2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2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2"/>
            <ac:spMk id="38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3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1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2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2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2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3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3"/>
            <ac:spMk id="36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4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2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4"/>
            <ac:spMk id="36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5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3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3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5"/>
            <ac:spMk id="37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6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2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3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6"/>
            <ac:spMk id="37" creationId="{00000000-0000-0000-0000-000000000000}"/>
          </ac:spMkLst>
        </pc:spChg>
      </pc:sldChg>
      <pc:sldChg chg="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7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1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1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2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2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2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7"/>
            <ac:spMk id="25" creationId="{00000000-0000-0000-0000-000000000000}"/>
          </ac:spMkLst>
        </pc:spChg>
      </pc:sldChg>
      <pc:sldChg chg="addSp 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8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14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24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8"/>
            <ac:spMk id="40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6-15T19:10:06.727" v="0" actId="26606"/>
          <ac:picMkLst>
            <pc:docMk/>
            <pc:sldMk cId="0" sldId="268"/>
            <ac:picMk id="36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6-15T19:10:06.727" v="0" actId="26606"/>
          <ac:picMkLst>
            <pc:docMk/>
            <pc:sldMk cId="0" sldId="268"/>
            <ac:picMk id="37" creationId="{00000000-0000-0000-0000-000000000000}"/>
          </ac:picMkLst>
        </pc:picChg>
      </pc:sldChg>
      <pc:sldChg chg="addSp delSp modSp mod setBg modNotes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69"/>
        </pc:sldMkLst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2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11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12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1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3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5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6-15T19:10:06.937" v="1" actId="26606"/>
          <ac:spMkLst>
            <pc:docMk/>
            <pc:sldMk cId="0" sldId="269"/>
            <ac:spMk id="51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6-15T19:10:06.727" v="0" actId="26606"/>
          <ac:picMkLst>
            <pc:docMk/>
            <pc:sldMk cId="0" sldId="269"/>
            <ac:picMk id="26" creationId="{00000000-0000-0000-0000-000000000000}"/>
          </ac:picMkLst>
        </pc:picChg>
      </pc:sldChg>
      <pc:sldChg chg="add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70"/>
        </pc:sldMkLst>
      </pc:sldChg>
      <pc:sldChg chg="add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71"/>
        </pc:sldMkLst>
      </pc:sldChg>
      <pc:sldChg chg="add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72"/>
        </pc:sldMkLst>
      </pc:sldChg>
      <pc:sldChg chg="add">
        <pc:chgData name="NH-STAFF 高橋真広" userId="60c902bb-f64f-40cf-869e-8386dac879fa" providerId="ADAL" clId="{ABF8F32A-0E29-455D-BF0E-64EA0687DC42}" dt="2026-06-15T19:10:06.937" v="1" actId="26606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109728" cy="24688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59536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kern="0" spc="2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 04 / 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" y="182880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テクスチャの貼り付け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59536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画像で質感とディテールを与える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 4</a:t>
            </a:r>
            <a:r>
              <a:rPr lang="en-US" sz="16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</a:t>
            </a:r>
            <a:r>
              <a:rPr lang="en-US" sz="16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hours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本日のアジェンダ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5096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929384"/>
            <a:ext cx="73152" cy="87782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75688" y="1965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テクスチャの基本を理解する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075688" y="2423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読み込み・貼り付け・繰り返しの基礎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0" y="178308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11055096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66928" y="3255264"/>
            <a:ext cx="73152" cy="8778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41248" y="310896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75688" y="3291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各種マップを使い分ける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075688" y="3749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normal・roughness などPBRマップ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0" y="310896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434840"/>
            <a:ext cx="11055096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4581144"/>
            <a:ext cx="73152" cy="87782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434840"/>
            <a:ext cx="1097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075688" y="4617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ハンズオン演習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075688" y="5074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立方体に木目テクスチャを貼る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0" y="443484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 60 min → ハンズオン 50 min → 振り返り 10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PREREQUISITE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前提知識・準備物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第3回の到達点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285232" cy="3977640"/>
          </a:xfrm>
          <a:prstGeom prst="roundRect">
            <a:avLst>
              <a:gd name="adj" fmla="val 160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2157984"/>
            <a:ext cx="73152" cy="368503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46634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7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 マテリアルで質感を設定できる</a:t>
            </a:r>
            <a:endParaRPr lang="en-US" sz="1450" dirty="0"/>
          </a:p>
          <a:p>
            <a:pPr marL="228600" indent="-228600" algn="l">
              <a:lnSpc>
                <a:spcPct val="17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DirectionalLight と影を扱える</a:t>
            </a:r>
            <a:endParaRPr lang="en-US" sz="1450" dirty="0"/>
          </a:p>
          <a:p>
            <a:pPr marL="228600" indent="-228600" algn="l">
              <a:lnSpc>
                <a:spcPct val="17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3点照明で立体感を出せた</a:t>
            </a:r>
            <a:endParaRPr lang="en-US" sz="1450" dirty="0"/>
          </a:p>
          <a:p>
            <a:pPr marL="228600" indent="-228600" algn="l">
              <a:lnSpc>
                <a:spcPct val="17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animate() で立方体が回転している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今回必要なもの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011680"/>
            <a:ext cx="5358384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263640" y="2157984"/>
            <a:ext cx="73152" cy="87782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583680" y="21762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前回のプロジェクト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my-threejs-app をそのまま使用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337560"/>
            <a:ext cx="5358384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263640" y="3483864"/>
            <a:ext cx="73152" cy="87782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35021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テクスチャ画像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木目などの jpg / png を1枚用意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63440"/>
            <a:ext cx="5358384" cy="1170432"/>
          </a:xfrm>
          <a:prstGeom prst="roundRect">
            <a:avLst>
              <a:gd name="adj" fmla="val 546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263640" y="4809744"/>
            <a:ext cx="73152" cy="87782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83680" y="48280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マテリアルの基礎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5257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 を理解していればOK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テクスチャを貼る3つのステップ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29584" cy="3429000"/>
          </a:xfrm>
          <a:prstGeom prst="roundRect">
            <a:avLst>
              <a:gd name="adj" fmla="val 1867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112264"/>
            <a:ext cx="73152" cy="31363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22402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7889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3246120"/>
            <a:ext cx="2706624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41248" y="342900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画像ファイルを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TextureLoader で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29684" y="1965960"/>
            <a:ext cx="3529584" cy="3429000"/>
          </a:xfrm>
          <a:prstGeom prst="roundRect">
            <a:avLst>
              <a:gd name="adj" fmla="val 1867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329684" y="2112264"/>
            <a:ext cx="73152" cy="31363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604004" y="22402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604004" y="27889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貼り付け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4004" y="3246120"/>
            <a:ext cx="2706624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04004" y="342900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material.map に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設定して表面に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貼り付ける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92440" y="1965960"/>
            <a:ext cx="3529584" cy="3429000"/>
          </a:xfrm>
          <a:prstGeom prst="roundRect">
            <a:avLst>
              <a:gd name="adj" fmla="val 1867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092440" y="2112264"/>
            <a:ext cx="73152" cy="313639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366760" y="2240280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 / Repeat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366760" y="27889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66760" y="3246120"/>
            <a:ext cx="2706624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366760" y="342900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座標と繰り返しで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貼り方を整える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 → 貼り付け → 調整 の流れで、表面の質感が決まる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TextureLoader — 画像を読み込む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画像ファイルを非同期で読み込み、テクスチャとして使えるようにする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1055096" cy="1627632"/>
          </a:xfrm>
          <a:prstGeom prst="roundRect">
            <a:avLst>
              <a:gd name="adj" fmla="val 3371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64008" cy="16276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059789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loader = new THREE.TextureLoader();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tex = loader.load('wood.jpg');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tex.colorSpace = THREE.SRGBColorSpace;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86200"/>
            <a:ext cx="3532632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" y="4032504"/>
            <a:ext cx="73152" cy="1536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075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画像のパスを渡して読み込む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28160" y="3886200"/>
            <a:ext cx="3532632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328160" y="4032504"/>
            <a:ext cx="73152" cy="1536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84192" y="4114800"/>
            <a:ext cx="3075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4192" y="4617720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読み込み完了後の処理を書ける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89392" y="3886200"/>
            <a:ext cx="3532632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089392" y="4032504"/>
            <a:ext cx="73152" cy="15361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345424" y="4114800"/>
            <a:ext cx="3075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colorSpace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45424" y="4617720"/>
            <a:ext cx="30754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カラー画像は SRGBColorSpace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— 色を表面に貼る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読み込んだテクスチャを material.map に設定すると、表面の色になる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1055096" cy="1627632"/>
          </a:xfrm>
          <a:prstGeom prst="roundRect">
            <a:avLst>
              <a:gd name="adj" fmla="val 3371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64008" cy="16276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059789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material = new THREE.MeshStandardMaterial({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map: tex,              // カラーマップ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roughness: 0.6 });     // 表面の粗さ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" y="4032504"/>
            <a:ext cx="73152" cy="15361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表面の基本色になるカラーマップ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7852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387852" y="4032504"/>
            <a:ext cx="73152" cy="15361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43884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43884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併用時は乗算。通常は白のまま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208776" y="4032504"/>
            <a:ext cx="73152" cy="15361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64808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needsUpdate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差し替え後に true にする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29700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029700" y="4032504"/>
            <a:ext cx="73152" cy="15361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285732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colorSpace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5732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色がくすむ時にここを確認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repeat / wrap — 繰り返しと座標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UV座標に沿ってテクスチャを繰り返し、タイル状に敷き詰められる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1055096" cy="1627632"/>
          </a:xfrm>
          <a:prstGeom prst="roundRect">
            <a:avLst>
              <a:gd name="adj" fmla="val 3371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64008" cy="16276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0597896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tex.wrapS = THREE.RepeatWrapping;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tex.wrapT = THREE.RepeatWrapping;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tex.repeat.set(4, 4);   // 4×4 タイル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" y="4032504"/>
            <a:ext cx="73152" cy="153619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wrapS / wrapT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繰り返しモードを指定する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7852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387852" y="4032504"/>
            <a:ext cx="73152" cy="153619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43884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RepeatWrapping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43884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端で画像を繰り返す設定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208776" y="4032504"/>
            <a:ext cx="73152" cy="153619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64808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repeat.set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4808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縦横の繰り返し回数を指定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29700" y="3886200"/>
            <a:ext cx="2592324" cy="18288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9029700" y="4032504"/>
            <a:ext cx="73152" cy="153619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285732" y="4114800"/>
            <a:ext cx="21351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5732" y="4617720"/>
            <a:ext cx="21351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貼り始めの位置をずらす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300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各種マップを使い分ける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PBRマテリアルを支える質感マップ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質感 = Color × Normal × Roughness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246120" cy="2834640"/>
          </a:xfrm>
          <a:prstGeom prst="roundRect">
            <a:avLst>
              <a:gd name="adj" fmla="val 2258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295144"/>
            <a:ext cx="73152" cy="2542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95528" y="2423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" y="3474720"/>
            <a:ext cx="2560320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95528" y="3611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表面の色や模様を与える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3048" y="2148840"/>
            <a:ext cx="502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15968" y="2148840"/>
            <a:ext cx="3246120" cy="2834640"/>
          </a:xfrm>
          <a:prstGeom prst="roundRect">
            <a:avLst>
              <a:gd name="adj" fmla="val 2258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315968" y="2295144"/>
            <a:ext cx="73152" cy="254203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44568" y="2423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normalMap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4568" y="2971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凹凸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44568" y="3474720"/>
            <a:ext cx="2560320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44568" y="3611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光の反射で凹凸を演出する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62088" y="2148840"/>
            <a:ext cx="502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65008" y="2148840"/>
            <a:ext cx="3246120" cy="2834640"/>
          </a:xfrm>
          <a:prstGeom prst="roundRect">
            <a:avLst>
              <a:gd name="adj" fmla="val 2258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065008" y="2295144"/>
            <a:ext cx="73152" cy="2542032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93608" y="24231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roughnessMap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93608" y="29718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474720"/>
            <a:ext cx="2560320" cy="0"/>
          </a:xfrm>
          <a:prstGeom prst="line">
            <a:avLst/>
          </a:prstGeom>
          <a:noFill/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293608" y="3611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部分ごとのツヤを変える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これらを重ねると、一枚の画像以上のリアルな質感が生まれる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代表的なテクスチャマップ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カラーマップ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基本の色・模様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297680" y="188366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193852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45059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法線マップ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81635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凹凸を擬似的に表現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28432" y="173736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028432" y="188366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284464" y="193852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roughnessMap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245059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粗さマップ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281635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部分ごとの光沢差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61188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375818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22960" y="381304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metalnessMap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金属マップ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69087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金属部分を指定する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61188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297680" y="375818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53712" y="381304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aoMap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432511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AOマップ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53712" y="469087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陰影を加える（要 uv2）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28432" y="3611880"/>
            <a:ext cx="3593592" cy="1691640"/>
          </a:xfrm>
          <a:prstGeom prst="roundRect">
            <a:avLst>
              <a:gd name="adj" fmla="val 378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8028432" y="3758184"/>
            <a:ext cx="73152" cy="13990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284464" y="3813048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emissiveMap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4464" y="432511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発光マップ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84464" y="4690872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自ら光る部分を指定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COLOR SPACE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色空間とデータの扱い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色画像とデータ画像で colorSpace の扱いを変えるのが重要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529584" cy="2148840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2112264"/>
            <a:ext cx="73152" cy="18562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カラーマップ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SRGBColorSpace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map・emissiveMap など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9684" y="1965960"/>
            <a:ext cx="3529584" cy="2148840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329684" y="2112264"/>
            <a:ext cx="73152" cy="18562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85716" y="219456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データマップ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85716" y="26974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Linear（既定）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5716" y="320040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normal・roughness はそのまま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1965960"/>
            <a:ext cx="3529584" cy="2148840"/>
          </a:xfrm>
          <a:prstGeom prst="roundRect">
            <a:avLst>
              <a:gd name="adj" fmla="val 2979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092440" y="2112264"/>
            <a:ext cx="73152" cy="18562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348472" y="219456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画像形式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48472" y="26974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 / png / webp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48472" y="3200400"/>
            <a:ext cx="3072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透過は png・webp を使う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43484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66928" y="4434840"/>
            <a:ext cx="64008" cy="10972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22960" y="4544568"/>
            <a:ext cx="105978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tex.colorSpace = THREE.SRGBColorSpace;   // 色がくすむ時に指定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normalTex.colorSpace = THREE.NoColorSpace; // データは変換しない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最小コードでテクスチャ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55096" cy="4069080"/>
          </a:xfrm>
          <a:prstGeom prst="roundRect">
            <a:avLst>
              <a:gd name="adj" fmla="val 1348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4008" cy="40690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1709928"/>
            <a:ext cx="10597896" cy="3849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THREE from 'three';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scene = new THREE.Scene();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camera = new THREE.PerspectiveCamera(75, innerWidth/innerHeight, 0.1, 1000);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renderer = new THREE.WebGLRenderer({ antialias: true });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renderer.setSize(innerWidth, innerHeight);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document.body.appendChild(renderer.domElement);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tex = new THREE.TextureLoader().load('wood.jpg');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tex.colorSpace = THREE.SRGBColorSpace;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material = new THREE.MeshStandardMaterial({ map: tex });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cube = new THREE.Mesh(new THREE.BoxGeometry(1,1,1), material);</a:t>
            </a:r>
            <a:endParaRPr lang="en-US" sz="1300" dirty="0"/>
          </a:p>
          <a:p>
            <a:pPr marL="0" indent="0" algn="l">
              <a:lnSpc>
                <a:spcPct val="162000"/>
              </a:lnSpc>
              <a:buNone/>
            </a:pPr>
            <a:r>
              <a:rPr lang="en-US" sz="13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scene.add(cube);  renderer.render(scene, camera);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テクスチャ適用の流れ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688336" cy="2743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2157984"/>
            <a:ext cx="73152" cy="2450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画像を用意する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397764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jpg / png を public に置く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36976" y="2011680"/>
            <a:ext cx="2468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47288" y="2011680"/>
            <a:ext cx="2688336" cy="2743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47288" y="2157984"/>
            <a:ext cx="73152" cy="2450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47288" y="224028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630168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TextureLoader で読み込む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30168" y="397764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loader.load('wood.jpg')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17336" y="2011680"/>
            <a:ext cx="2468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27648" y="2011680"/>
            <a:ext cx="2688336" cy="2743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327648" y="2157984"/>
            <a:ext cx="73152" cy="2450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327648" y="224028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510528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colorSpace を設定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0528" y="397764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カラーは SRGBColorSpace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97696" y="2011680"/>
            <a:ext cx="2468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08008" y="2011680"/>
            <a:ext cx="2688336" cy="274320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208008" y="2157984"/>
            <a:ext cx="73152" cy="2450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208008" y="2240280"/>
            <a:ext cx="2688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390888" y="320040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に渡して調整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90888" y="3977640"/>
            <a:ext cx="23225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repeat や wrap でタイル化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読み込みは非同期。完了前は黒く見えることがある →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複数マップで木目をリアルに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カラー・法線・粗さを重ねると、一枚絵では出ない立体的な質感に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1055096" cy="1920240"/>
          </a:xfrm>
          <a:prstGeom prst="roundRect">
            <a:avLst>
              <a:gd name="adj" fmla="val 2857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64008" cy="19202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0597896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tl = new THREE.TextureLoader();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mat.map = tl.load('wood_color.jpg');         // 色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mat.normalMap = tl.load('wood_normal.jpg');  // 凹凸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mat.roughnessMap = tl.load('wood_rough.jpg'); // 粗さ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" y="4306824"/>
            <a:ext cx="73152" cy="126187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41248" y="43708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立体感の深み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846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凹凸と光沢差で木目が浮かび上がる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63056" y="4160520"/>
            <a:ext cx="5458968" cy="1554480"/>
          </a:xfrm>
          <a:prstGeom prst="roundRect">
            <a:avLst>
              <a:gd name="adj" fmla="val 4118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163056" y="4306824"/>
            <a:ext cx="73152" cy="126187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37376" y="43708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PBRの定番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4846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実写の質感セットはこの3枚が基本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テクスチャをきれいに出す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ミップマップと異方性フィルタで、遠景や斜めの面のボケ・ジャギを抑える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1055096" cy="20574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64008" cy="20574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10597896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tex.minFilter = THREE.LinearMipmapLinearFilter;  // 縮小時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tex.magFilter = THREE.LinearFilter;              // 拡大時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tex.anisotropy = renderer.capabilities.getMaxAnisotropy();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tex.generateMipmaps = true;                      // ミップマップ生成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297680"/>
            <a:ext cx="11055096" cy="1417320"/>
          </a:xfrm>
          <a:prstGeom prst="roundRect">
            <a:avLst>
              <a:gd name="adj" fmla="val 4516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66928" y="4443984"/>
            <a:ext cx="73152" cy="112471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86968" y="4480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ぼやける・ジャギが出る時は？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4937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異方性フィルタ（anisotropy）を上げ、ミップマップを有効に。画像サイズは2のべき乗が安全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DEBUG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よくあるつまずきポイント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458968" cy="1783080"/>
          </a:xfrm>
          <a:prstGeom prst="roundRect">
            <a:avLst>
              <a:gd name="adj" fmla="val 359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929384"/>
            <a:ext cx="73152" cy="1490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81328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物体が真っ黒になる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651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読み込み未完了かパス誤り。onLoad で確認する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5458968" cy="1783080"/>
          </a:xfrm>
          <a:prstGeom prst="roundRect">
            <a:avLst>
              <a:gd name="adj" fmla="val 359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163056" y="1929384"/>
            <a:ext cx="73152" cy="1490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37376" y="1984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77456" y="2011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色がくすむ・薄い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5664" y="2651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colorSpace が未設定。SRGBColorSpace を指定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5458968" cy="1783080"/>
          </a:xfrm>
          <a:prstGeom prst="roundRect">
            <a:avLst>
              <a:gd name="adj" fmla="val 359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73152" cy="1490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9502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81328" y="3977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テクスチャがぼやける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anisotropy とミップマップを設定する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3056" y="3749040"/>
            <a:ext cx="5458968" cy="1783080"/>
          </a:xfrm>
          <a:prstGeom prst="roundRect">
            <a:avLst>
              <a:gd name="adj" fmla="val 359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163056" y="3895344"/>
            <a:ext cx="73152" cy="1490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37376" y="39502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77456" y="3977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タイルが繰り返さない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5664" y="46177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wrapS / wrapT を RepeatWrapping にする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立方体に木目を貼ろう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73152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1664208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04288" y="166420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画像を用意する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76288" y="166420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木目画像を public/wood.jpg に置く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468880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73152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41248" y="24688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04288" y="24688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テクスチャを読み込む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76288" y="246888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TextureLoader で load する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273552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66928" y="3419856"/>
            <a:ext cx="73152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273552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04288" y="32735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colorSpace を設定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76288" y="327355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SRGBColorSpace を指定する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078224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4224528"/>
            <a:ext cx="73152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41248" y="4078224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04288" y="407822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に設定する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876288" y="407822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 マテリアルの map に渡す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66928" y="5029200"/>
            <a:ext cx="73152" cy="42062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41248" y="488289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04288" y="488289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ブラウザで確認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876288" y="4882896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木目の立方体が回転する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779008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1A2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41248" y="57790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3E6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ゴール: </a:t>
            </a:r>
            <a:r>
              <a:rPr lang="en-US" sz="135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木目の質感をまとった立方体が、光と影の中で回転する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1208"/>
            <a:ext cx="146304" cy="23774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04672" y="502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&amp; 次回予告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今日のまとめ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943600" cy="3657600"/>
          </a:xfrm>
          <a:prstGeom prst="roundRect">
            <a:avLst>
              <a:gd name="adj" fmla="val 175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66928" y="2157984"/>
            <a:ext cx="73152" cy="33649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TextureLoader で画像を読み込む</a:t>
            </a:r>
            <a:endParaRPr lang="en-US" sz="1450" dirty="0"/>
          </a:p>
          <a:p>
            <a:pPr marL="228600" indent="-228600" algn="l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に設定して表面に貼る</a:t>
            </a:r>
            <a:endParaRPr lang="en-US" sz="1450" dirty="0"/>
          </a:p>
          <a:p>
            <a:pPr marL="228600" indent="-228600" algn="l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カラーは SRGB / データmapは Linear</a:t>
            </a:r>
            <a:endParaRPr lang="en-US" sz="1450" dirty="0"/>
          </a:p>
          <a:p>
            <a:pPr marL="228600" indent="-228600" algn="l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repeat・wrap でタイル化</a:t>
            </a:r>
            <a:endParaRPr lang="en-US" sz="1450" dirty="0"/>
          </a:p>
          <a:p>
            <a:pPr marL="228600" indent="-228600" algn="l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複数マップで質感の深みを出す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C48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次回: SESSION 05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5138928" cy="3657600"/>
          </a:xfrm>
          <a:prstGeom prst="roundRect">
            <a:avLst>
              <a:gd name="adj" fmla="val 1750"/>
            </a:avLst>
          </a:prstGeom>
          <a:solidFill>
            <a:srgbClr val="1E293B"/>
          </a:solidFill>
          <a:ln w="12700">
            <a:solidFill>
              <a:srgbClr val="27364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492240" y="2157984"/>
            <a:ext cx="73152" cy="33649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カメラ操作とインタラクション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2880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ユーザーの操作に反応するシーンづくりへ。視点を動かし、オブジェクトを選べるようにします。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12280" y="38862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OrbitControls で視点を回す・寄る</a:t>
            </a:r>
            <a:endParaRPr lang="en-US" sz="1350" dirty="0"/>
          </a:p>
          <a:p>
            <a:pPr marL="228600" indent="-2286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Raycaster でクリック選択を判定</a:t>
            </a:r>
            <a:endParaRPr lang="en-US" sz="1350" dirty="0"/>
          </a:p>
          <a:p>
            <a:pPr marL="228600" indent="-228600" algn="l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ホバーやタッチ操作への対応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0" y="6400800"/>
            <a:ext cx="2752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r>
              <a:rPr lang="en-US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Props1.xml><?xml version="1.0" encoding="utf-8"?>
<ds:datastoreItem xmlns:ds="http://schemas.openxmlformats.org/officeDocument/2006/customXml" ds:itemID="{423D5B1D-D7C8-49B4-B5E0-EEFEB5B85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5efbd-7d02-4308-8565-d8690abf6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BFF244-38A8-4565-81A3-08A1474309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10D805-1A64-406E-84E3-42088483FF79}">
  <ds:schemaRefs>
    <ds:schemaRef ds:uri="91a5efbd-7d02-4308-8565-d8690abf6588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953</Words>
  <Application>Microsoft Office PowerPoint</Application>
  <PresentationFormat>ワイド画面</PresentationFormat>
  <Paragraphs>293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2</cp:revision>
  <dcterms:created xsi:type="dcterms:W3CDTF">2026-05-30T09:11:27Z</dcterms:created>
  <dcterms:modified xsi:type="dcterms:W3CDTF">2026-06-15T19:10:15Z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