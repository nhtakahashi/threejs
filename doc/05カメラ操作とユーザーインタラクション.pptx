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1A5C6-FD59-4907-9686-071B156E691E}" v="3" dt="2026-07-06T14:04:53.6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9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-STAFF 高橋真広" userId="60c902bb-f64f-40cf-869e-8386dac879fa" providerId="ADAL" clId="{ABF8F32A-0E29-455D-BF0E-64EA0687DC42}"/>
    <pc:docChg chg="custSel addSld modSld">
      <pc:chgData name="NH-STAFF 高橋真広" userId="60c902bb-f64f-40cf-869e-8386dac879fa" providerId="ADAL" clId="{ABF8F32A-0E29-455D-BF0E-64EA0687DC42}" dt="2026-07-06T14:35:36.533" v="1" actId="26606"/>
      <pc:docMkLst>
        <pc:docMk/>
      </pc:docMkLst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56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2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2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6"/>
            <ac:spMk id="31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57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2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3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7"/>
            <ac:spMk id="37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58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2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3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8"/>
            <ac:spMk id="38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59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3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3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59"/>
            <ac:spMk id="38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0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2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2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0"/>
            <ac:spMk id="33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1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2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2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1"/>
            <ac:spMk id="30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2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2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32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36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2"/>
            <ac:spMk id="38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3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1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3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3"/>
            <ac:spMk id="36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4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2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28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4"/>
            <ac:spMk id="33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5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3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5"/>
            <ac:spMk id="33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6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2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3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6"/>
            <ac:spMk id="36" creationId="{00000000-0000-0000-0000-000000000000}"/>
          </ac:spMkLst>
        </pc:spChg>
      </pc:sldChg>
      <pc:sldChg chg="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7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6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10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1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1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2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27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7"/>
            <ac:spMk id="36" creationId="{00000000-0000-0000-0000-000000000000}"/>
          </ac:spMkLst>
        </pc:spChg>
      </pc:sldChg>
      <pc:sldChg chg="addSp 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8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21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29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3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3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4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4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45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8"/>
            <ac:spMk id="52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7-06T14:35:36.198" v="0" actId="26606"/>
          <ac:picMkLst>
            <pc:docMk/>
            <pc:sldMk cId="0" sldId="268"/>
            <ac:picMk id="36" creationId="{00000000-0000-0000-0000-000000000000}"/>
          </ac:picMkLst>
        </pc:picChg>
        <pc:picChg chg="mod replId">
          <ac:chgData name="NH-STAFF 高橋真広" userId="60c902bb-f64f-40cf-869e-8386dac879fa" providerId="ADAL" clId="{ABF8F32A-0E29-455D-BF0E-64EA0687DC42}" dt="2026-07-06T14:35:36.198" v="0" actId="26606"/>
          <ac:picMkLst>
            <pc:docMk/>
            <pc:sldMk cId="0" sldId="268"/>
            <ac:picMk id="37" creationId="{00000000-0000-0000-0000-000000000000}"/>
          </ac:picMkLst>
        </pc:picChg>
      </pc:sldChg>
      <pc:sldChg chg="addSp delSp modSp mo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69"/>
        </pc:sldMkLst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3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4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6" creationId="{00000000-0000-0000-0000-000000000000}"/>
          </ac:spMkLst>
        </pc:spChg>
        <pc:spChg chg="ad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1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24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31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33" creationId="{00000000-0000-0000-0000-000000000000}"/>
          </ac:spMkLst>
        </pc:spChg>
        <pc:spChg chg="del">
          <ac:chgData name="NH-STAFF 高橋真広" userId="60c902bb-f64f-40cf-869e-8386dac879fa" providerId="ADAL" clId="{ABF8F32A-0E29-455D-BF0E-64EA0687DC42}" dt="2026-07-06T14:35:36.533" v="1" actId="26606"/>
          <ac:spMkLst>
            <pc:docMk/>
            <pc:sldMk cId="0" sldId="269"/>
            <ac:spMk id="50" creationId="{00000000-0000-0000-0000-000000000000}"/>
          </ac:spMkLst>
        </pc:spChg>
        <pc:picChg chg="mod replId">
          <ac:chgData name="NH-STAFF 高橋真広" userId="60c902bb-f64f-40cf-869e-8386dac879fa" providerId="ADAL" clId="{ABF8F32A-0E29-455D-BF0E-64EA0687DC42}" dt="2026-07-06T14:35:36.198" v="0" actId="26606"/>
          <ac:picMkLst>
            <pc:docMk/>
            <pc:sldMk cId="0" sldId="269"/>
            <ac:picMk id="26" creationId="{00000000-0000-0000-0000-000000000000}"/>
          </ac:picMkLst>
        </pc:picChg>
      </pc:sldChg>
      <pc:sldChg chg="ad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70"/>
        </pc:sldMkLst>
      </pc:sldChg>
      <pc:sldChg chg="ad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71"/>
        </pc:sldMkLst>
      </pc:sldChg>
      <pc:sldChg chg="ad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72"/>
        </pc:sldMkLst>
      </pc:sldChg>
      <pc:sldChg chg="add">
        <pc:chgData name="NH-STAFF 高橋真広" userId="60c902bb-f64f-40cf-869e-8386dac879fa" providerId="ADAL" clId="{ABF8F32A-0E29-455D-BF0E-64EA0687DC42}" dt="2026-07-06T14:35:36.533" v="1" actId="26606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3" name="L3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L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6" name="L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7" name="L7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8" name="L8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9" name="L9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0" name="L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L1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L1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3" name="L1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4" name="L1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E15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E16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7" name="T17"/>
          <p:cNvSpPr/>
          <p:nvPr/>
        </p:nvSpPr>
        <p:spPr>
          <a:xfrm>
            <a:off x="6217920" y="10058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0" b="1" kern="0">
                <a:solidFill>
                  <a:srgbClr val="1F2A44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05</a:t>
            </a:r>
          </a:p>
        </p:txBody>
      </p:sp>
      <p:sp>
        <p:nvSpPr>
          <p:cNvPr id="18" name="T18"/>
          <p:cNvSpPr/>
          <p:nvPr/>
        </p:nvSpPr>
        <p:spPr>
          <a:xfrm>
            <a:off x="548640" y="731520"/>
            <a:ext cx="6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SESSION 05 / 10</a:t>
            </a:r>
          </a:p>
        </p:txBody>
      </p:sp>
      <p:sp>
        <p:nvSpPr>
          <p:cNvPr id="19" name="T19"/>
          <p:cNvSpPr/>
          <p:nvPr/>
        </p:nvSpPr>
        <p:spPr>
          <a:xfrm>
            <a:off x="548640" y="1197360"/>
            <a:ext cx="7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カメラ操作と</a:t>
            </a:r>
          </a:p>
          <a:p>
            <a:pPr marL="0" indent="0" algn="l">
              <a:lnSpc>
                <a:spcPct val="110000"/>
              </a:lnSpc>
              <a:spcBef>
                <a:spcPts val="400"/>
              </a:spcBef>
              <a:buNone/>
            </a:pPr>
            <a:r>
              <a:rPr lang="en-US" sz="32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ユーザーインタラクション</a:t>
            </a:r>
          </a:p>
        </p:txBody>
      </p:sp>
      <p:sp>
        <p:nvSpPr>
          <p:cNvPr id="20" name="R20"/>
          <p:cNvSpPr/>
          <p:nvPr/>
        </p:nvSpPr>
        <p:spPr>
          <a:xfrm>
            <a:off x="548640" y="3072000"/>
            <a:ext cx="146304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1" name="T21"/>
          <p:cNvSpPr/>
          <p:nvPr/>
        </p:nvSpPr>
        <p:spPr>
          <a:xfrm>
            <a:off x="548640" y="3245040"/>
            <a:ext cx="8229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ユーザーの操作で視点を動かし、対象を選べるシーンをつくる</a:t>
            </a:r>
          </a:p>
        </p:txBody>
      </p:sp>
      <p:sp>
        <p:nvSpPr>
          <p:cNvPr id="22" name="T22"/>
          <p:cNvSpPr/>
          <p:nvPr/>
        </p:nvSpPr>
        <p:spPr>
          <a:xfrm>
            <a:off x="54864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5</a:t>
            </a:r>
            <a:r>
              <a:rPr lang="en-US" sz="13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</a:t>
            </a:r>
            <a:r>
              <a:rPr lang="en-US" sz="13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hours</a:t>
            </a:r>
            <a:r>
              <a:rPr lang="en-US" sz="13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  Three.js × WebGL 実践講座</a:t>
            </a:r>
          </a:p>
        </p:txBody>
      </p:sp>
      <p:sp>
        <p:nvSpPr>
          <p:cNvPr id="23" name="L2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5" name="T25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02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AGENDA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本日のアジェンダ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560000"/>
            <a:ext cx="8046720" cy="7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560000"/>
            <a:ext cx="27432" cy="780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708640" y="1560000"/>
            <a:ext cx="100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01</a:t>
            </a:r>
          </a:p>
        </p:txBody>
      </p:sp>
      <p:sp>
        <p:nvSpPr>
          <p:cNvPr id="13" name="T13"/>
          <p:cNvSpPr/>
          <p:nvPr/>
        </p:nvSpPr>
        <p:spPr>
          <a:xfrm>
            <a:off x="1728640" y="1710000"/>
            <a:ext cx="54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視点をコントロールする</a:t>
            </a:r>
          </a:p>
        </p:txBody>
      </p:sp>
      <p:sp>
        <p:nvSpPr>
          <p:cNvPr id="14" name="T14"/>
          <p:cNvSpPr/>
          <p:nvPr/>
        </p:nvSpPr>
        <p:spPr>
          <a:xfrm>
            <a:off x="1728640" y="2030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で回す・寄る・パンする</a:t>
            </a:r>
          </a:p>
        </p:txBody>
      </p:sp>
      <p:sp>
        <p:nvSpPr>
          <p:cNvPr id="15" name="T15"/>
          <p:cNvSpPr/>
          <p:nvPr/>
        </p:nvSpPr>
        <p:spPr>
          <a:xfrm>
            <a:off x="7095360" y="1560000"/>
            <a:ext cx="134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30 min</a:t>
            </a:r>
          </a:p>
        </p:txBody>
      </p:sp>
      <p:sp>
        <p:nvSpPr>
          <p:cNvPr id="16" name="R16"/>
          <p:cNvSpPr/>
          <p:nvPr/>
        </p:nvSpPr>
        <p:spPr>
          <a:xfrm>
            <a:off x="548640" y="2436000"/>
            <a:ext cx="8046720" cy="7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7" name="R17"/>
          <p:cNvSpPr/>
          <p:nvPr/>
        </p:nvSpPr>
        <p:spPr>
          <a:xfrm>
            <a:off x="548640" y="2436000"/>
            <a:ext cx="27432" cy="78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8" name="T18"/>
          <p:cNvSpPr/>
          <p:nvPr/>
        </p:nvSpPr>
        <p:spPr>
          <a:xfrm>
            <a:off x="708640" y="2436000"/>
            <a:ext cx="100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02</a:t>
            </a:r>
          </a:p>
        </p:txBody>
      </p:sp>
      <p:sp>
        <p:nvSpPr>
          <p:cNvPr id="19" name="T19"/>
          <p:cNvSpPr/>
          <p:nvPr/>
        </p:nvSpPr>
        <p:spPr>
          <a:xfrm>
            <a:off x="1728640" y="2586000"/>
            <a:ext cx="54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対象を選択する</a:t>
            </a:r>
          </a:p>
        </p:txBody>
      </p:sp>
      <p:sp>
        <p:nvSpPr>
          <p:cNvPr id="20" name="T20"/>
          <p:cNvSpPr/>
          <p:nvPr/>
        </p:nvSpPr>
        <p:spPr>
          <a:xfrm>
            <a:off x="1728640" y="2906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でクリック・ホバーを判定する</a:t>
            </a:r>
          </a:p>
        </p:txBody>
      </p:sp>
      <p:sp>
        <p:nvSpPr>
          <p:cNvPr id="21" name="T21"/>
          <p:cNvSpPr/>
          <p:nvPr/>
        </p:nvSpPr>
        <p:spPr>
          <a:xfrm>
            <a:off x="7095360" y="2436000"/>
            <a:ext cx="134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40 min</a:t>
            </a:r>
          </a:p>
        </p:txBody>
      </p:sp>
      <p:sp>
        <p:nvSpPr>
          <p:cNvPr id="22" name="R22"/>
          <p:cNvSpPr/>
          <p:nvPr/>
        </p:nvSpPr>
        <p:spPr>
          <a:xfrm>
            <a:off x="548640" y="3312000"/>
            <a:ext cx="8046720" cy="7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3" name="R23"/>
          <p:cNvSpPr/>
          <p:nvPr/>
        </p:nvSpPr>
        <p:spPr>
          <a:xfrm>
            <a:off x="548640" y="3312000"/>
            <a:ext cx="27432" cy="7800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708640" y="3312000"/>
            <a:ext cx="100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03</a:t>
            </a:r>
          </a:p>
        </p:txBody>
      </p:sp>
      <p:sp>
        <p:nvSpPr>
          <p:cNvPr id="25" name="T25"/>
          <p:cNvSpPr/>
          <p:nvPr/>
        </p:nvSpPr>
        <p:spPr>
          <a:xfrm>
            <a:off x="1728640" y="3462000"/>
            <a:ext cx="54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ハンズオン演習</a:t>
            </a:r>
          </a:p>
        </p:txBody>
      </p:sp>
      <p:sp>
        <p:nvSpPr>
          <p:cNvPr id="26" name="T26"/>
          <p:cNvSpPr/>
          <p:nvPr/>
        </p:nvSpPr>
        <p:spPr>
          <a:xfrm>
            <a:off x="1728640" y="3782000"/>
            <a:ext cx="5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立方体をクリックで強調表示する</a:t>
            </a:r>
          </a:p>
        </p:txBody>
      </p:sp>
      <p:sp>
        <p:nvSpPr>
          <p:cNvPr id="27" name="T27"/>
          <p:cNvSpPr/>
          <p:nvPr/>
        </p:nvSpPr>
        <p:spPr>
          <a:xfrm>
            <a:off x="7095360" y="3312000"/>
            <a:ext cx="134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50 min</a:t>
            </a:r>
          </a:p>
        </p:txBody>
      </p:sp>
      <p:sp>
        <p:nvSpPr>
          <p:cNvPr id="28" name="T28"/>
          <p:cNvSpPr/>
          <p:nvPr/>
        </p:nvSpPr>
        <p:spPr>
          <a:xfrm>
            <a:off x="548640" y="430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 60 min → ハンズオン 50 min → 振り返り 10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03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PREREQUISITE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前提知識・準備物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580000"/>
            <a:ext cx="3840480" cy="2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T11"/>
          <p:cNvSpPr/>
          <p:nvPr/>
        </p:nvSpPr>
        <p:spPr>
          <a:xfrm>
            <a:off x="777240" y="1780000"/>
            <a:ext cx="3383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第4回の到達点</a:t>
            </a:r>
          </a:p>
        </p:txBody>
      </p:sp>
      <p:sp>
        <p:nvSpPr>
          <p:cNvPr id="12" name="R12"/>
          <p:cNvSpPr/>
          <p:nvPr/>
        </p:nvSpPr>
        <p:spPr>
          <a:xfrm>
            <a:off x="777240" y="2290000"/>
            <a:ext cx="100584" cy="10058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978640" y="2220000"/>
            <a:ext cx="31804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画像テクスチャを map で貼れる</a:t>
            </a:r>
          </a:p>
        </p:txBody>
      </p:sp>
      <p:sp>
        <p:nvSpPr>
          <p:cNvPr id="14" name="R14"/>
          <p:cNvSpPr/>
          <p:nvPr/>
        </p:nvSpPr>
        <p:spPr>
          <a:xfrm>
            <a:off x="777240" y="2750000"/>
            <a:ext cx="100584" cy="10058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5" name="T15"/>
          <p:cNvSpPr/>
          <p:nvPr/>
        </p:nvSpPr>
        <p:spPr>
          <a:xfrm>
            <a:off x="978640" y="2680000"/>
            <a:ext cx="31804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normal / roughness で質感を出せる</a:t>
            </a:r>
          </a:p>
        </p:txBody>
      </p:sp>
      <p:sp>
        <p:nvSpPr>
          <p:cNvPr id="16" name="R16"/>
          <p:cNvSpPr/>
          <p:nvPr/>
        </p:nvSpPr>
        <p:spPr>
          <a:xfrm>
            <a:off x="777240" y="3210000"/>
            <a:ext cx="100584" cy="10058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7" name="T17"/>
          <p:cNvSpPr/>
          <p:nvPr/>
        </p:nvSpPr>
        <p:spPr>
          <a:xfrm>
            <a:off x="978640" y="3140000"/>
            <a:ext cx="31804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CubeTexture で背景を表現できる</a:t>
            </a:r>
          </a:p>
        </p:txBody>
      </p:sp>
      <p:sp>
        <p:nvSpPr>
          <p:cNvPr id="18" name="R18"/>
          <p:cNvSpPr/>
          <p:nvPr/>
        </p:nvSpPr>
        <p:spPr>
          <a:xfrm>
            <a:off x="777240" y="3670000"/>
            <a:ext cx="100584" cy="100584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9" name="T19"/>
          <p:cNvSpPr/>
          <p:nvPr/>
        </p:nvSpPr>
        <p:spPr>
          <a:xfrm>
            <a:off x="978640" y="3600000"/>
            <a:ext cx="31804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animate() で描画ループが回っている</a:t>
            </a:r>
          </a:p>
        </p:txBody>
      </p:sp>
      <p:sp>
        <p:nvSpPr>
          <p:cNvPr id="20" name="T20"/>
          <p:cNvSpPr/>
          <p:nvPr/>
        </p:nvSpPr>
        <p:spPr>
          <a:xfrm>
            <a:off x="4663440" y="1520000"/>
            <a:ext cx="39319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今回必要なもの</a:t>
            </a:r>
          </a:p>
        </p:txBody>
      </p:sp>
      <p:sp>
        <p:nvSpPr>
          <p:cNvPr id="21" name="R21"/>
          <p:cNvSpPr/>
          <p:nvPr/>
        </p:nvSpPr>
        <p:spPr>
          <a:xfrm>
            <a:off x="4663440" y="1940000"/>
            <a:ext cx="3931920" cy="64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2" name="R22"/>
          <p:cNvSpPr/>
          <p:nvPr/>
        </p:nvSpPr>
        <p:spPr>
          <a:xfrm>
            <a:off x="4663440" y="1940000"/>
            <a:ext cx="27432" cy="640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3" name="T23"/>
          <p:cNvSpPr/>
          <p:nvPr/>
        </p:nvSpPr>
        <p:spPr>
          <a:xfrm>
            <a:off x="4863440" y="2060000"/>
            <a:ext cx="3571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前回のプロジェクト</a:t>
            </a:r>
          </a:p>
        </p:txBody>
      </p:sp>
      <p:sp>
        <p:nvSpPr>
          <p:cNvPr id="24" name="T24"/>
          <p:cNvSpPr/>
          <p:nvPr/>
        </p:nvSpPr>
        <p:spPr>
          <a:xfrm>
            <a:off x="4863440" y="2340000"/>
            <a:ext cx="357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my-threejs-app をそのまま使用</a:t>
            </a:r>
          </a:p>
        </p:txBody>
      </p:sp>
      <p:sp>
        <p:nvSpPr>
          <p:cNvPr id="25" name="R25"/>
          <p:cNvSpPr/>
          <p:nvPr/>
        </p:nvSpPr>
        <p:spPr>
          <a:xfrm>
            <a:off x="4663440" y="2676000"/>
            <a:ext cx="3931920" cy="64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6" name="R26"/>
          <p:cNvSpPr/>
          <p:nvPr/>
        </p:nvSpPr>
        <p:spPr>
          <a:xfrm>
            <a:off x="4663440" y="2676000"/>
            <a:ext cx="27432" cy="64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7" name="T27"/>
          <p:cNvSpPr/>
          <p:nvPr/>
        </p:nvSpPr>
        <p:spPr>
          <a:xfrm>
            <a:off x="4863440" y="2796000"/>
            <a:ext cx="3571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three/examples</a:t>
            </a:r>
          </a:p>
        </p:txBody>
      </p:sp>
      <p:sp>
        <p:nvSpPr>
          <p:cNvPr id="28" name="T28"/>
          <p:cNvSpPr/>
          <p:nvPr/>
        </p:nvSpPr>
        <p:spPr>
          <a:xfrm>
            <a:off x="4863440" y="3076000"/>
            <a:ext cx="357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を import できる構成</a:t>
            </a:r>
          </a:p>
        </p:txBody>
      </p:sp>
      <p:sp>
        <p:nvSpPr>
          <p:cNvPr id="29" name="R29"/>
          <p:cNvSpPr/>
          <p:nvPr/>
        </p:nvSpPr>
        <p:spPr>
          <a:xfrm>
            <a:off x="4663440" y="3412000"/>
            <a:ext cx="3931920" cy="64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30" name="R30"/>
          <p:cNvSpPr/>
          <p:nvPr/>
        </p:nvSpPr>
        <p:spPr>
          <a:xfrm>
            <a:off x="4663440" y="3412000"/>
            <a:ext cx="27432" cy="6400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1" name="T31"/>
          <p:cNvSpPr/>
          <p:nvPr/>
        </p:nvSpPr>
        <p:spPr>
          <a:xfrm>
            <a:off x="4863440" y="3532000"/>
            <a:ext cx="3571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複数のオブジェクト</a:t>
            </a:r>
          </a:p>
        </p:txBody>
      </p:sp>
      <p:sp>
        <p:nvSpPr>
          <p:cNvPr id="32" name="T32"/>
          <p:cNvSpPr/>
          <p:nvPr/>
        </p:nvSpPr>
        <p:spPr>
          <a:xfrm>
            <a:off x="4863440" y="3812000"/>
            <a:ext cx="35719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選択対象になる立方体を数個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04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OVERVIEW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インタラクションの3ステップ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620000"/>
            <a:ext cx="2560320" cy="23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620000"/>
            <a:ext cx="2560320" cy="127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728640" y="1880000"/>
            <a:ext cx="22003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Controls</a:t>
            </a:r>
          </a:p>
        </p:txBody>
      </p:sp>
      <p:sp>
        <p:nvSpPr>
          <p:cNvPr id="13" name="T13"/>
          <p:cNvSpPr/>
          <p:nvPr/>
        </p:nvSpPr>
        <p:spPr>
          <a:xfrm>
            <a:off x="728640" y="2280000"/>
            <a:ext cx="2200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</a:t>
            </a:r>
          </a:p>
        </p:txBody>
      </p:sp>
      <p:sp>
        <p:nvSpPr>
          <p:cNvPr id="14" name="L14"/>
          <p:cNvSpPr/>
          <p:nvPr/>
        </p:nvSpPr>
        <p:spPr>
          <a:xfrm>
            <a:off x="728640" y="2700000"/>
            <a:ext cx="220032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T15"/>
          <p:cNvSpPr/>
          <p:nvPr/>
        </p:nvSpPr>
        <p:spPr>
          <a:xfrm>
            <a:off x="728640" y="2820000"/>
            <a:ext cx="220032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でカメラを動かす。回転・ズーム・パンを一括で提供</a:t>
            </a:r>
          </a:p>
        </p:txBody>
      </p:sp>
      <p:sp>
        <p:nvSpPr>
          <p:cNvPr id="16" name="R16"/>
          <p:cNvSpPr/>
          <p:nvPr/>
        </p:nvSpPr>
        <p:spPr>
          <a:xfrm>
            <a:off x="3291840" y="1620000"/>
            <a:ext cx="2560320" cy="23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7" name="R17"/>
          <p:cNvSpPr/>
          <p:nvPr/>
        </p:nvSpPr>
        <p:spPr>
          <a:xfrm>
            <a:off x="3291840" y="1620000"/>
            <a:ext cx="2560320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8" name="T18"/>
          <p:cNvSpPr/>
          <p:nvPr/>
        </p:nvSpPr>
        <p:spPr>
          <a:xfrm>
            <a:off x="3471840" y="1880000"/>
            <a:ext cx="22003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Raycaster</a:t>
            </a:r>
          </a:p>
        </p:txBody>
      </p:sp>
      <p:sp>
        <p:nvSpPr>
          <p:cNvPr id="19" name="T19"/>
          <p:cNvSpPr/>
          <p:nvPr/>
        </p:nvSpPr>
        <p:spPr>
          <a:xfrm>
            <a:off x="3471840" y="2280000"/>
            <a:ext cx="2200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</a:t>
            </a:r>
          </a:p>
        </p:txBody>
      </p:sp>
      <p:sp>
        <p:nvSpPr>
          <p:cNvPr id="20" name="L20"/>
          <p:cNvSpPr/>
          <p:nvPr/>
        </p:nvSpPr>
        <p:spPr>
          <a:xfrm>
            <a:off x="3471840" y="2700000"/>
            <a:ext cx="220032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1" name="T21"/>
          <p:cNvSpPr/>
          <p:nvPr/>
        </p:nvSpPr>
        <p:spPr>
          <a:xfrm>
            <a:off x="3471840" y="2820000"/>
            <a:ext cx="220032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画面の座標から光線を飛ばし、交差した対象を調べる</a:t>
            </a:r>
          </a:p>
        </p:txBody>
      </p:sp>
      <p:sp>
        <p:nvSpPr>
          <p:cNvPr id="22" name="R22"/>
          <p:cNvSpPr/>
          <p:nvPr/>
        </p:nvSpPr>
        <p:spPr>
          <a:xfrm>
            <a:off x="6035040" y="1620000"/>
            <a:ext cx="2560320" cy="23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3" name="R23"/>
          <p:cNvSpPr/>
          <p:nvPr/>
        </p:nvSpPr>
        <p:spPr>
          <a:xfrm>
            <a:off x="6035040" y="1620000"/>
            <a:ext cx="2560320" cy="127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6215040" y="1880000"/>
            <a:ext cx="22003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Events</a:t>
            </a:r>
          </a:p>
        </p:txBody>
      </p:sp>
      <p:sp>
        <p:nvSpPr>
          <p:cNvPr id="25" name="T25"/>
          <p:cNvSpPr/>
          <p:nvPr/>
        </p:nvSpPr>
        <p:spPr>
          <a:xfrm>
            <a:off x="6215040" y="2280000"/>
            <a:ext cx="22003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</a:t>
            </a:r>
          </a:p>
        </p:txBody>
      </p:sp>
      <p:sp>
        <p:nvSpPr>
          <p:cNvPr id="26" name="L26"/>
          <p:cNvSpPr/>
          <p:nvPr/>
        </p:nvSpPr>
        <p:spPr>
          <a:xfrm>
            <a:off x="6215040" y="2700000"/>
            <a:ext cx="220032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7" name="T27"/>
          <p:cNvSpPr/>
          <p:nvPr/>
        </p:nvSpPr>
        <p:spPr>
          <a:xfrm>
            <a:off x="6215040" y="2820000"/>
            <a:ext cx="220032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pointer イベントで操作を受け取り、状態を更新する</a:t>
            </a:r>
          </a:p>
        </p:txBody>
      </p:sp>
      <p:sp>
        <p:nvSpPr>
          <p:cNvPr id="28" name="T28"/>
          <p:cNvSpPr/>
          <p:nvPr/>
        </p:nvSpPr>
        <p:spPr>
          <a:xfrm>
            <a:off x="548640" y="421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動かす → 調べる → 反応する の流れで、触れるシーンが生まれる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05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ELEMENT 01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— 視点を操作する</a:t>
            </a:r>
          </a:p>
        </p:txBody>
      </p:sp>
      <p:sp>
        <p:nvSpPr>
          <p:cNvPr id="10" name="T10"/>
          <p:cNvSpPr/>
          <p:nvPr/>
        </p:nvSpPr>
        <p:spPr>
          <a:xfrm>
            <a:off x="548640" y="13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マウスやタッチでカメラを回転・ズーム・パンできるようにする</a:t>
            </a:r>
          </a:p>
        </p:txBody>
      </p:sp>
      <p:sp>
        <p:nvSpPr>
          <p:cNvPr id="11" name="R11"/>
          <p:cNvSpPr/>
          <p:nvPr/>
        </p:nvSpPr>
        <p:spPr>
          <a:xfrm>
            <a:off x="548640" y="1620000"/>
            <a:ext cx="4526280" cy="20172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R12"/>
          <p:cNvSpPr/>
          <p:nvPr/>
        </p:nvSpPr>
        <p:spPr>
          <a:xfrm>
            <a:off x="548640" y="1620000"/>
            <a:ext cx="27432" cy="201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777240" y="1808600"/>
            <a:ext cx="4069080" cy="1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import { OrbitControls } from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'three/addons/controls/OrbitControls.js';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controls =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new OrbitControls(camera, renderer.domElement);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controls.enableDamping = true;  // 慣性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// animate 内で controls.update();</a:t>
            </a:r>
          </a:p>
        </p:txBody>
      </p:sp>
      <p:sp>
        <p:nvSpPr>
          <p:cNvPr id="14" name="R14"/>
          <p:cNvSpPr/>
          <p:nvPr/>
        </p:nvSpPr>
        <p:spPr>
          <a:xfrm>
            <a:off x="5303520" y="1620000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R15"/>
          <p:cNvSpPr/>
          <p:nvPr/>
        </p:nvSpPr>
        <p:spPr>
          <a:xfrm>
            <a:off x="5303520" y="1620000"/>
            <a:ext cx="27432" cy="733333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5483520" y="1737333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enableDamping</a:t>
            </a:r>
          </a:p>
        </p:txBody>
      </p:sp>
      <p:sp>
        <p:nvSpPr>
          <p:cNvPr id="17" name="T17"/>
          <p:cNvSpPr/>
          <p:nvPr/>
        </p:nvSpPr>
        <p:spPr>
          <a:xfrm>
            <a:off x="5483520" y="2001333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慣性でなめらかに停止する</a:t>
            </a:r>
          </a:p>
        </p:txBody>
      </p:sp>
      <p:sp>
        <p:nvSpPr>
          <p:cNvPr id="18" name="R18"/>
          <p:cNvSpPr/>
          <p:nvPr/>
        </p:nvSpPr>
        <p:spPr>
          <a:xfrm>
            <a:off x="5303520" y="2433333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9" name="R19"/>
          <p:cNvSpPr/>
          <p:nvPr/>
        </p:nvSpPr>
        <p:spPr>
          <a:xfrm>
            <a:off x="5303520" y="2433333"/>
            <a:ext cx="27432" cy="733333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0" name="T20"/>
          <p:cNvSpPr/>
          <p:nvPr/>
        </p:nvSpPr>
        <p:spPr>
          <a:xfrm>
            <a:off x="5483520" y="2550666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target</a:t>
            </a:r>
          </a:p>
        </p:txBody>
      </p:sp>
      <p:sp>
        <p:nvSpPr>
          <p:cNvPr id="21" name="T21"/>
          <p:cNvSpPr/>
          <p:nvPr/>
        </p:nvSpPr>
        <p:spPr>
          <a:xfrm>
            <a:off x="5483520" y="2814666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注視点（回転の中心）を指定</a:t>
            </a:r>
          </a:p>
        </p:txBody>
      </p:sp>
      <p:sp>
        <p:nvSpPr>
          <p:cNvPr id="22" name="R22"/>
          <p:cNvSpPr/>
          <p:nvPr/>
        </p:nvSpPr>
        <p:spPr>
          <a:xfrm>
            <a:off x="5303520" y="3246666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3" name="R23"/>
          <p:cNvSpPr/>
          <p:nvPr/>
        </p:nvSpPr>
        <p:spPr>
          <a:xfrm>
            <a:off x="5303520" y="3246666"/>
            <a:ext cx="27432" cy="733333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5483520" y="3363999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min/maxDistance</a:t>
            </a:r>
          </a:p>
        </p:txBody>
      </p:sp>
      <p:sp>
        <p:nvSpPr>
          <p:cNvPr id="25" name="T25"/>
          <p:cNvSpPr/>
          <p:nvPr/>
        </p:nvSpPr>
        <p:spPr>
          <a:xfrm>
            <a:off x="5483520" y="3627999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ズームの範囲を制限する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06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ELEMENT 02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— 対象を選択する</a:t>
            </a:r>
          </a:p>
        </p:txBody>
      </p:sp>
      <p:sp>
        <p:nvSpPr>
          <p:cNvPr id="10" name="T10"/>
          <p:cNvSpPr/>
          <p:nvPr/>
        </p:nvSpPr>
        <p:spPr>
          <a:xfrm>
            <a:off x="548640" y="13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画面上の座標から光線を飛ばし、交差したオブジェクトを取得する</a:t>
            </a:r>
          </a:p>
        </p:txBody>
      </p:sp>
      <p:sp>
        <p:nvSpPr>
          <p:cNvPr id="11" name="R11"/>
          <p:cNvSpPr/>
          <p:nvPr/>
        </p:nvSpPr>
        <p:spPr>
          <a:xfrm>
            <a:off x="548640" y="1620000"/>
            <a:ext cx="4526280" cy="20172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R12"/>
          <p:cNvSpPr/>
          <p:nvPr/>
        </p:nvSpPr>
        <p:spPr>
          <a:xfrm>
            <a:off x="548640" y="1620000"/>
            <a:ext cx="27432" cy="201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777240" y="1808600"/>
            <a:ext cx="4069080" cy="1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raycaster = new THREE.Raycaster();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pointer = new THREE.Vector2();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raycaster.setFromCamera(pointer, camera);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hits =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raycaster.intersectObjects(scene.children);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target = hits[0]?.object;  // 最前面</a:t>
            </a:r>
          </a:p>
        </p:txBody>
      </p:sp>
      <p:sp>
        <p:nvSpPr>
          <p:cNvPr id="14" name="R14"/>
          <p:cNvSpPr/>
          <p:nvPr/>
        </p:nvSpPr>
        <p:spPr>
          <a:xfrm>
            <a:off x="5303520" y="1620000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R15"/>
          <p:cNvSpPr/>
          <p:nvPr/>
        </p:nvSpPr>
        <p:spPr>
          <a:xfrm>
            <a:off x="5303520" y="1620000"/>
            <a:ext cx="27432" cy="733333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5483520" y="1737333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setFromCamera</a:t>
            </a:r>
          </a:p>
        </p:txBody>
      </p:sp>
      <p:sp>
        <p:nvSpPr>
          <p:cNvPr id="17" name="T17"/>
          <p:cNvSpPr/>
          <p:nvPr/>
        </p:nvSpPr>
        <p:spPr>
          <a:xfrm>
            <a:off x="5483520" y="2001333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座標とカメラから光線を作る</a:t>
            </a:r>
          </a:p>
        </p:txBody>
      </p:sp>
      <p:sp>
        <p:nvSpPr>
          <p:cNvPr id="18" name="R18"/>
          <p:cNvSpPr/>
          <p:nvPr/>
        </p:nvSpPr>
        <p:spPr>
          <a:xfrm>
            <a:off x="5303520" y="2433333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9" name="R19"/>
          <p:cNvSpPr/>
          <p:nvPr/>
        </p:nvSpPr>
        <p:spPr>
          <a:xfrm>
            <a:off x="5303520" y="2433333"/>
            <a:ext cx="27432" cy="733333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0" name="T20"/>
          <p:cNvSpPr/>
          <p:nvPr/>
        </p:nvSpPr>
        <p:spPr>
          <a:xfrm>
            <a:off x="5483520" y="2550666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intersectObjects</a:t>
            </a:r>
          </a:p>
        </p:txBody>
      </p:sp>
      <p:sp>
        <p:nvSpPr>
          <p:cNvPr id="21" name="T21"/>
          <p:cNvSpPr/>
          <p:nvPr/>
        </p:nvSpPr>
        <p:spPr>
          <a:xfrm>
            <a:off x="5483520" y="2814666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交差を近い順の配列で返す</a:t>
            </a:r>
          </a:p>
        </p:txBody>
      </p:sp>
      <p:sp>
        <p:nvSpPr>
          <p:cNvPr id="22" name="R22"/>
          <p:cNvSpPr/>
          <p:nvPr/>
        </p:nvSpPr>
        <p:spPr>
          <a:xfrm>
            <a:off x="5303520" y="3246666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3" name="R23"/>
          <p:cNvSpPr/>
          <p:nvPr/>
        </p:nvSpPr>
        <p:spPr>
          <a:xfrm>
            <a:off x="5303520" y="3246666"/>
            <a:ext cx="27432" cy="733333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5483520" y="3363999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hits[0].object</a:t>
            </a:r>
          </a:p>
        </p:txBody>
      </p:sp>
      <p:sp>
        <p:nvSpPr>
          <p:cNvPr id="25" name="T25"/>
          <p:cNvSpPr/>
          <p:nvPr/>
        </p:nvSpPr>
        <p:spPr>
          <a:xfrm>
            <a:off x="5483520" y="3627999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最も手前の対象を取り出す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07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ELEMENT 03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Pointer Events — 操作を受け取る</a:t>
            </a:r>
          </a:p>
        </p:txBody>
      </p:sp>
      <p:sp>
        <p:nvSpPr>
          <p:cNvPr id="10" name="T10"/>
          <p:cNvSpPr/>
          <p:nvPr/>
        </p:nvSpPr>
        <p:spPr>
          <a:xfrm>
            <a:off x="548640" y="13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マウスとタッチを同じ pointer イベントで扱い、座標を NDC に変換する</a:t>
            </a:r>
          </a:p>
        </p:txBody>
      </p:sp>
      <p:sp>
        <p:nvSpPr>
          <p:cNvPr id="11" name="R11"/>
          <p:cNvSpPr/>
          <p:nvPr/>
        </p:nvSpPr>
        <p:spPr>
          <a:xfrm>
            <a:off x="548640" y="1620000"/>
            <a:ext cx="4526280" cy="20172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R12"/>
          <p:cNvSpPr/>
          <p:nvPr/>
        </p:nvSpPr>
        <p:spPr>
          <a:xfrm>
            <a:off x="548640" y="1620000"/>
            <a:ext cx="27432" cy="201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777240" y="1808600"/>
            <a:ext cx="4069080" cy="1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el = renderer.domElement;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el.addEventListener('pointermove', (e) =&gt; {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const r = el.getBoundingClientRect();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pointer.x = ((e.clientX-r.left)/r.width)*2-1;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pointer.y = -((e.clientY-r.top)/r.height)*2+1;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});</a:t>
            </a:r>
          </a:p>
        </p:txBody>
      </p:sp>
      <p:sp>
        <p:nvSpPr>
          <p:cNvPr id="14" name="R14"/>
          <p:cNvSpPr/>
          <p:nvPr/>
        </p:nvSpPr>
        <p:spPr>
          <a:xfrm>
            <a:off x="5303520" y="1620000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R15"/>
          <p:cNvSpPr/>
          <p:nvPr/>
        </p:nvSpPr>
        <p:spPr>
          <a:xfrm>
            <a:off x="5303520" y="1620000"/>
            <a:ext cx="27432" cy="733333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5483520" y="1737333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pointermove</a:t>
            </a:r>
          </a:p>
        </p:txBody>
      </p:sp>
      <p:sp>
        <p:nvSpPr>
          <p:cNvPr id="17" name="T17"/>
          <p:cNvSpPr/>
          <p:nvPr/>
        </p:nvSpPr>
        <p:spPr>
          <a:xfrm>
            <a:off x="5483520" y="2001333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マウス・タッチ・ペンを統一</a:t>
            </a:r>
          </a:p>
        </p:txBody>
      </p:sp>
      <p:sp>
        <p:nvSpPr>
          <p:cNvPr id="18" name="R18"/>
          <p:cNvSpPr/>
          <p:nvPr/>
        </p:nvSpPr>
        <p:spPr>
          <a:xfrm>
            <a:off x="5303520" y="2433333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9" name="R19"/>
          <p:cNvSpPr/>
          <p:nvPr/>
        </p:nvSpPr>
        <p:spPr>
          <a:xfrm>
            <a:off x="5303520" y="2433333"/>
            <a:ext cx="27432" cy="733333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0" name="T20"/>
          <p:cNvSpPr/>
          <p:nvPr/>
        </p:nvSpPr>
        <p:spPr>
          <a:xfrm>
            <a:off x="5483520" y="2550666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clientX/Y → NDC</a:t>
            </a:r>
          </a:p>
        </p:txBody>
      </p:sp>
      <p:sp>
        <p:nvSpPr>
          <p:cNvPr id="21" name="T21"/>
          <p:cNvSpPr/>
          <p:nvPr/>
        </p:nvSpPr>
        <p:spPr>
          <a:xfrm>
            <a:off x="5483520" y="2814666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画面座標を -1〜1 に変換</a:t>
            </a:r>
          </a:p>
        </p:txBody>
      </p:sp>
      <p:sp>
        <p:nvSpPr>
          <p:cNvPr id="22" name="R22"/>
          <p:cNvSpPr/>
          <p:nvPr/>
        </p:nvSpPr>
        <p:spPr>
          <a:xfrm>
            <a:off x="5303520" y="3246666"/>
            <a:ext cx="3291840" cy="733333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3" name="R23"/>
          <p:cNvSpPr/>
          <p:nvPr/>
        </p:nvSpPr>
        <p:spPr>
          <a:xfrm>
            <a:off x="5303520" y="3246666"/>
            <a:ext cx="27432" cy="733333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5483520" y="3363999"/>
            <a:ext cx="29718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touch-action</a:t>
            </a:r>
          </a:p>
        </p:txBody>
      </p:sp>
      <p:sp>
        <p:nvSpPr>
          <p:cNvPr id="25" name="T25"/>
          <p:cNvSpPr/>
          <p:nvPr/>
        </p:nvSpPr>
        <p:spPr>
          <a:xfrm>
            <a:off x="5483520" y="3627999"/>
            <a:ext cx="297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CSS でスクロール干渉を防ぐ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217920" y="0"/>
            <a:ext cx="2743200" cy="2743200"/>
          </a:xfrm>
          <a:prstGeom prst="ellipse">
            <a:avLst/>
          </a:prstGeom>
          <a:solidFill>
            <a:srgbClr val="EC4899">
              <a:alpha val="9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L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6" name="L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7" name="L7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8" name="L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9" name="L9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0" name="L10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L11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L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548640" y="1737360"/>
            <a:ext cx="804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PART 02</a:t>
            </a:r>
          </a:p>
        </p:txBody>
      </p:sp>
      <p:sp>
        <p:nvSpPr>
          <p:cNvPr id="14" name="R14"/>
          <p:cNvSpPr/>
          <p:nvPr/>
        </p:nvSpPr>
        <p:spPr>
          <a:xfrm>
            <a:off x="548640" y="2240000"/>
            <a:ext cx="91440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5" name="T15"/>
          <p:cNvSpPr/>
          <p:nvPr/>
        </p:nvSpPr>
        <p:spPr>
          <a:xfrm>
            <a:off x="548640" y="2430000"/>
            <a:ext cx="804672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カメラを使い分ける</a:t>
            </a:r>
          </a:p>
        </p:txBody>
      </p:sp>
      <p:sp>
        <p:nvSpPr>
          <p:cNvPr id="16" name="T16"/>
          <p:cNvSpPr/>
          <p:nvPr/>
        </p:nvSpPr>
        <p:spPr>
          <a:xfrm>
            <a:off x="548640" y="3230000"/>
            <a:ext cx="8046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シーンに合ったカメラと、座標変換のしくみを理解する</a:t>
            </a:r>
          </a:p>
        </p:txBody>
      </p:sp>
      <p:sp>
        <p:nvSpPr>
          <p:cNvPr id="17" name="L17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8" name="T18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9" name="T19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09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CONCEPT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インタラクション = Controls × Raycaster × Events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780000"/>
            <a:ext cx="2377440" cy="192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780000"/>
            <a:ext cx="2377440" cy="127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688640" y="2080000"/>
            <a:ext cx="20974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Controls</a:t>
            </a:r>
          </a:p>
        </p:txBody>
      </p:sp>
      <p:sp>
        <p:nvSpPr>
          <p:cNvPr id="13" name="T13"/>
          <p:cNvSpPr/>
          <p:nvPr/>
        </p:nvSpPr>
        <p:spPr>
          <a:xfrm>
            <a:off x="688640" y="2540000"/>
            <a:ext cx="20974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視点</a:t>
            </a:r>
          </a:p>
        </p:txBody>
      </p:sp>
      <p:sp>
        <p:nvSpPr>
          <p:cNvPr id="14" name="T14"/>
          <p:cNvSpPr/>
          <p:nvPr/>
        </p:nvSpPr>
        <p:spPr>
          <a:xfrm>
            <a:off x="688640" y="2980000"/>
            <a:ext cx="20974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カメラの動きを操作する</a:t>
            </a:r>
          </a:p>
        </p:txBody>
      </p:sp>
      <p:sp>
        <p:nvSpPr>
          <p:cNvPr id="15" name="T15"/>
          <p:cNvSpPr/>
          <p:nvPr/>
        </p:nvSpPr>
        <p:spPr>
          <a:xfrm>
            <a:off x="2926080" y="1780000"/>
            <a:ext cx="457200" cy="1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</a:p>
        </p:txBody>
      </p:sp>
      <p:sp>
        <p:nvSpPr>
          <p:cNvPr id="16" name="R16"/>
          <p:cNvSpPr/>
          <p:nvPr/>
        </p:nvSpPr>
        <p:spPr>
          <a:xfrm>
            <a:off x="3383280" y="1780000"/>
            <a:ext cx="2377440" cy="192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7" name="R17"/>
          <p:cNvSpPr/>
          <p:nvPr/>
        </p:nvSpPr>
        <p:spPr>
          <a:xfrm>
            <a:off x="3383280" y="1780000"/>
            <a:ext cx="2377440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8" name="T18"/>
          <p:cNvSpPr/>
          <p:nvPr/>
        </p:nvSpPr>
        <p:spPr>
          <a:xfrm>
            <a:off x="3523280" y="2080000"/>
            <a:ext cx="20974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Raycaster</a:t>
            </a:r>
          </a:p>
        </p:txBody>
      </p:sp>
      <p:sp>
        <p:nvSpPr>
          <p:cNvPr id="19" name="T19"/>
          <p:cNvSpPr/>
          <p:nvPr/>
        </p:nvSpPr>
        <p:spPr>
          <a:xfrm>
            <a:off x="3523280" y="2540000"/>
            <a:ext cx="20974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</a:t>
            </a:r>
          </a:p>
        </p:txBody>
      </p:sp>
      <p:sp>
        <p:nvSpPr>
          <p:cNvPr id="20" name="T20"/>
          <p:cNvSpPr/>
          <p:nvPr/>
        </p:nvSpPr>
        <p:spPr>
          <a:xfrm>
            <a:off x="3523280" y="2980000"/>
            <a:ext cx="20974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光線で対象を特定する</a:t>
            </a:r>
          </a:p>
        </p:txBody>
      </p:sp>
      <p:sp>
        <p:nvSpPr>
          <p:cNvPr id="21" name="T21"/>
          <p:cNvSpPr/>
          <p:nvPr/>
        </p:nvSpPr>
        <p:spPr>
          <a:xfrm>
            <a:off x="5760720" y="1780000"/>
            <a:ext cx="457200" cy="19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</a:p>
        </p:txBody>
      </p:sp>
      <p:sp>
        <p:nvSpPr>
          <p:cNvPr id="22" name="R22"/>
          <p:cNvSpPr/>
          <p:nvPr/>
        </p:nvSpPr>
        <p:spPr>
          <a:xfrm>
            <a:off x="6217920" y="1780000"/>
            <a:ext cx="2377440" cy="192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3" name="R23"/>
          <p:cNvSpPr/>
          <p:nvPr/>
        </p:nvSpPr>
        <p:spPr>
          <a:xfrm>
            <a:off x="6217920" y="1780000"/>
            <a:ext cx="2377440" cy="127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4" name="T24"/>
          <p:cNvSpPr/>
          <p:nvPr/>
        </p:nvSpPr>
        <p:spPr>
          <a:xfrm>
            <a:off x="6357920" y="2080000"/>
            <a:ext cx="20974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Events</a:t>
            </a:r>
          </a:p>
        </p:txBody>
      </p:sp>
      <p:sp>
        <p:nvSpPr>
          <p:cNvPr id="25" name="T25"/>
          <p:cNvSpPr/>
          <p:nvPr/>
        </p:nvSpPr>
        <p:spPr>
          <a:xfrm>
            <a:off x="6357920" y="2540000"/>
            <a:ext cx="20974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</a:t>
            </a:r>
          </a:p>
        </p:txBody>
      </p:sp>
      <p:sp>
        <p:nvSpPr>
          <p:cNvPr id="26" name="T26"/>
          <p:cNvSpPr/>
          <p:nvPr/>
        </p:nvSpPr>
        <p:spPr>
          <a:xfrm>
            <a:off x="6357920" y="2980000"/>
            <a:ext cx="209744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ポインタ操作を受け取る</a:t>
            </a:r>
          </a:p>
        </p:txBody>
      </p:sp>
      <p:sp>
        <p:nvSpPr>
          <p:cNvPr id="27" name="T27"/>
          <p:cNvSpPr/>
          <p:nvPr/>
        </p:nvSpPr>
        <p:spPr>
          <a:xfrm>
            <a:off x="548640" y="423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3つがそろって初めて「触れるシーン」になる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10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CAMERAS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Perspective と Orthographic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600000"/>
            <a:ext cx="3886200" cy="23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600000"/>
            <a:ext cx="3886200" cy="127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768640" y="1840000"/>
            <a:ext cx="3446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PerspectiveCamera</a:t>
            </a:r>
          </a:p>
        </p:txBody>
      </p:sp>
      <p:sp>
        <p:nvSpPr>
          <p:cNvPr id="13" name="T13"/>
          <p:cNvSpPr/>
          <p:nvPr/>
        </p:nvSpPr>
        <p:spPr>
          <a:xfrm>
            <a:off x="768640" y="2220000"/>
            <a:ext cx="3446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遠近感のある投影</a:t>
            </a:r>
          </a:p>
        </p:txBody>
      </p:sp>
      <p:sp>
        <p:nvSpPr>
          <p:cNvPr id="14" name="L14"/>
          <p:cNvSpPr/>
          <p:nvPr/>
        </p:nvSpPr>
        <p:spPr>
          <a:xfrm>
            <a:off x="768640" y="2600000"/>
            <a:ext cx="34462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T15"/>
          <p:cNvSpPr/>
          <p:nvPr/>
        </p:nvSpPr>
        <p:spPr>
          <a:xfrm>
            <a:off x="768640" y="27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用途</a:t>
            </a:r>
          </a:p>
        </p:txBody>
      </p:sp>
      <p:sp>
        <p:nvSpPr>
          <p:cNvPr id="16" name="T16"/>
          <p:cNvSpPr/>
          <p:nvPr/>
        </p:nvSpPr>
        <p:spPr>
          <a:xfrm>
            <a:off x="1688640" y="2720000"/>
            <a:ext cx="2526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3D空間・自然な奥行きの表現</a:t>
            </a:r>
          </a:p>
        </p:txBody>
      </p:sp>
      <p:sp>
        <p:nvSpPr>
          <p:cNvPr id="17" name="T17"/>
          <p:cNvSpPr/>
          <p:nvPr/>
        </p:nvSpPr>
        <p:spPr>
          <a:xfrm>
            <a:off x="768640" y="31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引数</a:t>
            </a:r>
          </a:p>
        </p:txBody>
      </p:sp>
      <p:sp>
        <p:nvSpPr>
          <p:cNvPr id="18" name="T18"/>
          <p:cNvSpPr/>
          <p:nvPr/>
        </p:nvSpPr>
        <p:spPr>
          <a:xfrm>
            <a:off x="1688640" y="3120000"/>
            <a:ext cx="2526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fov, aspect, near, far</a:t>
            </a:r>
          </a:p>
        </p:txBody>
      </p:sp>
      <p:sp>
        <p:nvSpPr>
          <p:cNvPr id="19" name="T19"/>
          <p:cNvSpPr/>
          <p:nvPr/>
        </p:nvSpPr>
        <p:spPr>
          <a:xfrm>
            <a:off x="768640" y="35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</a:t>
            </a:r>
          </a:p>
        </p:txBody>
      </p:sp>
      <p:sp>
        <p:nvSpPr>
          <p:cNvPr id="20" name="T20"/>
          <p:cNvSpPr/>
          <p:nvPr/>
        </p:nvSpPr>
        <p:spPr>
          <a:xfrm>
            <a:off x="1688640" y="3520000"/>
            <a:ext cx="2526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遠くのものほど小さく見える</a:t>
            </a:r>
          </a:p>
        </p:txBody>
      </p:sp>
      <p:sp>
        <p:nvSpPr>
          <p:cNvPr id="21" name="R21"/>
          <p:cNvSpPr/>
          <p:nvPr/>
        </p:nvSpPr>
        <p:spPr>
          <a:xfrm>
            <a:off x="4709160" y="1600000"/>
            <a:ext cx="3886200" cy="23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2" name="R22"/>
          <p:cNvSpPr/>
          <p:nvPr/>
        </p:nvSpPr>
        <p:spPr>
          <a:xfrm>
            <a:off x="4709160" y="1600000"/>
            <a:ext cx="3886200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3" name="T23"/>
          <p:cNvSpPr/>
          <p:nvPr/>
        </p:nvSpPr>
        <p:spPr>
          <a:xfrm>
            <a:off x="4929160" y="1840000"/>
            <a:ext cx="3446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OrthographicCamera</a:t>
            </a:r>
          </a:p>
        </p:txBody>
      </p:sp>
      <p:sp>
        <p:nvSpPr>
          <p:cNvPr id="24" name="T24"/>
          <p:cNvSpPr/>
          <p:nvPr/>
        </p:nvSpPr>
        <p:spPr>
          <a:xfrm>
            <a:off x="4929160" y="2220000"/>
            <a:ext cx="3446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平行投影</a:t>
            </a:r>
          </a:p>
        </p:txBody>
      </p:sp>
      <p:sp>
        <p:nvSpPr>
          <p:cNvPr id="25" name="L25"/>
          <p:cNvSpPr/>
          <p:nvPr/>
        </p:nvSpPr>
        <p:spPr>
          <a:xfrm>
            <a:off x="4929160" y="2600000"/>
            <a:ext cx="3446200" cy="0"/>
          </a:xfrm>
          <a:prstGeom prst="line">
            <a:avLst/>
          </a:prstGeom>
          <a:noFill/>
          <a:ln w="635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6" name="T26"/>
          <p:cNvSpPr/>
          <p:nvPr/>
        </p:nvSpPr>
        <p:spPr>
          <a:xfrm>
            <a:off x="4929160" y="27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用途</a:t>
            </a:r>
          </a:p>
        </p:txBody>
      </p:sp>
      <p:sp>
        <p:nvSpPr>
          <p:cNvPr id="27" name="T27"/>
          <p:cNvSpPr/>
          <p:nvPr/>
        </p:nvSpPr>
        <p:spPr>
          <a:xfrm>
            <a:off x="5849160" y="2720000"/>
            <a:ext cx="2526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UI・図面・アイソメ表現</a:t>
            </a:r>
          </a:p>
        </p:txBody>
      </p:sp>
      <p:sp>
        <p:nvSpPr>
          <p:cNvPr id="28" name="T28"/>
          <p:cNvSpPr/>
          <p:nvPr/>
        </p:nvSpPr>
        <p:spPr>
          <a:xfrm>
            <a:off x="4929160" y="31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引数</a:t>
            </a:r>
          </a:p>
        </p:txBody>
      </p:sp>
      <p:sp>
        <p:nvSpPr>
          <p:cNvPr id="29" name="T29"/>
          <p:cNvSpPr/>
          <p:nvPr/>
        </p:nvSpPr>
        <p:spPr>
          <a:xfrm>
            <a:off x="5849160" y="3120000"/>
            <a:ext cx="2526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left, right, top, bottom, near, far</a:t>
            </a:r>
          </a:p>
        </p:txBody>
      </p:sp>
      <p:sp>
        <p:nvSpPr>
          <p:cNvPr id="30" name="T30"/>
          <p:cNvSpPr/>
          <p:nvPr/>
        </p:nvSpPr>
        <p:spPr>
          <a:xfrm>
            <a:off x="4929160" y="35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</a:t>
            </a:r>
          </a:p>
        </p:txBody>
      </p:sp>
      <p:sp>
        <p:nvSpPr>
          <p:cNvPr id="31" name="T31"/>
          <p:cNvSpPr/>
          <p:nvPr/>
        </p:nvSpPr>
        <p:spPr>
          <a:xfrm>
            <a:off x="5849160" y="3520000"/>
            <a:ext cx="2526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距離が変わっても大きさは一定</a:t>
            </a:r>
          </a:p>
        </p:txBody>
      </p:sp>
      <p:sp>
        <p:nvSpPr>
          <p:cNvPr id="32" name="T32"/>
          <p:cNvSpPr/>
          <p:nvPr/>
        </p:nvSpPr>
        <p:spPr>
          <a:xfrm>
            <a:off x="548640" y="4230000"/>
            <a:ext cx="804672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空間表現は Perspective、寸法を保つ図は Orthographic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11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COORDINATES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座標変換：画面 → NDC</a:t>
            </a:r>
          </a:p>
        </p:txBody>
      </p:sp>
      <p:sp>
        <p:nvSpPr>
          <p:cNvPr id="10" name="T10"/>
          <p:cNvSpPr/>
          <p:nvPr/>
        </p:nvSpPr>
        <p:spPr>
          <a:xfrm>
            <a:off x="548640" y="13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クリック位置を Three.js が扱う正規化デバイス座標(NDC)に変換する</a:t>
            </a:r>
          </a:p>
        </p:txBody>
      </p:sp>
      <p:sp>
        <p:nvSpPr>
          <p:cNvPr id="11" name="R11"/>
          <p:cNvSpPr/>
          <p:nvPr/>
        </p:nvSpPr>
        <p:spPr>
          <a:xfrm>
            <a:off x="548640" y="1780000"/>
            <a:ext cx="2377440" cy="150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R12"/>
          <p:cNvSpPr/>
          <p:nvPr/>
        </p:nvSpPr>
        <p:spPr>
          <a:xfrm>
            <a:off x="548640" y="1780000"/>
            <a:ext cx="27432" cy="1500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728640" y="1980000"/>
            <a:ext cx="20574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画面座標 (px)</a:t>
            </a:r>
          </a:p>
        </p:txBody>
      </p:sp>
      <p:sp>
        <p:nvSpPr>
          <p:cNvPr id="14" name="T14"/>
          <p:cNvSpPr/>
          <p:nvPr/>
        </p:nvSpPr>
        <p:spPr>
          <a:xfrm>
            <a:off x="728640" y="2360000"/>
            <a:ext cx="2057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clientX, clientY</a:t>
            </a:r>
          </a:p>
        </p:txBody>
      </p:sp>
      <p:sp>
        <p:nvSpPr>
          <p:cNvPr id="15" name="T15"/>
          <p:cNvSpPr/>
          <p:nvPr/>
        </p:nvSpPr>
        <p:spPr>
          <a:xfrm>
            <a:off x="728640" y="2700000"/>
            <a:ext cx="20574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マウス・タッチの生の位置</a:t>
            </a:r>
          </a:p>
        </p:txBody>
      </p:sp>
      <p:sp>
        <p:nvSpPr>
          <p:cNvPr id="16" name="T16"/>
          <p:cNvSpPr/>
          <p:nvPr/>
        </p:nvSpPr>
        <p:spPr>
          <a:xfrm>
            <a:off x="2926080" y="1780000"/>
            <a:ext cx="4572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7" name="R17"/>
          <p:cNvSpPr/>
          <p:nvPr/>
        </p:nvSpPr>
        <p:spPr>
          <a:xfrm>
            <a:off x="3383280" y="1780000"/>
            <a:ext cx="2377440" cy="150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8" name="R18"/>
          <p:cNvSpPr/>
          <p:nvPr/>
        </p:nvSpPr>
        <p:spPr>
          <a:xfrm>
            <a:off x="3383280" y="1780000"/>
            <a:ext cx="27432" cy="150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9" name="T19"/>
          <p:cNvSpPr/>
          <p:nvPr/>
        </p:nvSpPr>
        <p:spPr>
          <a:xfrm>
            <a:off x="3563280" y="1980000"/>
            <a:ext cx="20574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正規化 (0〜1)</a:t>
            </a:r>
          </a:p>
        </p:txBody>
      </p:sp>
      <p:sp>
        <p:nvSpPr>
          <p:cNvPr id="20" name="T20"/>
          <p:cNvSpPr/>
          <p:nvPr/>
        </p:nvSpPr>
        <p:spPr>
          <a:xfrm>
            <a:off x="3563280" y="2360000"/>
            <a:ext cx="2057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/ rect.width, height</a:t>
            </a:r>
          </a:p>
        </p:txBody>
      </p:sp>
      <p:sp>
        <p:nvSpPr>
          <p:cNvPr id="21" name="T21"/>
          <p:cNvSpPr/>
          <p:nvPr/>
        </p:nvSpPr>
        <p:spPr>
          <a:xfrm>
            <a:off x="3563280" y="2700000"/>
            <a:ext cx="20574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canvas の大きさで割る</a:t>
            </a:r>
          </a:p>
        </p:txBody>
      </p:sp>
      <p:sp>
        <p:nvSpPr>
          <p:cNvPr id="22" name="T22"/>
          <p:cNvSpPr/>
          <p:nvPr/>
        </p:nvSpPr>
        <p:spPr>
          <a:xfrm>
            <a:off x="5760720" y="1780000"/>
            <a:ext cx="4572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23" name="R23"/>
          <p:cNvSpPr/>
          <p:nvPr/>
        </p:nvSpPr>
        <p:spPr>
          <a:xfrm>
            <a:off x="6217920" y="1780000"/>
            <a:ext cx="2377440" cy="150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4" name="R24"/>
          <p:cNvSpPr/>
          <p:nvPr/>
        </p:nvSpPr>
        <p:spPr>
          <a:xfrm>
            <a:off x="6217920" y="1780000"/>
            <a:ext cx="27432" cy="15000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5" name="T25"/>
          <p:cNvSpPr/>
          <p:nvPr/>
        </p:nvSpPr>
        <p:spPr>
          <a:xfrm>
            <a:off x="6397920" y="1980000"/>
            <a:ext cx="20574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NDC (-1〜1)</a:t>
            </a:r>
          </a:p>
        </p:txBody>
      </p:sp>
      <p:sp>
        <p:nvSpPr>
          <p:cNvPr id="26" name="T26"/>
          <p:cNvSpPr/>
          <p:nvPr/>
        </p:nvSpPr>
        <p:spPr>
          <a:xfrm>
            <a:off x="6397920" y="2360000"/>
            <a:ext cx="205744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×2-1、Yは反転</a:t>
            </a:r>
          </a:p>
        </p:txBody>
      </p:sp>
      <p:sp>
        <p:nvSpPr>
          <p:cNvPr id="27" name="T27"/>
          <p:cNvSpPr/>
          <p:nvPr/>
        </p:nvSpPr>
        <p:spPr>
          <a:xfrm>
            <a:off x="6397920" y="2700000"/>
            <a:ext cx="20574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が使う座標系へ</a:t>
            </a:r>
          </a:p>
        </p:txBody>
      </p:sp>
      <p:sp>
        <p:nvSpPr>
          <p:cNvPr id="28" name="R28"/>
          <p:cNvSpPr/>
          <p:nvPr/>
        </p:nvSpPr>
        <p:spPr>
          <a:xfrm>
            <a:off x="548640" y="3460000"/>
            <a:ext cx="8046720" cy="9772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9" name="R29"/>
          <p:cNvSpPr/>
          <p:nvPr/>
        </p:nvSpPr>
        <p:spPr>
          <a:xfrm>
            <a:off x="548640" y="3460000"/>
            <a:ext cx="27432" cy="97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0" name="T30"/>
          <p:cNvSpPr/>
          <p:nvPr/>
        </p:nvSpPr>
        <p:spPr>
          <a:xfrm>
            <a:off x="777240" y="3648600"/>
            <a:ext cx="758952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pointer.x = (x / width) * 2 - 1;      // -1 〜 1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pointer.y = -(y / height) * 2 + 1;    // Y軸は反転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12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CODE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最小コードでインタラクション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470000"/>
            <a:ext cx="8046720" cy="30000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470000"/>
            <a:ext cx="27432" cy="3000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718640" y="1600000"/>
            <a:ext cx="7706720" cy="27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import * as THREE from 'three';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import { OrbitControls } from 'three/addons/controls/OrbitControls.js';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controls = new OrbitControls(camera, renderer.domElement);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controls.enableDamping = true;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raycaster = new THREE.Raycaster();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pointer = new THREE.Vector2();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addEventListener('pointerdown', (e) =&gt; {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pointer.set((e.clientX/innerWidth)*2-1, -(e.clientY/innerHeight)*2+1);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raycaster.setFromCamera(pointer, camera);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const hit = raycaster.intersectObjects(scene.children)[0];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if (hit) hit.object.material.color.set('#22d3ee');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});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(function loop(){ controls.update(); renderer.render(scene,camera);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9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requestAnimationFrame(loop); })();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13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FLOW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インタラクションの流れ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760000"/>
            <a:ext cx="1737360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T11"/>
          <p:cNvSpPr/>
          <p:nvPr/>
        </p:nvSpPr>
        <p:spPr>
          <a:xfrm>
            <a:off x="548640" y="1980000"/>
            <a:ext cx="1737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</a:t>
            </a:r>
          </a:p>
        </p:txBody>
      </p:sp>
      <p:sp>
        <p:nvSpPr>
          <p:cNvPr id="12" name="T12"/>
          <p:cNvSpPr/>
          <p:nvPr/>
        </p:nvSpPr>
        <p:spPr>
          <a:xfrm>
            <a:off x="668640" y="2580000"/>
            <a:ext cx="14973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ポインタ座標を取得</a:t>
            </a:r>
          </a:p>
        </p:txBody>
      </p:sp>
      <p:sp>
        <p:nvSpPr>
          <p:cNvPr id="13" name="T13"/>
          <p:cNvSpPr/>
          <p:nvPr/>
        </p:nvSpPr>
        <p:spPr>
          <a:xfrm>
            <a:off x="668640" y="2940000"/>
            <a:ext cx="1497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pointer イベントで clientX/Y</a:t>
            </a:r>
          </a:p>
        </p:txBody>
      </p:sp>
      <p:sp>
        <p:nvSpPr>
          <p:cNvPr id="14" name="T14"/>
          <p:cNvSpPr/>
          <p:nvPr/>
        </p:nvSpPr>
        <p:spPr>
          <a:xfrm>
            <a:off x="2286000" y="1760000"/>
            <a:ext cx="36576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5" name="R15"/>
          <p:cNvSpPr/>
          <p:nvPr/>
        </p:nvSpPr>
        <p:spPr>
          <a:xfrm>
            <a:off x="2651760" y="1760000"/>
            <a:ext cx="1737360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2651760" y="1980000"/>
            <a:ext cx="1737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2</a:t>
            </a:r>
          </a:p>
        </p:txBody>
      </p:sp>
      <p:sp>
        <p:nvSpPr>
          <p:cNvPr id="17" name="T17"/>
          <p:cNvSpPr/>
          <p:nvPr/>
        </p:nvSpPr>
        <p:spPr>
          <a:xfrm>
            <a:off x="2771760" y="2580000"/>
            <a:ext cx="14973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NDC に変換</a:t>
            </a:r>
          </a:p>
        </p:txBody>
      </p:sp>
      <p:sp>
        <p:nvSpPr>
          <p:cNvPr id="18" name="T18"/>
          <p:cNvSpPr/>
          <p:nvPr/>
        </p:nvSpPr>
        <p:spPr>
          <a:xfrm>
            <a:off x="2771760" y="2940000"/>
            <a:ext cx="1497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-1〜1 に正規化する</a:t>
            </a:r>
          </a:p>
        </p:txBody>
      </p:sp>
      <p:sp>
        <p:nvSpPr>
          <p:cNvPr id="19" name="T19"/>
          <p:cNvSpPr/>
          <p:nvPr/>
        </p:nvSpPr>
        <p:spPr>
          <a:xfrm>
            <a:off x="4389120" y="1760000"/>
            <a:ext cx="36576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20" name="R20"/>
          <p:cNvSpPr/>
          <p:nvPr/>
        </p:nvSpPr>
        <p:spPr>
          <a:xfrm>
            <a:off x="4754880" y="1760000"/>
            <a:ext cx="1737360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1" name="T21"/>
          <p:cNvSpPr/>
          <p:nvPr/>
        </p:nvSpPr>
        <p:spPr>
          <a:xfrm>
            <a:off x="4754880" y="1980000"/>
            <a:ext cx="1737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3</a:t>
            </a:r>
          </a:p>
        </p:txBody>
      </p:sp>
      <p:sp>
        <p:nvSpPr>
          <p:cNvPr id="22" name="T22"/>
          <p:cNvSpPr/>
          <p:nvPr/>
        </p:nvSpPr>
        <p:spPr>
          <a:xfrm>
            <a:off x="4874880" y="2580000"/>
            <a:ext cx="14973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光線を飛ばす</a:t>
            </a:r>
          </a:p>
        </p:txBody>
      </p:sp>
      <p:sp>
        <p:nvSpPr>
          <p:cNvPr id="23" name="T23"/>
          <p:cNvSpPr/>
          <p:nvPr/>
        </p:nvSpPr>
        <p:spPr>
          <a:xfrm>
            <a:off x="4874880" y="2940000"/>
            <a:ext cx="1497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setFromCamera → intersectObjects</a:t>
            </a:r>
          </a:p>
        </p:txBody>
      </p:sp>
      <p:sp>
        <p:nvSpPr>
          <p:cNvPr id="24" name="T24"/>
          <p:cNvSpPr/>
          <p:nvPr/>
        </p:nvSpPr>
        <p:spPr>
          <a:xfrm>
            <a:off x="6492240" y="1760000"/>
            <a:ext cx="365760" cy="1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25" name="R25"/>
          <p:cNvSpPr/>
          <p:nvPr/>
        </p:nvSpPr>
        <p:spPr>
          <a:xfrm>
            <a:off x="6858000" y="1760000"/>
            <a:ext cx="1737360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6" name="T26"/>
          <p:cNvSpPr/>
          <p:nvPr/>
        </p:nvSpPr>
        <p:spPr>
          <a:xfrm>
            <a:off x="6858000" y="1980000"/>
            <a:ext cx="1737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4</a:t>
            </a:r>
          </a:p>
        </p:txBody>
      </p:sp>
      <p:sp>
        <p:nvSpPr>
          <p:cNvPr id="27" name="T27"/>
          <p:cNvSpPr/>
          <p:nvPr/>
        </p:nvSpPr>
        <p:spPr>
          <a:xfrm>
            <a:off x="6978000" y="2580000"/>
            <a:ext cx="149736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反応させる</a:t>
            </a:r>
          </a:p>
        </p:txBody>
      </p:sp>
      <p:sp>
        <p:nvSpPr>
          <p:cNvPr id="28" name="T28"/>
          <p:cNvSpPr/>
          <p:nvPr/>
        </p:nvSpPr>
        <p:spPr>
          <a:xfrm>
            <a:off x="6978000" y="2940000"/>
            <a:ext cx="149736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色替え・選択・移動など</a:t>
            </a:r>
          </a:p>
        </p:txBody>
      </p:sp>
      <p:sp>
        <p:nvSpPr>
          <p:cNvPr id="29" name="T29"/>
          <p:cNvSpPr/>
          <p:nvPr/>
        </p:nvSpPr>
        <p:spPr>
          <a:xfrm>
            <a:off x="548640" y="360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毎フレームではなくイベント発生時に判定すると軽くなる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14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TECHNIQUE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ホバーで対象を強調する</a:t>
            </a:r>
          </a:p>
        </p:txBody>
      </p:sp>
      <p:sp>
        <p:nvSpPr>
          <p:cNvPr id="10" name="T10"/>
          <p:cNvSpPr/>
          <p:nvPr/>
        </p:nvSpPr>
        <p:spPr>
          <a:xfrm>
            <a:off x="548640" y="13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マウスが乗ったオブジェクトを記録し、発光色で反応させる</a:t>
            </a:r>
          </a:p>
        </p:txBody>
      </p:sp>
      <p:sp>
        <p:nvSpPr>
          <p:cNvPr id="11" name="R11"/>
          <p:cNvSpPr/>
          <p:nvPr/>
        </p:nvSpPr>
        <p:spPr>
          <a:xfrm>
            <a:off x="548640" y="1660000"/>
            <a:ext cx="4526280" cy="25372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R12"/>
          <p:cNvSpPr/>
          <p:nvPr/>
        </p:nvSpPr>
        <p:spPr>
          <a:xfrm>
            <a:off x="548640" y="1660000"/>
            <a:ext cx="27432" cy="253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777240" y="1848600"/>
            <a:ext cx="4069080" cy="2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let hovered = null;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hit = raycaster.intersectObjects(targets)[0];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const obj = hit ? hit.object : null;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if (obj !== hovered) {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hovered?.material.emissive.set(0x000000);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obj?.material.emissive.set(0x224466);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  hovered = obj;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14" name="R14"/>
          <p:cNvSpPr/>
          <p:nvPr/>
        </p:nvSpPr>
        <p:spPr>
          <a:xfrm>
            <a:off x="5303520" y="1660000"/>
            <a:ext cx="3291840" cy="109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R15"/>
          <p:cNvSpPr/>
          <p:nvPr/>
        </p:nvSpPr>
        <p:spPr>
          <a:xfrm>
            <a:off x="5303520" y="1660000"/>
            <a:ext cx="27432" cy="10900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5483520" y="1900000"/>
            <a:ext cx="29718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ホバーの記録</a:t>
            </a:r>
          </a:p>
        </p:txBody>
      </p:sp>
      <p:sp>
        <p:nvSpPr>
          <p:cNvPr id="17" name="T17"/>
          <p:cNvSpPr/>
          <p:nvPr/>
        </p:nvSpPr>
        <p:spPr>
          <a:xfrm>
            <a:off x="5483520" y="2280000"/>
            <a:ext cx="29718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直前の対象を覚えて元に戻す</a:t>
            </a:r>
          </a:p>
        </p:txBody>
      </p:sp>
      <p:sp>
        <p:nvSpPr>
          <p:cNvPr id="18" name="R18"/>
          <p:cNvSpPr/>
          <p:nvPr/>
        </p:nvSpPr>
        <p:spPr>
          <a:xfrm>
            <a:off x="5303520" y="2930000"/>
            <a:ext cx="3291840" cy="109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9" name="R19"/>
          <p:cNvSpPr/>
          <p:nvPr/>
        </p:nvSpPr>
        <p:spPr>
          <a:xfrm>
            <a:off x="5303520" y="2930000"/>
            <a:ext cx="27432" cy="109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0" name="T20"/>
          <p:cNvSpPr/>
          <p:nvPr/>
        </p:nvSpPr>
        <p:spPr>
          <a:xfrm>
            <a:off x="5483520" y="3170000"/>
            <a:ext cx="29718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emissive で強調</a:t>
            </a:r>
          </a:p>
        </p:txBody>
      </p:sp>
      <p:sp>
        <p:nvSpPr>
          <p:cNvPr id="21" name="T21"/>
          <p:cNvSpPr/>
          <p:nvPr/>
        </p:nvSpPr>
        <p:spPr>
          <a:xfrm>
            <a:off x="5483520" y="3550000"/>
            <a:ext cx="297184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発光色でハイライトする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15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QUALITY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なめらかに・軽く動かす</a:t>
            </a:r>
          </a:p>
        </p:txBody>
      </p:sp>
      <p:sp>
        <p:nvSpPr>
          <p:cNvPr id="10" name="T10"/>
          <p:cNvSpPr/>
          <p:nvPr/>
        </p:nvSpPr>
        <p:spPr>
          <a:xfrm>
            <a:off x="548640" y="1350000"/>
            <a:ext cx="80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慣性・対象の限定・イベント頻度の調整で操作を快適にする</a:t>
            </a:r>
          </a:p>
        </p:txBody>
      </p:sp>
      <p:sp>
        <p:nvSpPr>
          <p:cNvPr id="11" name="R11"/>
          <p:cNvSpPr/>
          <p:nvPr/>
        </p:nvSpPr>
        <p:spPr>
          <a:xfrm>
            <a:off x="548640" y="1660000"/>
            <a:ext cx="8046720" cy="1497200"/>
          </a:xfrm>
          <a:prstGeom prst="rect">
            <a:avLst/>
          </a:prstGeom>
          <a:solidFill>
            <a:srgbClr val="0D1526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2" name="R12"/>
          <p:cNvSpPr/>
          <p:nvPr/>
        </p:nvSpPr>
        <p:spPr>
          <a:xfrm>
            <a:off x="548640" y="1660000"/>
            <a:ext cx="27432" cy="149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3" name="T13"/>
          <p:cNvSpPr/>
          <p:nvPr/>
        </p:nvSpPr>
        <p:spPr>
          <a:xfrm>
            <a:off x="777240" y="1848600"/>
            <a:ext cx="7589520" cy="1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controls.enableDamping = true;    // 慣性を効かせる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controls.dampingFactor = 0.05;    // 効き具合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raycaster.layers.set(1);          // 判定対象を限定</a:t>
            </a:r>
          </a:p>
          <a:p>
            <a:pPr marL="0" indent="0" algn="l">
              <a:lnSpc>
                <a:spcPct val="118000"/>
              </a:lnSpc>
              <a:spcBef>
                <a:spcPts val="200"/>
              </a:spcBef>
              <a:buNone/>
            </a:pPr>
            <a:r>
              <a:rPr lang="en-US" sz="10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// pointermove は throttle して負荷を下げる</a:t>
            </a:r>
          </a:p>
        </p:txBody>
      </p:sp>
      <p:sp>
        <p:nvSpPr>
          <p:cNvPr id="14" name="R14"/>
          <p:cNvSpPr/>
          <p:nvPr/>
        </p:nvSpPr>
        <p:spPr>
          <a:xfrm>
            <a:off x="548640" y="3160000"/>
            <a:ext cx="8046720" cy="90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5" name="R15"/>
          <p:cNvSpPr/>
          <p:nvPr/>
        </p:nvSpPr>
        <p:spPr>
          <a:xfrm>
            <a:off x="548640" y="3160000"/>
            <a:ext cx="27432" cy="90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748640" y="3330000"/>
            <a:ext cx="7646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カクつく・重いときは?</a:t>
            </a:r>
          </a:p>
        </p:txBody>
      </p:sp>
      <p:sp>
        <p:nvSpPr>
          <p:cNvPr id="17" name="T17"/>
          <p:cNvSpPr/>
          <p:nvPr/>
        </p:nvSpPr>
        <p:spPr>
          <a:xfrm>
            <a:off x="748640" y="3660000"/>
            <a:ext cx="76467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交差対象を絞り、pointermove を間引く。animate 内の controls.update() の呼び忘れにも注意する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16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DEBUG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よくあるつまずきポイント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600000"/>
            <a:ext cx="3886200" cy="11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600000"/>
            <a:ext cx="27432" cy="118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728640" y="1750000"/>
            <a:ext cx="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Q</a:t>
            </a:r>
          </a:p>
        </p:txBody>
      </p:sp>
      <p:sp>
        <p:nvSpPr>
          <p:cNvPr id="13" name="T13"/>
          <p:cNvSpPr/>
          <p:nvPr/>
        </p:nvSpPr>
        <p:spPr>
          <a:xfrm>
            <a:off x="1248640" y="1800000"/>
            <a:ext cx="3006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操作しても動かない</a:t>
            </a:r>
          </a:p>
        </p:txBody>
      </p:sp>
      <p:sp>
        <p:nvSpPr>
          <p:cNvPr id="14" name="T14"/>
          <p:cNvSpPr/>
          <p:nvPr/>
        </p:nvSpPr>
        <p:spPr>
          <a:xfrm>
            <a:off x="1248640" y="2160000"/>
            <a:ext cx="30062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animate 内の controls.update() を確認する</a:t>
            </a:r>
          </a:p>
        </p:txBody>
      </p:sp>
      <p:sp>
        <p:nvSpPr>
          <p:cNvPr id="15" name="R15"/>
          <p:cNvSpPr/>
          <p:nvPr/>
        </p:nvSpPr>
        <p:spPr>
          <a:xfrm>
            <a:off x="4709160" y="1600000"/>
            <a:ext cx="3886200" cy="11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6" name="R16"/>
          <p:cNvSpPr/>
          <p:nvPr/>
        </p:nvSpPr>
        <p:spPr>
          <a:xfrm>
            <a:off x="4709160" y="1600000"/>
            <a:ext cx="27432" cy="118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7" name="T17"/>
          <p:cNvSpPr/>
          <p:nvPr/>
        </p:nvSpPr>
        <p:spPr>
          <a:xfrm>
            <a:off x="4889160" y="1750000"/>
            <a:ext cx="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Q</a:t>
            </a:r>
          </a:p>
        </p:txBody>
      </p:sp>
      <p:sp>
        <p:nvSpPr>
          <p:cNvPr id="18" name="T18"/>
          <p:cNvSpPr/>
          <p:nvPr/>
        </p:nvSpPr>
        <p:spPr>
          <a:xfrm>
            <a:off x="5409160" y="1800000"/>
            <a:ext cx="3006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クリックが当たらない</a:t>
            </a:r>
          </a:p>
        </p:txBody>
      </p:sp>
      <p:sp>
        <p:nvSpPr>
          <p:cNvPr id="19" name="T19"/>
          <p:cNvSpPr/>
          <p:nvPr/>
        </p:nvSpPr>
        <p:spPr>
          <a:xfrm>
            <a:off x="5409160" y="2160000"/>
            <a:ext cx="30062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NDC変換とYの符号、対象の指定を見直す</a:t>
            </a:r>
          </a:p>
        </p:txBody>
      </p:sp>
      <p:sp>
        <p:nvSpPr>
          <p:cNvPr id="20" name="R20"/>
          <p:cNvSpPr/>
          <p:nvPr/>
        </p:nvSpPr>
        <p:spPr>
          <a:xfrm>
            <a:off x="548640" y="2920000"/>
            <a:ext cx="3886200" cy="11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1" name="R21"/>
          <p:cNvSpPr/>
          <p:nvPr/>
        </p:nvSpPr>
        <p:spPr>
          <a:xfrm>
            <a:off x="548640" y="2920000"/>
            <a:ext cx="27432" cy="118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2" name="T22"/>
          <p:cNvSpPr/>
          <p:nvPr/>
        </p:nvSpPr>
        <p:spPr>
          <a:xfrm>
            <a:off x="728640" y="3070000"/>
            <a:ext cx="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Q</a:t>
            </a:r>
          </a:p>
        </p:txBody>
      </p:sp>
      <p:sp>
        <p:nvSpPr>
          <p:cNvPr id="23" name="T23"/>
          <p:cNvSpPr/>
          <p:nvPr/>
        </p:nvSpPr>
        <p:spPr>
          <a:xfrm>
            <a:off x="1248640" y="3120000"/>
            <a:ext cx="3006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選択位置がズレる</a:t>
            </a:r>
          </a:p>
        </p:txBody>
      </p:sp>
      <p:sp>
        <p:nvSpPr>
          <p:cNvPr id="24" name="T24"/>
          <p:cNvSpPr/>
          <p:nvPr/>
        </p:nvSpPr>
        <p:spPr>
          <a:xfrm>
            <a:off x="1248640" y="3480000"/>
            <a:ext cx="30062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getBoundingClientRect で canvas 基準に直す</a:t>
            </a:r>
          </a:p>
        </p:txBody>
      </p:sp>
      <p:sp>
        <p:nvSpPr>
          <p:cNvPr id="25" name="R25"/>
          <p:cNvSpPr/>
          <p:nvPr/>
        </p:nvSpPr>
        <p:spPr>
          <a:xfrm>
            <a:off x="4709160" y="2920000"/>
            <a:ext cx="3886200" cy="118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6" name="R26"/>
          <p:cNvSpPr/>
          <p:nvPr/>
        </p:nvSpPr>
        <p:spPr>
          <a:xfrm>
            <a:off x="4709160" y="2920000"/>
            <a:ext cx="27432" cy="11800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7" name="T27"/>
          <p:cNvSpPr/>
          <p:nvPr/>
        </p:nvSpPr>
        <p:spPr>
          <a:xfrm>
            <a:off x="4889160" y="3070000"/>
            <a:ext cx="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Q</a:t>
            </a:r>
          </a:p>
        </p:txBody>
      </p:sp>
      <p:sp>
        <p:nvSpPr>
          <p:cNvPr id="28" name="T28"/>
          <p:cNvSpPr/>
          <p:nvPr/>
        </p:nvSpPr>
        <p:spPr>
          <a:xfrm>
            <a:off x="5409160" y="3120000"/>
            <a:ext cx="3006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スマホで反応しない</a:t>
            </a:r>
          </a:p>
        </p:txBody>
      </p:sp>
      <p:sp>
        <p:nvSpPr>
          <p:cNvPr id="29" name="T29"/>
          <p:cNvSpPr/>
          <p:nvPr/>
        </p:nvSpPr>
        <p:spPr>
          <a:xfrm>
            <a:off x="5409160" y="3480000"/>
            <a:ext cx="30062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pointer イベントと touch-action を設定する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17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▶ HANDS-ON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立方体をクリックで強調しよう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560000"/>
            <a:ext cx="1487424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560000"/>
            <a:ext cx="1487424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638640" y="1760000"/>
            <a:ext cx="130742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Step 1</a:t>
            </a:r>
          </a:p>
        </p:txBody>
      </p:sp>
      <p:sp>
        <p:nvSpPr>
          <p:cNvPr id="13" name="T13"/>
          <p:cNvSpPr/>
          <p:nvPr/>
        </p:nvSpPr>
        <p:spPr>
          <a:xfrm>
            <a:off x="638640" y="2120000"/>
            <a:ext cx="1307424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立方体を並べる</a:t>
            </a:r>
          </a:p>
        </p:txBody>
      </p:sp>
      <p:sp>
        <p:nvSpPr>
          <p:cNvPr id="14" name="T14"/>
          <p:cNvSpPr/>
          <p:nvPr/>
        </p:nvSpPr>
        <p:spPr>
          <a:xfrm>
            <a:off x="638640" y="2680000"/>
            <a:ext cx="1307424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数個の Mesh をシーンに配置</a:t>
            </a:r>
          </a:p>
        </p:txBody>
      </p:sp>
      <p:sp>
        <p:nvSpPr>
          <p:cNvPr id="15" name="R15"/>
          <p:cNvSpPr/>
          <p:nvPr/>
        </p:nvSpPr>
        <p:spPr>
          <a:xfrm>
            <a:off x="2188464" y="1560000"/>
            <a:ext cx="1487424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6" name="R16"/>
          <p:cNvSpPr/>
          <p:nvPr/>
        </p:nvSpPr>
        <p:spPr>
          <a:xfrm>
            <a:off x="2188464" y="1560000"/>
            <a:ext cx="1487424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7" name="T17"/>
          <p:cNvSpPr/>
          <p:nvPr/>
        </p:nvSpPr>
        <p:spPr>
          <a:xfrm>
            <a:off x="2278464" y="1760000"/>
            <a:ext cx="130742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Step 2</a:t>
            </a:r>
          </a:p>
        </p:txBody>
      </p:sp>
      <p:sp>
        <p:nvSpPr>
          <p:cNvPr id="18" name="T18"/>
          <p:cNvSpPr/>
          <p:nvPr/>
        </p:nvSpPr>
        <p:spPr>
          <a:xfrm>
            <a:off x="2278464" y="2120000"/>
            <a:ext cx="1307424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</a:t>
            </a:r>
          </a:p>
        </p:txBody>
      </p:sp>
      <p:sp>
        <p:nvSpPr>
          <p:cNvPr id="19" name="T19"/>
          <p:cNvSpPr/>
          <p:nvPr/>
        </p:nvSpPr>
        <p:spPr>
          <a:xfrm>
            <a:off x="2278464" y="2680000"/>
            <a:ext cx="1307424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視点を回せるようにする</a:t>
            </a:r>
          </a:p>
        </p:txBody>
      </p:sp>
      <p:sp>
        <p:nvSpPr>
          <p:cNvPr id="20" name="R20"/>
          <p:cNvSpPr/>
          <p:nvPr/>
        </p:nvSpPr>
        <p:spPr>
          <a:xfrm>
            <a:off x="3828288" y="1560000"/>
            <a:ext cx="1487424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1" name="R21"/>
          <p:cNvSpPr/>
          <p:nvPr/>
        </p:nvSpPr>
        <p:spPr>
          <a:xfrm>
            <a:off x="3828288" y="1560000"/>
            <a:ext cx="1487424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2" name="T22"/>
          <p:cNvSpPr/>
          <p:nvPr/>
        </p:nvSpPr>
        <p:spPr>
          <a:xfrm>
            <a:off x="3918288" y="1760000"/>
            <a:ext cx="130742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Step 3</a:t>
            </a:r>
          </a:p>
        </p:txBody>
      </p:sp>
      <p:sp>
        <p:nvSpPr>
          <p:cNvPr id="23" name="T23"/>
          <p:cNvSpPr/>
          <p:nvPr/>
        </p:nvSpPr>
        <p:spPr>
          <a:xfrm>
            <a:off x="3918288" y="2120000"/>
            <a:ext cx="1307424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を用意</a:t>
            </a:r>
          </a:p>
        </p:txBody>
      </p:sp>
      <p:sp>
        <p:nvSpPr>
          <p:cNvPr id="24" name="T24"/>
          <p:cNvSpPr/>
          <p:nvPr/>
        </p:nvSpPr>
        <p:spPr>
          <a:xfrm>
            <a:off x="3918288" y="2680000"/>
            <a:ext cx="1307424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pointer 座標を NDC に変換</a:t>
            </a:r>
          </a:p>
        </p:txBody>
      </p:sp>
      <p:sp>
        <p:nvSpPr>
          <p:cNvPr id="25" name="R25"/>
          <p:cNvSpPr/>
          <p:nvPr/>
        </p:nvSpPr>
        <p:spPr>
          <a:xfrm>
            <a:off x="5468112" y="1560000"/>
            <a:ext cx="1487424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6" name="R26"/>
          <p:cNvSpPr/>
          <p:nvPr/>
        </p:nvSpPr>
        <p:spPr>
          <a:xfrm>
            <a:off x="5468112" y="1560000"/>
            <a:ext cx="1487424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7" name="T27"/>
          <p:cNvSpPr/>
          <p:nvPr/>
        </p:nvSpPr>
        <p:spPr>
          <a:xfrm>
            <a:off x="5558112" y="1760000"/>
            <a:ext cx="130742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Step 4</a:t>
            </a:r>
          </a:p>
        </p:txBody>
      </p:sp>
      <p:sp>
        <p:nvSpPr>
          <p:cNvPr id="28" name="T28"/>
          <p:cNvSpPr/>
          <p:nvPr/>
        </p:nvSpPr>
        <p:spPr>
          <a:xfrm>
            <a:off x="5558112" y="2120000"/>
            <a:ext cx="1307424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クリック判定</a:t>
            </a:r>
          </a:p>
        </p:txBody>
      </p:sp>
      <p:sp>
        <p:nvSpPr>
          <p:cNvPr id="29" name="T29"/>
          <p:cNvSpPr/>
          <p:nvPr/>
        </p:nvSpPr>
        <p:spPr>
          <a:xfrm>
            <a:off x="5558112" y="2680000"/>
            <a:ext cx="1307424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intersectObjects で対象を取得</a:t>
            </a:r>
          </a:p>
        </p:txBody>
      </p:sp>
      <p:sp>
        <p:nvSpPr>
          <p:cNvPr id="30" name="R30"/>
          <p:cNvSpPr/>
          <p:nvPr/>
        </p:nvSpPr>
        <p:spPr>
          <a:xfrm>
            <a:off x="7107936" y="1560000"/>
            <a:ext cx="1487424" cy="1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31" name="R31"/>
          <p:cNvSpPr/>
          <p:nvPr/>
        </p:nvSpPr>
        <p:spPr>
          <a:xfrm>
            <a:off x="7107936" y="1560000"/>
            <a:ext cx="1487424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2" name="T32"/>
          <p:cNvSpPr/>
          <p:nvPr/>
        </p:nvSpPr>
        <p:spPr>
          <a:xfrm>
            <a:off x="7197936" y="1760000"/>
            <a:ext cx="1307424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Step 5</a:t>
            </a:r>
          </a:p>
        </p:txBody>
      </p:sp>
      <p:sp>
        <p:nvSpPr>
          <p:cNvPr id="33" name="T33"/>
          <p:cNvSpPr/>
          <p:nvPr/>
        </p:nvSpPr>
        <p:spPr>
          <a:xfrm>
            <a:off x="7197936" y="2120000"/>
            <a:ext cx="1307424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強調表示</a:t>
            </a:r>
          </a:p>
        </p:txBody>
      </p:sp>
      <p:sp>
        <p:nvSpPr>
          <p:cNvPr id="34" name="T34"/>
          <p:cNvSpPr/>
          <p:nvPr/>
        </p:nvSpPr>
        <p:spPr>
          <a:xfrm>
            <a:off x="7197936" y="2680000"/>
            <a:ext cx="1307424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当たった立方体の色を変える</a:t>
            </a:r>
          </a:p>
        </p:txBody>
      </p:sp>
      <p:sp>
        <p:nvSpPr>
          <p:cNvPr id="35" name="R35"/>
          <p:cNvSpPr/>
          <p:nvPr/>
        </p:nvSpPr>
        <p:spPr>
          <a:xfrm>
            <a:off x="548640" y="3360000"/>
            <a:ext cx="8046720" cy="72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36" name="R36"/>
          <p:cNvSpPr/>
          <p:nvPr/>
        </p:nvSpPr>
        <p:spPr>
          <a:xfrm>
            <a:off x="548640" y="3360000"/>
            <a:ext cx="27432" cy="72000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7" name="T37"/>
          <p:cNvSpPr/>
          <p:nvPr/>
        </p:nvSpPr>
        <p:spPr>
          <a:xfrm>
            <a:off x="768640" y="3360000"/>
            <a:ext cx="7606720" cy="7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ゴール: </a:t>
            </a:r>
            <a:r>
              <a:rPr lang="en-US" sz="13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並んだ立方体から、クリックしたものが色を変えて反応する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2"/>
          <p:cNvSpPr/>
          <p:nvPr/>
        </p:nvSpPr>
        <p:spPr>
          <a:xfrm>
            <a:off x="6400800" y="0"/>
            <a:ext cx="2743200" cy="2743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" name="E3"/>
          <p:cNvSpPr/>
          <p:nvPr/>
        </p:nvSpPr>
        <p:spPr>
          <a:xfrm>
            <a:off x="0" y="2583180"/>
            <a:ext cx="2560320" cy="2560320"/>
          </a:xfrm>
          <a:prstGeom prst="ellipse">
            <a:avLst/>
          </a:prstGeom>
          <a:solidFill>
            <a:srgbClr val="EC4899">
              <a:alpha val="6000"/>
            </a:srgbClr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4" name="L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5" name="T5"/>
          <p:cNvSpPr/>
          <p:nvPr/>
        </p:nvSpPr>
        <p:spPr>
          <a:xfrm>
            <a:off x="548640" y="4718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" name="T6"/>
          <p:cNvSpPr/>
          <p:nvPr/>
        </p:nvSpPr>
        <p:spPr>
          <a:xfrm>
            <a:off x="7223760" y="4718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18 / 18</a:t>
            </a:r>
          </a:p>
        </p:txBody>
      </p:sp>
      <p:sp>
        <p:nvSpPr>
          <p:cNvPr id="7" name="T7"/>
          <p:cNvSpPr/>
          <p:nvPr/>
        </p:nvSpPr>
        <p:spPr>
          <a:xfrm>
            <a:off x="548640" y="372000"/>
            <a:ext cx="80467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WRAP UP</a:t>
            </a:r>
          </a:p>
        </p:txBody>
      </p:sp>
      <p:sp>
        <p:nvSpPr>
          <p:cNvPr id="8" name="R8"/>
          <p:cNvSpPr/>
          <p:nvPr/>
        </p:nvSpPr>
        <p:spPr>
          <a:xfrm>
            <a:off x="548640" y="604000"/>
            <a:ext cx="3200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9" name="T9"/>
          <p:cNvSpPr/>
          <p:nvPr/>
        </p:nvSpPr>
        <p:spPr>
          <a:xfrm>
            <a:off x="548640" y="690000"/>
            <a:ext cx="804672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 &amp; 次回予告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1580000"/>
            <a:ext cx="3840480" cy="2560000"/>
          </a:xfrm>
          <a:prstGeom prst="rect">
            <a:avLst/>
          </a:prstGeom>
          <a:solidFill>
            <a:srgbClr val="111827"/>
          </a:solidFill>
          <a:ln w="95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11" name="R11"/>
          <p:cNvSpPr/>
          <p:nvPr/>
        </p:nvSpPr>
        <p:spPr>
          <a:xfrm>
            <a:off x="548640" y="1580000"/>
            <a:ext cx="27432" cy="2560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2" name="T12"/>
          <p:cNvSpPr/>
          <p:nvPr/>
        </p:nvSpPr>
        <p:spPr>
          <a:xfrm>
            <a:off x="777240" y="1780000"/>
            <a:ext cx="33832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今日のまとめ</a:t>
            </a:r>
          </a:p>
        </p:txBody>
      </p:sp>
      <p:sp>
        <p:nvSpPr>
          <p:cNvPr id="13" name="R13"/>
          <p:cNvSpPr/>
          <p:nvPr/>
        </p:nvSpPr>
        <p:spPr>
          <a:xfrm>
            <a:off x="777240" y="2286000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4" name="T14"/>
          <p:cNvSpPr/>
          <p:nvPr/>
        </p:nvSpPr>
        <p:spPr>
          <a:xfrm>
            <a:off x="978640" y="2220000"/>
            <a:ext cx="31804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2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OrbitControls で視点を操作する</a:t>
            </a:r>
          </a:p>
        </p:txBody>
      </p:sp>
      <p:sp>
        <p:nvSpPr>
          <p:cNvPr id="15" name="R15"/>
          <p:cNvSpPr/>
          <p:nvPr/>
        </p:nvSpPr>
        <p:spPr>
          <a:xfrm>
            <a:off x="777240" y="2658000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6" name="T16"/>
          <p:cNvSpPr/>
          <p:nvPr/>
        </p:nvSpPr>
        <p:spPr>
          <a:xfrm>
            <a:off x="978640" y="2592000"/>
            <a:ext cx="31804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2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で対象を選択する</a:t>
            </a:r>
          </a:p>
        </p:txBody>
      </p:sp>
      <p:sp>
        <p:nvSpPr>
          <p:cNvPr id="17" name="R17"/>
          <p:cNvSpPr/>
          <p:nvPr/>
        </p:nvSpPr>
        <p:spPr>
          <a:xfrm>
            <a:off x="777240" y="3030000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18" name="T18"/>
          <p:cNvSpPr/>
          <p:nvPr/>
        </p:nvSpPr>
        <p:spPr>
          <a:xfrm>
            <a:off x="978640" y="2964000"/>
            <a:ext cx="31804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2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ポインタ座標を NDC に変換する</a:t>
            </a:r>
          </a:p>
        </p:txBody>
      </p:sp>
      <p:sp>
        <p:nvSpPr>
          <p:cNvPr id="19" name="R19"/>
          <p:cNvSpPr/>
          <p:nvPr/>
        </p:nvSpPr>
        <p:spPr>
          <a:xfrm>
            <a:off x="777240" y="3402000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0" name="T20"/>
          <p:cNvSpPr/>
          <p:nvPr/>
        </p:nvSpPr>
        <p:spPr>
          <a:xfrm>
            <a:off x="978640" y="3336000"/>
            <a:ext cx="31804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2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ホバー・クリックで反応を付ける</a:t>
            </a:r>
          </a:p>
        </p:txBody>
      </p:sp>
      <p:sp>
        <p:nvSpPr>
          <p:cNvPr id="21" name="R21"/>
          <p:cNvSpPr/>
          <p:nvPr/>
        </p:nvSpPr>
        <p:spPr>
          <a:xfrm>
            <a:off x="777240" y="3774000"/>
            <a:ext cx="100584" cy="1005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2" name="T22"/>
          <p:cNvSpPr/>
          <p:nvPr/>
        </p:nvSpPr>
        <p:spPr>
          <a:xfrm>
            <a:off x="978640" y="3708000"/>
            <a:ext cx="31804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2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交差対象を絞って軽く保つ</a:t>
            </a:r>
          </a:p>
        </p:txBody>
      </p:sp>
      <p:sp>
        <p:nvSpPr>
          <p:cNvPr id="23" name="R23"/>
          <p:cNvSpPr/>
          <p:nvPr/>
        </p:nvSpPr>
        <p:spPr>
          <a:xfrm>
            <a:off x="4663440" y="1580000"/>
            <a:ext cx="3931920" cy="256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ja-JP"/>
          </a:p>
        </p:txBody>
      </p:sp>
      <p:sp>
        <p:nvSpPr>
          <p:cNvPr id="24" name="R24"/>
          <p:cNvSpPr/>
          <p:nvPr/>
        </p:nvSpPr>
        <p:spPr>
          <a:xfrm>
            <a:off x="4663440" y="1580000"/>
            <a:ext cx="3931920" cy="1270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5" name="T25"/>
          <p:cNvSpPr/>
          <p:nvPr/>
        </p:nvSpPr>
        <p:spPr>
          <a:xfrm>
            <a:off x="4892040" y="1800000"/>
            <a:ext cx="34747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20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-120"/>
              </a:rPr>
              <a:t>次回: SESSION 06</a:t>
            </a:r>
          </a:p>
        </p:txBody>
      </p:sp>
      <p:sp>
        <p:nvSpPr>
          <p:cNvPr id="26" name="T26"/>
          <p:cNvSpPr/>
          <p:nvPr/>
        </p:nvSpPr>
        <p:spPr>
          <a:xfrm>
            <a:off x="4892040" y="2140000"/>
            <a:ext cx="34747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モデル読み込みと外部リソース</a:t>
            </a:r>
          </a:p>
        </p:txBody>
      </p:sp>
      <p:sp>
        <p:nvSpPr>
          <p:cNvPr id="27" name="T27"/>
          <p:cNvSpPr/>
          <p:nvPr/>
        </p:nvSpPr>
        <p:spPr>
          <a:xfrm>
            <a:off x="4892040" y="2540000"/>
            <a:ext cx="347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8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外部の3Dモデルを読み込み、シーンに組み込みます。</a:t>
            </a:r>
          </a:p>
        </p:txBody>
      </p:sp>
      <p:sp>
        <p:nvSpPr>
          <p:cNvPr id="28" name="R28"/>
          <p:cNvSpPr/>
          <p:nvPr/>
        </p:nvSpPr>
        <p:spPr>
          <a:xfrm>
            <a:off x="4892040" y="3160000"/>
            <a:ext cx="100584" cy="10058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29" name="T29"/>
          <p:cNvSpPr/>
          <p:nvPr/>
        </p:nvSpPr>
        <p:spPr>
          <a:xfrm>
            <a:off x="5093440" y="3100000"/>
            <a:ext cx="32719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8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/ GLB を GLTFLoader で読み込む</a:t>
            </a:r>
          </a:p>
        </p:txBody>
      </p:sp>
      <p:sp>
        <p:nvSpPr>
          <p:cNvPr id="30" name="R30"/>
          <p:cNvSpPr/>
          <p:nvPr/>
        </p:nvSpPr>
        <p:spPr>
          <a:xfrm>
            <a:off x="4892040" y="3532000"/>
            <a:ext cx="100584" cy="10058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1" name="T31"/>
          <p:cNvSpPr/>
          <p:nvPr/>
        </p:nvSpPr>
        <p:spPr>
          <a:xfrm>
            <a:off x="5093440" y="3472000"/>
            <a:ext cx="32719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8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モデルのスケール・中心を調整</a:t>
            </a:r>
          </a:p>
        </p:txBody>
      </p:sp>
      <p:sp>
        <p:nvSpPr>
          <p:cNvPr id="32" name="R32"/>
          <p:cNvSpPr/>
          <p:nvPr/>
        </p:nvSpPr>
        <p:spPr>
          <a:xfrm>
            <a:off x="4892040" y="3904000"/>
            <a:ext cx="100584" cy="10058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ja-JP"/>
          </a:p>
        </p:txBody>
      </p:sp>
      <p:sp>
        <p:nvSpPr>
          <p:cNvPr id="33" name="T33"/>
          <p:cNvSpPr/>
          <p:nvPr/>
        </p:nvSpPr>
        <p:spPr>
          <a:xfrm>
            <a:off x="5093440" y="3844000"/>
            <a:ext cx="327192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8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Raycaster と組み合わせて操作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86195F-06F9-47BB-8745-A487267AB549}">
  <ds:schemaRefs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91a5efbd-7d02-4308-8565-d8690abf6588"/>
    <ds:schemaRef ds:uri="http://purl.org/dc/dcmitype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CD18B32-8278-4980-979B-141A0C1B40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2A29EB-B5E8-4698-BB48-0AE1438D1B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a5efbd-7d02-4308-8565-d8690abf65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d41d6d7-36ce-4e0c-8c6d-cf2c54c39039}" enabled="0" method="" siteId="{8d41d6d7-36ce-4e0c-8c6d-cf2c54c390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1103</Words>
  <Application>Microsoft Office PowerPoint</Application>
  <PresentationFormat>画面に合わせる (16:9)</PresentationFormat>
  <Paragraphs>296</Paragraphs>
  <Slides>18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Yu Gothic UI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2</cp:revision>
  <dcterms:created xsi:type="dcterms:W3CDTF">2026-05-30T09:11:27Z</dcterms:created>
  <dcterms:modified xsi:type="dcterms:W3CDTF">2026-07-06T14:35:47Z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