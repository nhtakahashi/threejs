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7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7" r:id="rId20"/>
    <p:sldId id="272" r:id="rId21"/>
    <p:sldId id="273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CCB5B-1CB6-4401-B1D5-876E1BB6C4F8}" v="2" dt="2026-07-13T14:25:31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197FCEB1-7BDE-427E-8CF6-88E508DDC1C7}"/>
    <pc:docChg chg="custSel addSld modSld">
      <pc:chgData name="NH-STAFF 高橋真広" userId="60c902bb-f64f-40cf-869e-8386dac879fa" providerId="ADAL" clId="{197FCEB1-7BDE-427E-8CF6-88E508DDC1C7}" dt="2026-07-07T10:45:49.229" v="1" actId="27636"/>
      <pc:docMkLst>
        <pc:docMk/>
      </pc:docMkLst>
      <pc:sldChg chg="delSp modSp mod setClrOvrMap">
        <pc:chgData name="NH-STAFF 高橋真広" userId="60c902bb-f64f-40cf-869e-8386dac879fa" providerId="ADAL" clId="{197FCEB1-7BDE-427E-8CF6-88E508DDC1C7}" dt="2026-07-07T10:45:49.229" v="1" actId="27636"/>
        <pc:sldMkLst>
          <pc:docMk/>
          <pc:sldMk cId="0" sldId="256"/>
        </pc:sldMkLst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229" v="1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6"/>
            <ac:spMk id="15" creationId="{00000000-0000-0000-0000-000000000000}"/>
          </ac:spMkLst>
        </pc:spChg>
      </pc:sldChg>
      <pc:sldChg chg="delSp mod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57"/>
        </pc:sldMkLst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7"/>
            <ac:spMk id="33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58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8"/>
            <ac:spMk id="39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8"/>
            <ac:spMk id="46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59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9"/>
            <ac:spMk id="53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9"/>
            <ac:spMk id="56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59"/>
            <ac:spMk id="59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0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0"/>
            <ac:spMk id="77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1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1"/>
            <ac:spMk id="89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1"/>
            <ac:spMk id="91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2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2"/>
            <ac:spMk id="100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2"/>
            <ac:spMk id="103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2"/>
            <ac:spMk id="108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2"/>
            <ac:spMk id="110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3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3"/>
            <ac:spMk id="117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3"/>
            <ac:spMk id="119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4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4"/>
            <ac:spMk id="123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4"/>
            <ac:spMk id="127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5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5"/>
            <ac:spMk id="145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5"/>
            <ac:spMk id="147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6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6"/>
            <ac:spMk id="154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6"/>
            <ac:spMk id="155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6"/>
            <ac:spMk id="164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6"/>
            <ac:spMk id="168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7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7"/>
            <ac:spMk id="178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8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8"/>
            <ac:spMk id="181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8"/>
            <ac:spMk id="183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8"/>
            <ac:spMk id="194" creationId="{00000000-0000-0000-0000-000000000000}"/>
          </ac:spMkLst>
        </pc:spChg>
      </pc:sldChg>
      <pc:sldChg chg="addSp delSp mod setClrOvrMap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69"/>
        </pc:sldMkLst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9"/>
            <ac:spMk id="198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9"/>
            <ac:spMk id="210" creationId="{00000000-0000-0000-0000-000000000000}"/>
          </ac:spMkLst>
        </pc:spChg>
        <pc:spChg chg="add">
          <ac:chgData name="NH-STAFF 高橋真広" userId="60c902bb-f64f-40cf-869e-8386dac879fa" providerId="ADAL" clId="{197FCEB1-7BDE-427E-8CF6-88E508DDC1C7}" dt="2026-07-07T10:45:49.179" v="0" actId="26606"/>
          <ac:spMkLst>
            <pc:docMk/>
            <pc:sldMk cId="0" sldId="269"/>
            <ac:spMk id="213" creationId="{00000000-0000-0000-0000-000000000000}"/>
          </ac:spMkLst>
        </pc:spChg>
      </pc:sldChg>
      <pc:sldChg chg="add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70"/>
        </pc:sldMkLst>
      </pc:sldChg>
      <pc:sldChg chg="add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71"/>
        </pc:sldMkLst>
      </pc:sldChg>
      <pc:sldChg chg="add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72"/>
        </pc:sldMkLst>
      </pc:sldChg>
      <pc:sldChg chg="add">
        <pc:chgData name="NH-STAFF 高橋真広" userId="60c902bb-f64f-40cf-869e-8386dac879fa" providerId="ADAL" clId="{197FCEB1-7BDE-427E-8CF6-88E508DDC1C7}" dt="2026-07-07T10:45:49.179" v="0" actId="26606"/>
        <pc:sldMkLst>
          <pc:docMk/>
          <pc:sldMk cId="0" sldId="273"/>
        </pc:sldMkLst>
      </pc:sldChg>
    </pc:docChg>
  </pc:docChgLst>
  <pc:docChgLst>
    <pc:chgData name="NH-STAFF 高橋真広" userId="60c902bb-f64f-40cf-869e-8386dac879fa" providerId="ADAL" clId="{ABF8F32A-0E29-455D-BF0E-64EA0687DC42}"/>
    <pc:docChg chg="custSel addSld delSld">
      <pc:chgData name="NH-STAFF 高橋真広" userId="60c902bb-f64f-40cf-869e-8386dac879fa" providerId="ADAL" clId="{ABF8F32A-0E29-455D-BF0E-64EA0687DC42}" dt="2026-07-13T14:50:34.220" v="6"/>
      <pc:docMkLst>
        <pc:docMk/>
      </pc:docMkLst>
      <pc:sldChg chg="del">
        <pc:chgData name="NH-STAFF 高橋真広" userId="60c902bb-f64f-40cf-869e-8386dac879fa" providerId="ADAL" clId="{ABF8F32A-0E29-455D-BF0E-64EA0687DC42}" dt="2026-07-13T14:50:18.100" v="4"/>
        <pc:sldMkLst>
          <pc:docMk/>
          <pc:sldMk cId="0" sldId="262"/>
        </pc:sldMkLst>
      </pc:sldChg>
      <pc:sldChg chg="del">
        <pc:chgData name="NH-STAFF 高橋真広" userId="60c902bb-f64f-40cf-869e-8386dac879fa" providerId="ADAL" clId="{ABF8F32A-0E29-455D-BF0E-64EA0687DC42}" dt="2026-07-13T14:50:34.220" v="6"/>
        <pc:sldMkLst>
          <pc:docMk/>
          <pc:sldMk cId="0" sldId="271"/>
        </pc:sldMkLst>
      </pc:sldChg>
      <pc:sldChg chg="add del">
        <pc:chgData name="NH-STAFF 高橋真広" userId="60c902bb-f64f-40cf-869e-8386dac879fa" providerId="ADAL" clId="{ABF8F32A-0E29-455D-BF0E-64EA0687DC42}" dt="2026-07-13T14:48:25.113" v="2"/>
        <pc:sldMkLst>
          <pc:docMk/>
          <pc:sldMk cId="2212690906" sldId="274"/>
        </pc:sldMkLst>
      </pc:sldChg>
      <pc:sldChg chg="add">
        <pc:chgData name="NH-STAFF 高橋真広" userId="60c902bb-f64f-40cf-869e-8386dac879fa" providerId="ADAL" clId="{ABF8F32A-0E29-455D-BF0E-64EA0687DC42}" dt="2026-07-13T14:48:25.108" v="1"/>
        <pc:sldMkLst>
          <pc:docMk/>
          <pc:sldMk cId="3141046346" sldId="275"/>
        </pc:sldMkLst>
      </pc:sldChg>
      <pc:sldChg chg="add">
        <pc:chgData name="NH-STAFF 高橋真広" userId="60c902bb-f64f-40cf-869e-8386dac879fa" providerId="ADAL" clId="{ABF8F32A-0E29-455D-BF0E-64EA0687DC42}" dt="2026-07-13T14:50:18.094" v="3"/>
        <pc:sldMkLst>
          <pc:docMk/>
          <pc:sldMk cId="2652642742" sldId="276"/>
        </pc:sldMkLst>
      </pc:sldChg>
      <pc:sldChg chg="add">
        <pc:chgData name="NH-STAFF 高橋真広" userId="60c902bb-f64f-40cf-869e-8386dac879fa" providerId="ADAL" clId="{ABF8F32A-0E29-455D-BF0E-64EA0687DC42}" dt="2026-07-13T14:50:34.218" v="5"/>
        <pc:sldMkLst>
          <pc:docMk/>
          <pc:sldMk cId="1466634794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>
            <a:spLocks/>
          </p:cNvSpPr>
          <p:nvPr/>
        </p:nvSpPr>
        <p:spPr>
          <a:xfrm>
            <a:off x="5600000" y="250000"/>
            <a:ext cx="3300000" cy="2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3000" b="1" kern="0">
                <a:solidFill>
                  <a:srgbClr val="1F2A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</a:p>
        </p:txBody>
      </p:sp>
      <p:sp>
        <p:nvSpPr>
          <p:cNvPr id="12" name="tb"/>
          <p:cNvSpPr txBox="1">
            <a:spLocks/>
          </p:cNvSpPr>
          <p:nvPr/>
        </p:nvSpPr>
        <p:spPr>
          <a:xfrm>
            <a:off x="600000" y="900000"/>
            <a:ext cx="7944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00" b="1" kern="0" spc="3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SESSION 06 / 10</a:t>
            </a:r>
          </a:p>
        </p:txBody>
      </p:sp>
      <p:sp>
        <p:nvSpPr>
          <p:cNvPr id="13" name="tb"/>
          <p:cNvSpPr txBox="1">
            <a:spLocks/>
          </p:cNvSpPr>
          <p:nvPr/>
        </p:nvSpPr>
        <p:spPr>
          <a:xfrm>
            <a:off x="600000" y="1280000"/>
            <a:ext cx="7944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ct val="105000"/>
              </a:lnSpc>
            </a:pPr>
            <a:r>
              <a:rPr lang="en-US" sz="40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モデル読み込みと</a:t>
            </a:r>
          </a:p>
          <a:p>
            <a:pPr algn="l">
              <a:lnSpc>
                <a:spcPct val="105000"/>
              </a:lnSpc>
            </a:pPr>
            <a:r>
              <a:rPr lang="en-US" sz="40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外部リソース</a:t>
            </a:r>
          </a:p>
        </p:txBody>
      </p:sp>
      <p:sp>
        <p:nvSpPr>
          <p:cNvPr id="14" name="tb"/>
          <p:cNvSpPr txBox="1">
            <a:spLocks/>
          </p:cNvSpPr>
          <p:nvPr/>
        </p:nvSpPr>
        <p:spPr>
          <a:xfrm>
            <a:off x="600000" y="2820000"/>
            <a:ext cx="70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外部でつくった3Dモデルを読み込み、自分のシーンに組み込む</a:t>
            </a:r>
          </a:p>
        </p:txBody>
      </p:sp>
      <p:sp>
        <p:nvSpPr>
          <p:cNvPr id="15" name="ln"/>
          <p:cNvSpPr/>
          <p:nvPr/>
        </p:nvSpPr>
        <p:spPr>
          <a:xfrm>
            <a:off x="600000" y="330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b"/>
          <p:cNvSpPr txBox="1">
            <a:spLocks/>
          </p:cNvSpPr>
          <p:nvPr/>
        </p:nvSpPr>
        <p:spPr>
          <a:xfrm>
            <a:off x="600000" y="3430000"/>
            <a:ext cx="7944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6     2 hours</a:t>
            </a: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Three.js × WebGL 実践講座</a:t>
            </a:r>
          </a:p>
        </p:txBody>
      </p:sp>
      <p:sp>
        <p:nvSpPr>
          <p:cNvPr id="17" name="tb"/>
          <p:cNvSpPr txBox="1">
            <a:spLocks/>
          </p:cNvSpPr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b"/>
          <p:cNvSpPr txBox="1">
            <a:spLocks/>
          </p:cNvSpPr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AGENDA</a:t>
            </a:r>
          </a:p>
        </p:txBody>
      </p:sp>
      <p:sp>
        <p:nvSpPr>
          <p:cNvPr id="19" name="tb"/>
          <p:cNvSpPr txBox="1">
            <a:spLocks/>
          </p:cNvSpPr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本日のアジェンダ</a:t>
            </a:r>
          </a:p>
        </p:txBody>
      </p:sp>
      <p:sp>
        <p:nvSpPr>
          <p:cNvPr id="20" name="rect"/>
          <p:cNvSpPr/>
          <p:nvPr/>
        </p:nvSpPr>
        <p:spPr>
          <a:xfrm>
            <a:off x="600000" y="1500000"/>
            <a:ext cx="7944000" cy="92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"/>
          <p:cNvSpPr/>
          <p:nvPr/>
        </p:nvSpPr>
        <p:spPr>
          <a:xfrm>
            <a:off x="600000" y="1500000"/>
            <a:ext cx="90000" cy="92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b"/>
          <p:cNvSpPr txBox="1">
            <a:spLocks/>
          </p:cNvSpPr>
          <p:nvPr/>
        </p:nvSpPr>
        <p:spPr>
          <a:xfrm>
            <a:off x="850000" y="1620000"/>
            <a:ext cx="9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</a:p>
        </p:txBody>
      </p:sp>
      <p:sp>
        <p:nvSpPr>
          <p:cNvPr id="23" name="tb"/>
          <p:cNvSpPr txBox="1">
            <a:spLocks/>
          </p:cNvSpPr>
          <p:nvPr/>
        </p:nvSpPr>
        <p:spPr>
          <a:xfrm>
            <a:off x="1850000" y="1650000"/>
            <a:ext cx="4700000" cy="6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モデルを読み込む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で glTF・GLB を読み込む</a:t>
            </a:r>
          </a:p>
        </p:txBody>
      </p:sp>
      <p:sp>
        <p:nvSpPr>
          <p:cNvPr id="24" name="tb"/>
          <p:cNvSpPr txBox="1">
            <a:spLocks/>
          </p:cNvSpPr>
          <p:nvPr/>
        </p:nvSpPr>
        <p:spPr>
          <a:xfrm>
            <a:off x="7044000" y="1620000"/>
            <a:ext cx="1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 min</a:t>
            </a:r>
          </a:p>
        </p:txBody>
      </p:sp>
      <p:sp>
        <p:nvSpPr>
          <p:cNvPr id="25" name="rect"/>
          <p:cNvSpPr/>
          <p:nvPr/>
        </p:nvSpPr>
        <p:spPr>
          <a:xfrm>
            <a:off x="600000" y="2510000"/>
            <a:ext cx="7944000" cy="92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"/>
          <p:cNvSpPr/>
          <p:nvPr/>
        </p:nvSpPr>
        <p:spPr>
          <a:xfrm>
            <a:off x="600000" y="2510000"/>
            <a:ext cx="90000" cy="92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b"/>
          <p:cNvSpPr txBox="1">
            <a:spLocks/>
          </p:cNvSpPr>
          <p:nvPr/>
        </p:nvSpPr>
        <p:spPr>
          <a:xfrm>
            <a:off x="850000" y="2630000"/>
            <a:ext cx="9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</a:p>
        </p:txBody>
      </p:sp>
      <p:sp>
        <p:nvSpPr>
          <p:cNvPr id="28" name="tb"/>
          <p:cNvSpPr txBox="1">
            <a:spLocks/>
          </p:cNvSpPr>
          <p:nvPr/>
        </p:nvSpPr>
        <p:spPr>
          <a:xfrm>
            <a:off x="1850000" y="2660000"/>
            <a:ext cx="4700000" cy="6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モデルを整える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スケール・中心・素材をシーンに合わせる</a:t>
            </a:r>
          </a:p>
        </p:txBody>
      </p:sp>
      <p:sp>
        <p:nvSpPr>
          <p:cNvPr id="29" name="tb"/>
          <p:cNvSpPr txBox="1">
            <a:spLocks/>
          </p:cNvSpPr>
          <p:nvPr/>
        </p:nvSpPr>
        <p:spPr>
          <a:xfrm>
            <a:off x="7044000" y="2630000"/>
            <a:ext cx="1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40 min</a:t>
            </a:r>
          </a:p>
        </p:txBody>
      </p:sp>
      <p:sp>
        <p:nvSpPr>
          <p:cNvPr id="30" name="rect"/>
          <p:cNvSpPr/>
          <p:nvPr/>
        </p:nvSpPr>
        <p:spPr>
          <a:xfrm>
            <a:off x="600000" y="3520000"/>
            <a:ext cx="7944000" cy="92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"/>
          <p:cNvSpPr/>
          <p:nvPr/>
        </p:nvSpPr>
        <p:spPr>
          <a:xfrm>
            <a:off x="600000" y="3520000"/>
            <a:ext cx="90000" cy="92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b"/>
          <p:cNvSpPr txBox="1">
            <a:spLocks/>
          </p:cNvSpPr>
          <p:nvPr/>
        </p:nvSpPr>
        <p:spPr>
          <a:xfrm>
            <a:off x="850000" y="3640000"/>
            <a:ext cx="9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</a:p>
        </p:txBody>
      </p:sp>
      <p:sp>
        <p:nvSpPr>
          <p:cNvPr id="33" name="tb"/>
          <p:cNvSpPr txBox="1">
            <a:spLocks/>
          </p:cNvSpPr>
          <p:nvPr/>
        </p:nvSpPr>
        <p:spPr>
          <a:xfrm>
            <a:off x="1850000" y="3670000"/>
            <a:ext cx="4700000" cy="6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ハンズオン演習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モデルを配置してクリックで反応させる</a:t>
            </a:r>
          </a:p>
        </p:txBody>
      </p:sp>
      <p:sp>
        <p:nvSpPr>
          <p:cNvPr id="34" name="tb"/>
          <p:cNvSpPr txBox="1">
            <a:spLocks/>
          </p:cNvSpPr>
          <p:nvPr/>
        </p:nvSpPr>
        <p:spPr>
          <a:xfrm>
            <a:off x="7044000" y="3640000"/>
            <a:ext cx="1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 min</a:t>
            </a:r>
          </a:p>
        </p:txBody>
      </p:sp>
      <p:sp>
        <p:nvSpPr>
          <p:cNvPr id="35" name="tb"/>
          <p:cNvSpPr txBox="1">
            <a:spLocks/>
          </p:cNvSpPr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 60 min  →  ハンズオン 50 min  →  振り返り 10 min</a:t>
            </a:r>
          </a:p>
        </p:txBody>
      </p:sp>
      <p:sp>
        <p:nvSpPr>
          <p:cNvPr id="36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b"/>
          <p:cNvSpPr txBox="1">
            <a:spLocks/>
          </p:cNvSpPr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38" name="tb"/>
          <p:cNvSpPr txBox="1">
            <a:spLocks/>
          </p:cNvSpPr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PREREQUISITE</a:t>
            </a:r>
          </a:p>
        </p:txBody>
      </p:sp>
      <p:sp>
        <p:nvSpPr>
          <p:cNvPr id="40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前提知識・準備物</a:t>
            </a:r>
          </a:p>
        </p:txBody>
      </p:sp>
      <p:sp>
        <p:nvSpPr>
          <p:cNvPr id="41" name="rect"/>
          <p:cNvSpPr/>
          <p:nvPr/>
        </p:nvSpPr>
        <p:spPr>
          <a:xfrm>
            <a:off x="600000" y="1560000"/>
            <a:ext cx="3822000" cy="29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"/>
          <p:cNvSpPr/>
          <p:nvPr/>
        </p:nvSpPr>
        <p:spPr>
          <a:xfrm>
            <a:off x="4722000" y="1560000"/>
            <a:ext cx="3822000" cy="29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b"/>
          <p:cNvSpPr txBox="1"/>
          <p:nvPr/>
        </p:nvSpPr>
        <p:spPr>
          <a:xfrm>
            <a:off x="880000" y="1840000"/>
            <a:ext cx="3262000" cy="2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第5回の到達点</a:t>
            </a:r>
          </a:p>
          <a:p>
            <a:pPr algn="l">
              <a:lnSpc>
                <a:spcPct val="115000"/>
              </a:lnSpc>
              <a:spcBef>
                <a:spcPts val="35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で視点を操作できる</a:t>
            </a:r>
          </a:p>
          <a:p>
            <a:pPr algn="l">
              <a:lnSpc>
                <a:spcPct val="115000"/>
              </a:lnSpc>
              <a:spcBef>
                <a:spcPts val="35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で対象を選択できる</a:t>
            </a:r>
          </a:p>
          <a:p>
            <a:pPr algn="l">
              <a:lnSpc>
                <a:spcPct val="115000"/>
              </a:lnSpc>
              <a:spcBef>
                <a:spcPts val="35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ポインタ座標を NDC に変換できる</a:t>
            </a:r>
          </a:p>
          <a:p>
            <a:pPr algn="l">
              <a:lnSpc>
                <a:spcPct val="115000"/>
              </a:lnSpc>
              <a:spcBef>
                <a:spcPts val="35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animate() の描画ループが回っている</a:t>
            </a:r>
          </a:p>
        </p:txBody>
      </p:sp>
      <p:sp>
        <p:nvSpPr>
          <p:cNvPr id="44" name="tb"/>
          <p:cNvSpPr txBox="1"/>
          <p:nvPr/>
        </p:nvSpPr>
        <p:spPr>
          <a:xfrm>
            <a:off x="5002000" y="1840000"/>
            <a:ext cx="3262000" cy="2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今回必要なもの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前回のプロジェクト</a:t>
            </a:r>
          </a:p>
          <a:p>
            <a:pPr algn="l">
              <a:lnSpc>
                <a:spcPct val="115000"/>
              </a:lnSpc>
              <a:spcBef>
                <a:spcPts val="12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my-threejs-app をそのまま使用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three/addons</a:t>
            </a:r>
          </a:p>
          <a:p>
            <a:pPr algn="l">
              <a:lnSpc>
                <a:spcPct val="115000"/>
              </a:lnSpc>
              <a:spcBef>
                <a:spcPts val="12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を import できる構成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サンプルモデル</a:t>
            </a:r>
          </a:p>
          <a:p>
            <a:pPr algn="l">
              <a:lnSpc>
                <a:spcPct val="115000"/>
              </a:lnSpc>
              <a:spcBef>
                <a:spcPts val="12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.glb ファイルを1つ用意する</a:t>
            </a:r>
          </a:p>
        </p:txBody>
      </p:sp>
      <p:sp>
        <p:nvSpPr>
          <p:cNvPr id="45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47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OVERVIEW</a:t>
            </a:r>
          </a:p>
        </p:txBody>
      </p:sp>
      <p:sp>
        <p:nvSpPr>
          <p:cNvPr id="4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読み込みの3ステップ</a:t>
            </a:r>
          </a:p>
        </p:txBody>
      </p:sp>
      <p:sp>
        <p:nvSpPr>
          <p:cNvPr id="50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外部のモデルを取り込み、自分のシーンで扱えるようにするまでの流れ</a:t>
            </a:r>
          </a:p>
        </p:txBody>
      </p:sp>
      <p:sp>
        <p:nvSpPr>
          <p:cNvPr id="51" name="rect"/>
          <p:cNvSpPr/>
          <p:nvPr/>
        </p:nvSpPr>
        <p:spPr>
          <a:xfrm>
            <a:off x="600000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"/>
          <p:cNvSpPr/>
          <p:nvPr/>
        </p:nvSpPr>
        <p:spPr>
          <a:xfrm>
            <a:off x="600000" y="1700000"/>
            <a:ext cx="2474666" cy="8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tb"/>
          <p:cNvSpPr txBox="1"/>
          <p:nvPr/>
        </p:nvSpPr>
        <p:spPr>
          <a:xfrm>
            <a:off x="860000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読み込む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でファイルを取得し gltf.scene を得る</a:t>
            </a:r>
          </a:p>
        </p:txBody>
      </p:sp>
      <p:sp>
        <p:nvSpPr>
          <p:cNvPr id="54" name="rect"/>
          <p:cNvSpPr/>
          <p:nvPr/>
        </p:nvSpPr>
        <p:spPr>
          <a:xfrm>
            <a:off x="3334666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"/>
          <p:cNvSpPr/>
          <p:nvPr/>
        </p:nvSpPr>
        <p:spPr>
          <a:xfrm>
            <a:off x="3334666" y="1700000"/>
            <a:ext cx="2474666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b"/>
          <p:cNvSpPr txBox="1"/>
          <p:nvPr/>
        </p:nvSpPr>
        <p:spPr>
          <a:xfrm>
            <a:off x="3594666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ADJUST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整える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バウンディングボックスで中心とスケールをそろえる</a:t>
            </a:r>
          </a:p>
        </p:txBody>
      </p:sp>
      <p:sp>
        <p:nvSpPr>
          <p:cNvPr id="57" name="rect"/>
          <p:cNvSpPr/>
          <p:nvPr/>
        </p:nvSpPr>
        <p:spPr>
          <a:xfrm>
            <a:off x="6069332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"/>
          <p:cNvSpPr/>
          <p:nvPr/>
        </p:nvSpPr>
        <p:spPr>
          <a:xfrm>
            <a:off x="6069332" y="1700000"/>
            <a:ext cx="2474666" cy="8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b"/>
          <p:cNvSpPr txBox="1"/>
          <p:nvPr/>
        </p:nvSpPr>
        <p:spPr>
          <a:xfrm>
            <a:off x="6329332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INTEGRATE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組み込む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scene に追加し、操作やアニメを付ける</a:t>
            </a:r>
          </a:p>
        </p:txBody>
      </p:sp>
      <p:sp>
        <p:nvSpPr>
          <p:cNvPr id="60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読み込む → 整える → 組み込む の流れで、つくった資産が動き出す</a:t>
            </a:r>
          </a:p>
        </p:txBody>
      </p:sp>
      <p:sp>
        <p:nvSpPr>
          <p:cNvPr id="6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ELEMENT 01</a:t>
            </a:r>
          </a:p>
        </p:txBody>
      </p:sp>
      <p:sp>
        <p:nvSpPr>
          <p:cNvPr id="65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— モデルを読み込む</a:t>
            </a:r>
          </a:p>
        </p:txBody>
      </p:sp>
      <p:sp>
        <p:nvSpPr>
          <p:cNvPr id="66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/ GLB を読み込み、gltf.scene をシーンに追加する</a:t>
            </a:r>
          </a:p>
        </p:txBody>
      </p:sp>
      <p:sp>
        <p:nvSpPr>
          <p:cNvPr id="67" name="rect"/>
          <p:cNvSpPr/>
          <p:nvPr/>
        </p:nvSpPr>
        <p:spPr>
          <a:xfrm>
            <a:off x="600000" y="1560000"/>
            <a:ext cx="4700000" cy="228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b"/>
          <p:cNvSpPr txBox="1"/>
          <p:nvPr/>
        </p:nvSpPr>
        <p:spPr>
          <a:xfrm>
            <a:off x="750000" y="1710000"/>
            <a:ext cx="44000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{ GLTFLoader } from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'three/addons/loaders/GLTFLoader.js';</a:t>
            </a:r>
          </a:p>
          <a:p>
            <a:pPr algn="l">
              <a:lnSpc>
                <a:spcPct val="100000"/>
              </a:lnSpc>
            </a:pPr>
            <a:r>
              <a:rPr lang="en-US" sz="7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loader = new GLTFLoader();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loader.load('/models/robot.glb',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(gltf) =&gt; {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  scene.add(gltf.scene);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// 完了時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});</a:t>
            </a:r>
          </a:p>
        </p:txBody>
      </p:sp>
      <p:sp>
        <p:nvSpPr>
          <p:cNvPr id="69" name="rect"/>
          <p:cNvSpPr/>
          <p:nvPr/>
        </p:nvSpPr>
        <p:spPr>
          <a:xfrm>
            <a:off x="5620000" y="156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"/>
          <p:cNvSpPr/>
          <p:nvPr/>
        </p:nvSpPr>
        <p:spPr>
          <a:xfrm>
            <a:off x="5620000" y="1560000"/>
            <a:ext cx="60000" cy="66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71" name="tb"/>
          <p:cNvSpPr txBox="1"/>
          <p:nvPr/>
        </p:nvSpPr>
        <p:spPr>
          <a:xfrm>
            <a:off x="5820000" y="167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load(url, onLoad)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読み込み完了時に呼ばれる</a:t>
            </a:r>
          </a:p>
        </p:txBody>
      </p:sp>
      <p:sp>
        <p:nvSpPr>
          <p:cNvPr id="72" name="rect"/>
          <p:cNvSpPr/>
          <p:nvPr/>
        </p:nvSpPr>
        <p:spPr>
          <a:xfrm>
            <a:off x="5620000" y="232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"/>
          <p:cNvSpPr/>
          <p:nvPr/>
        </p:nvSpPr>
        <p:spPr>
          <a:xfrm>
            <a:off x="5620000" y="2320000"/>
            <a:ext cx="60000" cy="66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74" name="tb"/>
          <p:cNvSpPr txBox="1"/>
          <p:nvPr/>
        </p:nvSpPr>
        <p:spPr>
          <a:xfrm>
            <a:off x="5820000" y="243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gltf.scene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中身の Group を取り出す</a:t>
            </a:r>
          </a:p>
        </p:txBody>
      </p:sp>
      <p:sp>
        <p:nvSpPr>
          <p:cNvPr id="75" name="rect"/>
          <p:cNvSpPr/>
          <p:nvPr/>
        </p:nvSpPr>
        <p:spPr>
          <a:xfrm>
            <a:off x="5620000" y="308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"/>
          <p:cNvSpPr/>
          <p:nvPr/>
        </p:nvSpPr>
        <p:spPr>
          <a:xfrm>
            <a:off x="5620000" y="3080000"/>
            <a:ext cx="60000" cy="66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77" name="tb"/>
          <p:cNvSpPr txBox="1"/>
          <p:nvPr/>
        </p:nvSpPr>
        <p:spPr>
          <a:xfrm>
            <a:off x="5820000" y="319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onProgress / onError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進捗と失敗を受け取る</a:t>
            </a:r>
          </a:p>
        </p:txBody>
      </p:sp>
      <p:sp>
        <p:nvSpPr>
          <p:cNvPr id="7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8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ELEMENT 02</a:t>
            </a:r>
          </a:p>
        </p:txBody>
      </p:sp>
      <p:sp>
        <p:nvSpPr>
          <p:cNvPr id="82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LoadingManager — 進捗をまとめる</a:t>
            </a:r>
          </a:p>
        </p:txBody>
      </p:sp>
      <p:sp>
        <p:nvSpPr>
          <p:cNvPr id="83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複数リソースの読み込み状況を1か所で受け取る</a:t>
            </a:r>
          </a:p>
        </p:txBody>
      </p:sp>
      <p:sp>
        <p:nvSpPr>
          <p:cNvPr id="84" name="rect"/>
          <p:cNvSpPr/>
          <p:nvPr/>
        </p:nvSpPr>
        <p:spPr>
          <a:xfrm>
            <a:off x="600000" y="1560000"/>
            <a:ext cx="4700000" cy="228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b"/>
          <p:cNvSpPr txBox="1"/>
          <p:nvPr/>
        </p:nvSpPr>
        <p:spPr>
          <a:xfrm>
            <a:off x="750000" y="1710000"/>
            <a:ext cx="44000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manager =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new THREE.LoadingManager();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manager.onProgress =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(url, loaded, total) =&gt; {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  bar.width = loaded/total*100;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};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manager.onLoad = () =&gt; hide();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// 全完了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new GLTFLoader(manager);</a:t>
            </a:r>
          </a:p>
        </p:txBody>
      </p:sp>
      <p:sp>
        <p:nvSpPr>
          <p:cNvPr id="86" name="rect"/>
          <p:cNvSpPr/>
          <p:nvPr/>
        </p:nvSpPr>
        <p:spPr>
          <a:xfrm>
            <a:off x="5620000" y="156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"/>
          <p:cNvSpPr/>
          <p:nvPr/>
        </p:nvSpPr>
        <p:spPr>
          <a:xfrm>
            <a:off x="5620000" y="1560000"/>
            <a:ext cx="60000" cy="66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88" name="tb"/>
          <p:cNvSpPr txBox="1"/>
          <p:nvPr/>
        </p:nvSpPr>
        <p:spPr>
          <a:xfrm>
            <a:off x="5820000" y="167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onProgress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loaded / total で割合</a:t>
            </a:r>
          </a:p>
        </p:txBody>
      </p:sp>
      <p:sp>
        <p:nvSpPr>
          <p:cNvPr id="89" name="rect"/>
          <p:cNvSpPr/>
          <p:nvPr/>
        </p:nvSpPr>
        <p:spPr>
          <a:xfrm>
            <a:off x="5620000" y="232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"/>
          <p:cNvSpPr/>
          <p:nvPr/>
        </p:nvSpPr>
        <p:spPr>
          <a:xfrm>
            <a:off x="5620000" y="2320000"/>
            <a:ext cx="60000" cy="66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91" name="tb"/>
          <p:cNvSpPr txBox="1"/>
          <p:nvPr/>
        </p:nvSpPr>
        <p:spPr>
          <a:xfrm>
            <a:off x="5820000" y="243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onLoad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全リソース完了で発火</a:t>
            </a:r>
          </a:p>
        </p:txBody>
      </p:sp>
      <p:sp>
        <p:nvSpPr>
          <p:cNvPr id="92" name="rect"/>
          <p:cNvSpPr/>
          <p:nvPr/>
        </p:nvSpPr>
        <p:spPr>
          <a:xfrm>
            <a:off x="5620000" y="308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"/>
          <p:cNvSpPr/>
          <p:nvPr/>
        </p:nvSpPr>
        <p:spPr>
          <a:xfrm>
            <a:off x="5620000" y="3080000"/>
            <a:ext cx="60000" cy="66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94" name="tb"/>
          <p:cNvSpPr txBox="1"/>
          <p:nvPr/>
        </p:nvSpPr>
        <p:spPr>
          <a:xfrm>
            <a:off x="5820000" y="319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onError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失敗した URL を受け取る</a:t>
            </a:r>
          </a:p>
        </p:txBody>
      </p:sp>
      <p:sp>
        <p:nvSpPr>
          <p:cNvPr id="95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97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ELEMENT 03</a:t>
            </a:r>
          </a:p>
        </p:txBody>
      </p:sp>
      <p:sp>
        <p:nvSpPr>
          <p:cNvPr id="9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DRACOLoader — 圧縮モデルを開く</a:t>
            </a:r>
          </a:p>
        </p:txBody>
      </p:sp>
      <p:sp>
        <p:nvSpPr>
          <p:cNvPr id="100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Draco（Google製メッシュ圧縮）で圧縮された glTF を展開するデコーダを渡す</a:t>
            </a:r>
          </a:p>
        </p:txBody>
      </p:sp>
      <p:sp>
        <p:nvSpPr>
          <p:cNvPr id="101" name="rect"/>
          <p:cNvSpPr/>
          <p:nvPr/>
        </p:nvSpPr>
        <p:spPr>
          <a:xfrm>
            <a:off x="600000" y="1560000"/>
            <a:ext cx="4700000" cy="228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b"/>
          <p:cNvSpPr txBox="1"/>
          <p:nvPr/>
        </p:nvSpPr>
        <p:spPr>
          <a:xfrm>
            <a:off x="750000" y="1710000"/>
            <a:ext cx="44000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{ DRACOLoader } from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'three/addons/loaders/DRACOLoader.js';</a:t>
            </a:r>
          </a:p>
          <a:p>
            <a:pPr algn="l">
              <a:lnSpc>
                <a:spcPct val="100000"/>
              </a:lnSpc>
            </a:pPr>
            <a:r>
              <a:rPr lang="en-US" sz="7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draco = new DRACOLoader();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draco.setDecoderPath('/draco/');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loader.setDRACOLoader(draco);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// GLTFLoader にデコーダを接続</a:t>
            </a:r>
          </a:p>
        </p:txBody>
      </p:sp>
      <p:sp>
        <p:nvSpPr>
          <p:cNvPr id="103" name="rect"/>
          <p:cNvSpPr/>
          <p:nvPr/>
        </p:nvSpPr>
        <p:spPr>
          <a:xfrm>
            <a:off x="5620000" y="156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"/>
          <p:cNvSpPr/>
          <p:nvPr/>
        </p:nvSpPr>
        <p:spPr>
          <a:xfrm>
            <a:off x="5620000" y="1560000"/>
            <a:ext cx="60000" cy="6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05" name="tb"/>
          <p:cNvSpPr txBox="1"/>
          <p:nvPr/>
        </p:nvSpPr>
        <p:spPr>
          <a:xfrm>
            <a:off x="5820000" y="167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setDecoderPath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デコーダを配信する</a:t>
            </a:r>
          </a:p>
        </p:txBody>
      </p:sp>
      <p:sp>
        <p:nvSpPr>
          <p:cNvPr id="106" name="rect"/>
          <p:cNvSpPr/>
          <p:nvPr/>
        </p:nvSpPr>
        <p:spPr>
          <a:xfrm>
            <a:off x="5620000" y="232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"/>
          <p:cNvSpPr/>
          <p:nvPr/>
        </p:nvSpPr>
        <p:spPr>
          <a:xfrm>
            <a:off x="5620000" y="2320000"/>
            <a:ext cx="60000" cy="6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 txBox="1"/>
          <p:nvPr/>
        </p:nvSpPr>
        <p:spPr>
          <a:xfrm>
            <a:off x="5820000" y="243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setDRACOLoader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loader に接続する</a:t>
            </a:r>
          </a:p>
        </p:txBody>
      </p:sp>
      <p:sp>
        <p:nvSpPr>
          <p:cNvPr id="109" name="rect"/>
          <p:cNvSpPr/>
          <p:nvPr/>
        </p:nvSpPr>
        <p:spPr>
          <a:xfrm>
            <a:off x="5620000" y="308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"/>
          <p:cNvSpPr/>
          <p:nvPr/>
        </p:nvSpPr>
        <p:spPr>
          <a:xfrm>
            <a:off x="5620000" y="3080000"/>
            <a:ext cx="60000" cy="6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11" name="tb"/>
          <p:cNvSpPr txBox="1"/>
          <p:nvPr/>
        </p:nvSpPr>
        <p:spPr>
          <a:xfrm>
            <a:off x="5820000" y="319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KTX2Loader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GPU向け圧縮テクスチャ形式</a:t>
            </a:r>
          </a:p>
        </p:txBody>
      </p:sp>
      <p:sp>
        <p:nvSpPr>
          <p:cNvPr id="112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14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265264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b"/>
          <p:cNvSpPr txBox="1"/>
          <p:nvPr/>
        </p:nvSpPr>
        <p:spPr>
          <a:xfrm>
            <a:off x="600000" y="155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4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02</a:t>
            </a:r>
          </a:p>
        </p:txBody>
      </p:sp>
      <p:sp>
        <p:nvSpPr>
          <p:cNvPr id="116" name="tb"/>
          <p:cNvSpPr txBox="1"/>
          <p:nvPr/>
        </p:nvSpPr>
        <p:spPr>
          <a:xfrm>
            <a:off x="600000" y="1950000"/>
            <a:ext cx="7944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4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モデルを扱う</a:t>
            </a:r>
          </a:p>
        </p:txBody>
      </p:sp>
      <p:sp>
        <p:nvSpPr>
          <p:cNvPr id="117" name="ln"/>
          <p:cNvSpPr/>
          <p:nvPr/>
        </p:nvSpPr>
        <p:spPr>
          <a:xfrm>
            <a:off x="600000" y="2820000"/>
            <a:ext cx="2600000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b"/>
          <p:cNvSpPr txBox="1"/>
          <p:nvPr/>
        </p:nvSpPr>
        <p:spPr>
          <a:xfrm>
            <a:off x="600000" y="2980000"/>
            <a:ext cx="7944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読み込んだモデルの調整と最適化を学ぶ</a:t>
            </a:r>
          </a:p>
        </p:txBody>
      </p:sp>
      <p:sp>
        <p:nvSpPr>
          <p:cNvPr id="119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21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CONCEPT</a:t>
            </a:r>
          </a:p>
        </p:txBody>
      </p:sp>
      <p:sp>
        <p:nvSpPr>
          <p:cNvPr id="123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読み込み = Loader × Manager × Resource</a:t>
            </a:r>
          </a:p>
        </p:txBody>
      </p:sp>
      <p:sp>
        <p:nvSpPr>
          <p:cNvPr id="124" name="rect"/>
          <p:cNvSpPr/>
          <p:nvPr/>
        </p:nvSpPr>
        <p:spPr>
          <a:xfrm>
            <a:off x="600000" y="1720000"/>
            <a:ext cx="2261333" cy="23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b"/>
          <p:cNvSpPr txBox="1"/>
          <p:nvPr/>
        </p:nvSpPr>
        <p:spPr>
          <a:xfrm>
            <a:off x="780000" y="1880000"/>
            <a:ext cx="1901333" cy="20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5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Loader</a:t>
            </a:r>
          </a:p>
          <a:p>
            <a:pPr algn="ctr">
              <a:lnSpc>
                <a:spcPct val="110000"/>
              </a:lnSpc>
              <a:spcBef>
                <a:spcPts val="350"/>
              </a:spcBef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取得</a:t>
            </a:r>
          </a:p>
          <a:p>
            <a:pPr algn="ctr">
              <a:lnSpc>
                <a:spcPct val="120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ファイルを解釈して</a:t>
            </a:r>
          </a:p>
          <a:p>
            <a:pPr algn="ctr">
              <a:lnSpc>
                <a:spcPct val="120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Object3D に変換する</a:t>
            </a:r>
          </a:p>
        </p:txBody>
      </p:sp>
      <p:sp>
        <p:nvSpPr>
          <p:cNvPr id="126" name="tb"/>
          <p:cNvSpPr txBox="1"/>
          <p:nvPr/>
        </p:nvSpPr>
        <p:spPr>
          <a:xfrm>
            <a:off x="3011333" y="1720000"/>
            <a:ext cx="580000" cy="23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</a:p>
        </p:txBody>
      </p:sp>
      <p:sp>
        <p:nvSpPr>
          <p:cNvPr id="127" name="rect"/>
          <p:cNvSpPr/>
          <p:nvPr/>
        </p:nvSpPr>
        <p:spPr>
          <a:xfrm>
            <a:off x="3441333" y="1720000"/>
            <a:ext cx="2261333" cy="23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b"/>
          <p:cNvSpPr txBox="1"/>
          <p:nvPr/>
        </p:nvSpPr>
        <p:spPr>
          <a:xfrm>
            <a:off x="3621333" y="1880000"/>
            <a:ext cx="1901333" cy="20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5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Manager</a:t>
            </a:r>
          </a:p>
          <a:p>
            <a:pPr algn="ctr">
              <a:lnSpc>
                <a:spcPct val="110000"/>
              </a:lnSpc>
              <a:spcBef>
                <a:spcPts val="350"/>
              </a:spcBef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</a:t>
            </a:r>
          </a:p>
          <a:p>
            <a:pPr algn="ctr">
              <a:lnSpc>
                <a:spcPct val="120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進捗・完了・失敗を</a:t>
            </a:r>
          </a:p>
          <a:p>
            <a:pPr algn="ctr">
              <a:lnSpc>
                <a:spcPct val="120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まとめて受け取る</a:t>
            </a:r>
          </a:p>
        </p:txBody>
      </p:sp>
      <p:sp>
        <p:nvSpPr>
          <p:cNvPr id="129" name="tb"/>
          <p:cNvSpPr txBox="1"/>
          <p:nvPr/>
        </p:nvSpPr>
        <p:spPr>
          <a:xfrm>
            <a:off x="5852666" y="1720000"/>
            <a:ext cx="580000" cy="23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</a:p>
        </p:txBody>
      </p:sp>
      <p:sp>
        <p:nvSpPr>
          <p:cNvPr id="130" name="rect"/>
          <p:cNvSpPr/>
          <p:nvPr/>
        </p:nvSpPr>
        <p:spPr>
          <a:xfrm>
            <a:off x="6282666" y="1720000"/>
            <a:ext cx="2261333" cy="23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tb"/>
          <p:cNvSpPr txBox="1"/>
          <p:nvPr/>
        </p:nvSpPr>
        <p:spPr>
          <a:xfrm>
            <a:off x="6462666" y="1880000"/>
            <a:ext cx="1901333" cy="20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5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Resource</a:t>
            </a:r>
          </a:p>
          <a:p>
            <a:pPr algn="ctr">
              <a:lnSpc>
                <a:spcPct val="110000"/>
              </a:lnSpc>
              <a:spcBef>
                <a:spcPts val="350"/>
              </a:spcBef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資産</a:t>
            </a:r>
          </a:p>
          <a:p>
            <a:pPr algn="ctr">
              <a:lnSpc>
                <a:spcPct val="120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モデル・テクスチャ・</a:t>
            </a:r>
          </a:p>
          <a:p>
            <a:pPr algn="ctr">
              <a:lnSpc>
                <a:spcPct val="120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環境マップを扱う</a:t>
            </a:r>
          </a:p>
        </p:txBody>
      </p:sp>
      <p:sp>
        <p:nvSpPr>
          <p:cNvPr id="132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3つがそろって初めて、外部の資産がシーンで動き出す</a:t>
            </a:r>
          </a:p>
        </p:txBody>
      </p:sp>
      <p:sp>
        <p:nvSpPr>
          <p:cNvPr id="133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35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FORMATS</a:t>
            </a:r>
          </a:p>
        </p:txBody>
      </p:sp>
      <p:sp>
        <p:nvSpPr>
          <p:cNvPr id="137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と GLB を使い分ける</a:t>
            </a:r>
          </a:p>
        </p:txBody>
      </p:sp>
      <p:sp>
        <p:nvSpPr>
          <p:cNvPr id="138" name="rect"/>
          <p:cNvSpPr/>
          <p:nvPr/>
        </p:nvSpPr>
        <p:spPr>
          <a:xfrm>
            <a:off x="600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rect"/>
          <p:cNvSpPr/>
          <p:nvPr/>
        </p:nvSpPr>
        <p:spPr>
          <a:xfrm>
            <a:off x="600000" y="1560000"/>
            <a:ext cx="3822000" cy="8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40" name="tb"/>
          <p:cNvSpPr txBox="1"/>
          <p:nvPr/>
        </p:nvSpPr>
        <p:spPr>
          <a:xfrm>
            <a:off x="900000" y="1880000"/>
            <a:ext cx="322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9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glTF (.gltf)</a:t>
            </a:r>
          </a:p>
        </p:txBody>
      </p:sp>
      <p:sp>
        <p:nvSpPr>
          <p:cNvPr id="141" name="tb"/>
          <p:cNvSpPr txBox="1"/>
          <p:nvPr/>
        </p:nvSpPr>
        <p:spPr>
          <a:xfrm>
            <a:off x="900000" y="25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用途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中身を確認・編集したいとき</a:t>
            </a:r>
          </a:p>
        </p:txBody>
      </p:sp>
      <p:sp>
        <p:nvSpPr>
          <p:cNvPr id="142" name="tb"/>
          <p:cNvSpPr txBox="1"/>
          <p:nvPr/>
        </p:nvSpPr>
        <p:spPr>
          <a:xfrm>
            <a:off x="900000" y="31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.gltf + .bin + テクスチャ</a:t>
            </a:r>
          </a:p>
        </p:txBody>
      </p:sp>
      <p:sp>
        <p:nvSpPr>
          <p:cNvPr id="143" name="tb"/>
          <p:cNvSpPr txBox="1"/>
          <p:nvPr/>
        </p:nvSpPr>
        <p:spPr>
          <a:xfrm>
            <a:off x="900000" y="37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人が読めるテキスト形式</a:t>
            </a:r>
          </a:p>
        </p:txBody>
      </p:sp>
      <p:sp>
        <p:nvSpPr>
          <p:cNvPr id="144" name="rect"/>
          <p:cNvSpPr/>
          <p:nvPr/>
        </p:nvSpPr>
        <p:spPr>
          <a:xfrm>
            <a:off x="4722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rect"/>
          <p:cNvSpPr/>
          <p:nvPr/>
        </p:nvSpPr>
        <p:spPr>
          <a:xfrm>
            <a:off x="4722000" y="1560000"/>
            <a:ext cx="3822000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146" name="tb"/>
          <p:cNvSpPr txBox="1"/>
          <p:nvPr/>
        </p:nvSpPr>
        <p:spPr>
          <a:xfrm>
            <a:off x="5022000" y="1880000"/>
            <a:ext cx="322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9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GLB (.glb)</a:t>
            </a:r>
          </a:p>
        </p:txBody>
      </p:sp>
      <p:sp>
        <p:nvSpPr>
          <p:cNvPr id="147" name="tb"/>
          <p:cNvSpPr txBox="1"/>
          <p:nvPr/>
        </p:nvSpPr>
        <p:spPr>
          <a:xfrm>
            <a:off x="5022000" y="25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用途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配信・本番で扱いたいとき</a:t>
            </a:r>
          </a:p>
        </p:txBody>
      </p:sp>
      <p:sp>
        <p:nvSpPr>
          <p:cNvPr id="148" name="tb"/>
          <p:cNvSpPr txBox="1"/>
          <p:nvPr/>
        </p:nvSpPr>
        <p:spPr>
          <a:xfrm>
            <a:off x="5022000" y="31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すべてを1つに同梱</a:t>
            </a:r>
          </a:p>
        </p:txBody>
      </p:sp>
      <p:sp>
        <p:nvSpPr>
          <p:cNvPr id="149" name="tb"/>
          <p:cNvSpPr txBox="1"/>
          <p:nvPr/>
        </p:nvSpPr>
        <p:spPr>
          <a:xfrm>
            <a:off x="5022000" y="37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転送が速く扱いやすい</a:t>
            </a:r>
          </a:p>
        </p:txBody>
      </p:sp>
      <p:sp>
        <p:nvSpPr>
          <p:cNvPr id="150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開発中は中身を追える glTF、配信は1ファイルの GLB が扱いやすい</a:t>
            </a:r>
          </a:p>
        </p:txBody>
      </p:sp>
      <p:sp>
        <p:nvSpPr>
          <p:cNvPr id="15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5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ADJUST</a:t>
            </a:r>
          </a:p>
        </p:txBody>
      </p:sp>
      <p:sp>
        <p:nvSpPr>
          <p:cNvPr id="155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モデルを整える：中心とスケール</a:t>
            </a:r>
          </a:p>
        </p:txBody>
      </p:sp>
      <p:sp>
        <p:nvSpPr>
          <p:cNvPr id="156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読み込んだモデルを囲って測り、原点とサイズをそろえる</a:t>
            </a:r>
          </a:p>
        </p:txBody>
      </p:sp>
      <p:sp>
        <p:nvSpPr>
          <p:cNvPr id="157" name="rect"/>
          <p:cNvSpPr/>
          <p:nvPr/>
        </p:nvSpPr>
        <p:spPr>
          <a:xfrm>
            <a:off x="600000" y="1600000"/>
            <a:ext cx="2394666" cy="10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rect"/>
          <p:cNvSpPr/>
          <p:nvPr/>
        </p:nvSpPr>
        <p:spPr>
          <a:xfrm>
            <a:off x="600000" y="1600000"/>
            <a:ext cx="60000" cy="100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59" name="tb"/>
          <p:cNvSpPr txBox="1"/>
          <p:nvPr/>
        </p:nvSpPr>
        <p:spPr>
          <a:xfrm>
            <a:off x="800000" y="1780000"/>
            <a:ext cx="2034666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Box3 で測る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setFromObject でモデルを囲む</a:t>
            </a:r>
          </a:p>
        </p:txBody>
      </p:sp>
      <p:sp>
        <p:nvSpPr>
          <p:cNvPr id="160" name="tb"/>
          <p:cNvSpPr txBox="1"/>
          <p:nvPr/>
        </p:nvSpPr>
        <p:spPr>
          <a:xfrm>
            <a:off x="2994666" y="1600000"/>
            <a:ext cx="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61" name="rect"/>
          <p:cNvSpPr/>
          <p:nvPr/>
        </p:nvSpPr>
        <p:spPr>
          <a:xfrm>
            <a:off x="3494666" y="1600000"/>
            <a:ext cx="2394666" cy="10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rect"/>
          <p:cNvSpPr/>
          <p:nvPr/>
        </p:nvSpPr>
        <p:spPr>
          <a:xfrm>
            <a:off x="3494666" y="1600000"/>
            <a:ext cx="60000" cy="100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163" name="tb"/>
          <p:cNvSpPr txBox="1"/>
          <p:nvPr/>
        </p:nvSpPr>
        <p:spPr>
          <a:xfrm>
            <a:off x="3694666" y="1780000"/>
            <a:ext cx="2034666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中心をそろえる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getCenter で原点へ寄せる</a:t>
            </a:r>
          </a:p>
        </p:txBody>
      </p:sp>
      <p:sp>
        <p:nvSpPr>
          <p:cNvPr id="164" name="tb"/>
          <p:cNvSpPr txBox="1"/>
          <p:nvPr/>
        </p:nvSpPr>
        <p:spPr>
          <a:xfrm>
            <a:off x="5889332" y="1600000"/>
            <a:ext cx="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65" name="rect"/>
          <p:cNvSpPr/>
          <p:nvPr/>
        </p:nvSpPr>
        <p:spPr>
          <a:xfrm>
            <a:off x="6389332" y="1600000"/>
            <a:ext cx="2394666" cy="10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rect"/>
          <p:cNvSpPr/>
          <p:nvPr/>
        </p:nvSpPr>
        <p:spPr>
          <a:xfrm>
            <a:off x="6389332" y="1600000"/>
            <a:ext cx="60000" cy="100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67" name="tb"/>
          <p:cNvSpPr txBox="1"/>
          <p:nvPr/>
        </p:nvSpPr>
        <p:spPr>
          <a:xfrm>
            <a:off x="6589332" y="1780000"/>
            <a:ext cx="2034666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大きさをそろえる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getSize から倍率を決める</a:t>
            </a:r>
          </a:p>
        </p:txBody>
      </p:sp>
      <p:sp>
        <p:nvSpPr>
          <p:cNvPr id="168" name="rect"/>
          <p:cNvSpPr/>
          <p:nvPr/>
        </p:nvSpPr>
        <p:spPr>
          <a:xfrm>
            <a:off x="600000" y="2800000"/>
            <a:ext cx="7944000" cy="135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b"/>
          <p:cNvSpPr txBox="1"/>
          <p:nvPr/>
        </p:nvSpPr>
        <p:spPr>
          <a:xfrm>
            <a:off x="750000" y="2950000"/>
            <a:ext cx="7644000" cy="1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box = new THREE.Box3().setFromObject(model);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center = box.getCenter(new THREE.Vector3());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model.position.sub(center);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    // 原点に寄せる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size = box.getSize(new THREE.Vector3());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// 大きさ</a:t>
            </a:r>
          </a:p>
        </p:txBody>
      </p:sp>
      <p:sp>
        <p:nvSpPr>
          <p:cNvPr id="170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72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CODE</a:t>
            </a:r>
          </a:p>
        </p:txBody>
      </p:sp>
      <p:sp>
        <p:nvSpPr>
          <p:cNvPr id="174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最小コードでモデル読み込み</a:t>
            </a:r>
          </a:p>
        </p:txBody>
      </p:sp>
      <p:sp>
        <p:nvSpPr>
          <p:cNvPr id="175" name="rect"/>
          <p:cNvSpPr/>
          <p:nvPr/>
        </p:nvSpPr>
        <p:spPr>
          <a:xfrm>
            <a:off x="600000" y="1520000"/>
            <a:ext cx="7944000" cy="290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b"/>
          <p:cNvSpPr txBox="1"/>
          <p:nvPr/>
        </p:nvSpPr>
        <p:spPr>
          <a:xfrm>
            <a:off x="750000" y="1670000"/>
            <a:ext cx="7644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* as THREE from 'three';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{ GLTFLoader } from 'three/addons/loaders/GLTFLoader.js';</a:t>
            </a:r>
          </a:p>
          <a:p>
            <a:pPr algn="l">
              <a:lnSpc>
                <a:spcPct val="100000"/>
              </a:lnSpc>
            </a:pPr>
            <a:r>
              <a:rPr lang="en-US" sz="7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loader = new GLTFLoader();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loader.load('/models/robot.glb', (gltf) =&gt; {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const model = gltf.scene;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const box = new THREE.Box3().setFromObject(model);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model.position.sub(box.getCenter(new THREE.Vector3()));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scene.add(model);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});</a:t>
            </a:r>
          </a:p>
          <a:p>
            <a:pPr algn="l">
              <a:lnSpc>
                <a:spcPct val="100000"/>
              </a:lnSpc>
            </a:pPr>
            <a:r>
              <a:rPr lang="en-US" sz="7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(function loop(){ controls.update();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renderer.render(scene, camera); requestAnimationFrame(loop); })();</a:t>
            </a:r>
          </a:p>
        </p:txBody>
      </p:sp>
      <p:sp>
        <p:nvSpPr>
          <p:cNvPr id="177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79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FLOW</a:t>
            </a:r>
          </a:p>
        </p:txBody>
      </p:sp>
      <p:sp>
        <p:nvSpPr>
          <p:cNvPr id="181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読み込みの流れ</a:t>
            </a:r>
          </a:p>
        </p:txBody>
      </p:sp>
      <p:sp>
        <p:nvSpPr>
          <p:cNvPr id="182" name="rect"/>
          <p:cNvSpPr/>
          <p:nvPr/>
        </p:nvSpPr>
        <p:spPr>
          <a:xfrm>
            <a:off x="600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tb"/>
          <p:cNvSpPr txBox="1"/>
          <p:nvPr/>
        </p:nvSpPr>
        <p:spPr>
          <a:xfrm>
            <a:off x="720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パスを指定</a:t>
            </a:r>
          </a:p>
          <a:p>
            <a:pPr algn="ctr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/models/*.glb を配信する</a:t>
            </a:r>
          </a:p>
        </p:txBody>
      </p:sp>
      <p:sp>
        <p:nvSpPr>
          <p:cNvPr id="184" name="tb"/>
          <p:cNvSpPr txBox="1"/>
          <p:nvPr/>
        </p:nvSpPr>
        <p:spPr>
          <a:xfrm>
            <a:off x="2391000" y="1750000"/>
            <a:ext cx="380000" cy="21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85" name="rect"/>
          <p:cNvSpPr/>
          <p:nvPr/>
        </p:nvSpPr>
        <p:spPr>
          <a:xfrm>
            <a:off x="2681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b"/>
          <p:cNvSpPr txBox="1"/>
          <p:nvPr/>
        </p:nvSpPr>
        <p:spPr>
          <a:xfrm>
            <a:off x="2801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 で取得</a:t>
            </a:r>
          </a:p>
          <a:p>
            <a:pPr algn="ctr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loader.load(url, onLoad)</a:t>
            </a:r>
          </a:p>
        </p:txBody>
      </p:sp>
      <p:sp>
        <p:nvSpPr>
          <p:cNvPr id="187" name="tb"/>
          <p:cNvSpPr txBox="1"/>
          <p:nvPr/>
        </p:nvSpPr>
        <p:spPr>
          <a:xfrm>
            <a:off x="4472000" y="1750000"/>
            <a:ext cx="380000" cy="21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88" name="rect"/>
          <p:cNvSpPr/>
          <p:nvPr/>
        </p:nvSpPr>
        <p:spPr>
          <a:xfrm>
            <a:off x="4762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9" name="tb"/>
          <p:cNvSpPr txBox="1"/>
          <p:nvPr/>
        </p:nvSpPr>
        <p:spPr>
          <a:xfrm>
            <a:off x="4882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scene に追加</a:t>
            </a:r>
          </a:p>
          <a:p>
            <a:pPr algn="ctr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onLoad 内で gltf.scene を add</a:t>
            </a:r>
          </a:p>
        </p:txBody>
      </p:sp>
      <p:sp>
        <p:nvSpPr>
          <p:cNvPr id="190" name="tb"/>
          <p:cNvSpPr txBox="1"/>
          <p:nvPr/>
        </p:nvSpPr>
        <p:spPr>
          <a:xfrm>
            <a:off x="6553000" y="1750000"/>
            <a:ext cx="380000" cy="21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91" name="rect"/>
          <p:cNvSpPr/>
          <p:nvPr/>
        </p:nvSpPr>
        <p:spPr>
          <a:xfrm>
            <a:off x="6843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2" name="tb"/>
          <p:cNvSpPr txBox="1"/>
          <p:nvPr/>
        </p:nvSpPr>
        <p:spPr>
          <a:xfrm>
            <a:off x="6963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整えて操作</a:t>
            </a:r>
          </a:p>
          <a:p>
            <a:pPr algn="ctr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中心・スケール・アニメを設定</a:t>
            </a:r>
          </a:p>
        </p:txBody>
      </p:sp>
      <p:sp>
        <p:nvSpPr>
          <p:cNvPr id="193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読み込みは非同期。追加や調整は必ず onLoad の中で行う</a:t>
            </a:r>
          </a:p>
        </p:txBody>
      </p:sp>
      <p:sp>
        <p:nvSpPr>
          <p:cNvPr id="194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5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96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TECHNIQUE</a:t>
            </a:r>
          </a:p>
        </p:txBody>
      </p:sp>
      <p:sp>
        <p:nvSpPr>
          <p:cNvPr id="198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アニメーションを再生する</a:t>
            </a:r>
          </a:p>
        </p:txBody>
      </p:sp>
      <p:sp>
        <p:nvSpPr>
          <p:cNvPr id="199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に同梱されたクリップを AnimationMixer で動かす</a:t>
            </a:r>
          </a:p>
        </p:txBody>
      </p:sp>
      <p:sp>
        <p:nvSpPr>
          <p:cNvPr id="200" name="rect"/>
          <p:cNvSpPr/>
          <p:nvPr/>
        </p:nvSpPr>
        <p:spPr>
          <a:xfrm>
            <a:off x="600000" y="1560000"/>
            <a:ext cx="4700000" cy="190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" name="tb"/>
          <p:cNvSpPr txBox="1"/>
          <p:nvPr/>
        </p:nvSpPr>
        <p:spPr>
          <a:xfrm>
            <a:off x="750000" y="1710000"/>
            <a:ext cx="44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mixer =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new THREE.AnimationMixer(gltf.scene);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clip = gltf.animations[0];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mixer.clipAction(clip).play();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// 再生</a:t>
            </a:r>
          </a:p>
          <a:p>
            <a:pPr algn="l">
              <a:lnSpc>
                <a:spcPct val="100000"/>
              </a:lnSpc>
            </a:pPr>
            <a:r>
              <a:rPr lang="en-US" sz="7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// animate 内で毎フレーム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mixer.update(clock.getDelta());</a:t>
            </a:r>
          </a:p>
        </p:txBody>
      </p:sp>
      <p:sp>
        <p:nvSpPr>
          <p:cNvPr id="202" name="rect"/>
          <p:cNvSpPr/>
          <p:nvPr/>
        </p:nvSpPr>
        <p:spPr>
          <a:xfrm>
            <a:off x="5620000" y="1560000"/>
            <a:ext cx="292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rect"/>
          <p:cNvSpPr/>
          <p:nvPr/>
        </p:nvSpPr>
        <p:spPr>
          <a:xfrm>
            <a:off x="5620000" y="1560000"/>
            <a:ext cx="6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04" name="tb"/>
          <p:cNvSpPr txBox="1"/>
          <p:nvPr/>
        </p:nvSpPr>
        <p:spPr>
          <a:xfrm>
            <a:off x="5820000" y="1660000"/>
            <a:ext cx="2564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gltf.animations</a:t>
            </a:r>
          </a:p>
          <a:p>
            <a:pPr algn="l">
              <a:lnSpc>
                <a:spcPct val="110000"/>
              </a:lnSpc>
              <a:spcBef>
                <a:spcPts val="22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同梱クリップの配列</a:t>
            </a:r>
          </a:p>
        </p:txBody>
      </p:sp>
      <p:sp>
        <p:nvSpPr>
          <p:cNvPr id="205" name="rect"/>
          <p:cNvSpPr/>
          <p:nvPr/>
        </p:nvSpPr>
        <p:spPr>
          <a:xfrm>
            <a:off x="5620000" y="2210000"/>
            <a:ext cx="292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rect"/>
          <p:cNvSpPr/>
          <p:nvPr/>
        </p:nvSpPr>
        <p:spPr>
          <a:xfrm>
            <a:off x="5620000" y="2210000"/>
            <a:ext cx="6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07" name="tb"/>
          <p:cNvSpPr txBox="1"/>
          <p:nvPr/>
        </p:nvSpPr>
        <p:spPr>
          <a:xfrm>
            <a:off x="5820000" y="2310000"/>
            <a:ext cx="2564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clipAction().play()</a:t>
            </a:r>
          </a:p>
          <a:p>
            <a:pPr algn="l">
              <a:lnSpc>
                <a:spcPct val="110000"/>
              </a:lnSpc>
              <a:spcBef>
                <a:spcPts val="22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クリップを再生する</a:t>
            </a:r>
          </a:p>
        </p:txBody>
      </p:sp>
      <p:sp>
        <p:nvSpPr>
          <p:cNvPr id="208" name="rect"/>
          <p:cNvSpPr/>
          <p:nvPr/>
        </p:nvSpPr>
        <p:spPr>
          <a:xfrm>
            <a:off x="5620000" y="2860000"/>
            <a:ext cx="292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rect"/>
          <p:cNvSpPr/>
          <p:nvPr/>
        </p:nvSpPr>
        <p:spPr>
          <a:xfrm>
            <a:off x="5620000" y="2860000"/>
            <a:ext cx="6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10" name="tb"/>
          <p:cNvSpPr txBox="1"/>
          <p:nvPr/>
        </p:nvSpPr>
        <p:spPr>
          <a:xfrm>
            <a:off x="5820000" y="2960000"/>
            <a:ext cx="2564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mixer.update()</a:t>
            </a:r>
          </a:p>
          <a:p>
            <a:pPr algn="l">
              <a:lnSpc>
                <a:spcPct val="110000"/>
              </a:lnSpc>
              <a:spcBef>
                <a:spcPts val="220"/>
              </a:spcBef>
            </a:pPr>
            <a:r>
              <a:rPr lang="en-US" sz="10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毎フレーム時間を送る</a:t>
            </a:r>
          </a:p>
        </p:txBody>
      </p:sp>
      <p:sp>
        <p:nvSpPr>
          <p:cNvPr id="21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1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QUALITY</a:t>
            </a:r>
          </a:p>
        </p:txBody>
      </p:sp>
      <p:sp>
        <p:nvSpPr>
          <p:cNvPr id="215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軽く・速く読み込む</a:t>
            </a:r>
          </a:p>
        </p:txBody>
      </p:sp>
      <p:sp>
        <p:nvSpPr>
          <p:cNvPr id="216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圧縮・破棄・使い回しで転送量とメモリを抑える</a:t>
            </a:r>
          </a:p>
        </p:txBody>
      </p:sp>
      <p:sp>
        <p:nvSpPr>
          <p:cNvPr id="217" name="rect"/>
          <p:cNvSpPr/>
          <p:nvPr/>
        </p:nvSpPr>
        <p:spPr>
          <a:xfrm>
            <a:off x="600000" y="1560000"/>
            <a:ext cx="7944000" cy="145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8" name="tb"/>
          <p:cNvSpPr txBox="1"/>
          <p:nvPr/>
        </p:nvSpPr>
        <p:spPr>
          <a:xfrm>
            <a:off x="750000" y="1710000"/>
            <a:ext cx="7644000" cy="11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draco.setDecoderPath('/draco/');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 // メッシュを圧縮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ktx2.setTranscoderPath('/basis/');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// テクスチャを圧縮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model.clone();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                  // 同じモデルを使い回す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geometry.dispose(); texture.dispose();</a:t>
            </a: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// 破棄</a:t>
            </a:r>
          </a:p>
        </p:txBody>
      </p:sp>
      <p:sp>
        <p:nvSpPr>
          <p:cNvPr id="219" name="rect"/>
          <p:cNvSpPr/>
          <p:nvPr/>
        </p:nvSpPr>
        <p:spPr>
          <a:xfrm>
            <a:off x="600000" y="3200000"/>
            <a:ext cx="7944000" cy="1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" name="rect"/>
          <p:cNvSpPr/>
          <p:nvPr/>
        </p:nvSpPr>
        <p:spPr>
          <a:xfrm>
            <a:off x="600000" y="3200000"/>
            <a:ext cx="70000" cy="105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21" name="tb"/>
          <p:cNvSpPr txBox="1"/>
          <p:nvPr/>
        </p:nvSpPr>
        <p:spPr>
          <a:xfrm>
            <a:off x="880000" y="3360000"/>
            <a:ext cx="7384000" cy="7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重い・時間がかかるときは?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Draco / KTX2 で圧縮し、使い終えた資産は dispose する。同じモデルは clone で使い回して読み込みを減らす。</a:t>
            </a:r>
          </a:p>
        </p:txBody>
      </p:sp>
      <p:sp>
        <p:nvSpPr>
          <p:cNvPr id="222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24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DEBUG</a:t>
            </a:r>
          </a:p>
        </p:txBody>
      </p:sp>
      <p:sp>
        <p:nvSpPr>
          <p:cNvPr id="226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よくあるつまずきポイント</a:t>
            </a:r>
          </a:p>
        </p:txBody>
      </p:sp>
      <p:sp>
        <p:nvSpPr>
          <p:cNvPr id="227" name="rect"/>
          <p:cNvSpPr/>
          <p:nvPr/>
        </p:nvSpPr>
        <p:spPr>
          <a:xfrm>
            <a:off x="600000" y="166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8" name="tb"/>
          <p:cNvSpPr txBox="1"/>
          <p:nvPr/>
        </p:nvSpPr>
        <p:spPr>
          <a:xfrm>
            <a:off x="880000" y="180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en-US" sz="13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モデルが見えない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</a:t>
            </a: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スケールと position、カメラの near / far を確認する</a:t>
            </a:r>
          </a:p>
        </p:txBody>
      </p:sp>
      <p:sp>
        <p:nvSpPr>
          <p:cNvPr id="229" name="rect"/>
          <p:cNvSpPr/>
          <p:nvPr/>
        </p:nvSpPr>
        <p:spPr>
          <a:xfrm>
            <a:off x="4722000" y="166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0" name="tb"/>
          <p:cNvSpPr txBox="1"/>
          <p:nvPr/>
        </p:nvSpPr>
        <p:spPr>
          <a:xfrm>
            <a:off x="5002000" y="180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en-US" sz="13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真っ黒に映る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</a:t>
            </a: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ライトか environment（環境マップ）を追加する</a:t>
            </a:r>
          </a:p>
        </p:txBody>
      </p:sp>
      <p:sp>
        <p:nvSpPr>
          <p:cNvPr id="231" name="rect"/>
          <p:cNvSpPr/>
          <p:nvPr/>
        </p:nvSpPr>
        <p:spPr>
          <a:xfrm>
            <a:off x="600000" y="288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2" name="tb"/>
          <p:cNvSpPr txBox="1"/>
          <p:nvPr/>
        </p:nvSpPr>
        <p:spPr>
          <a:xfrm>
            <a:off x="880000" y="302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en-US" sz="13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読み込めない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</a:t>
            </a: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パスと拡張子、ファイルの配信先を見直す</a:t>
            </a:r>
          </a:p>
        </p:txBody>
      </p:sp>
      <p:sp>
        <p:nvSpPr>
          <p:cNvPr id="233" name="rect"/>
          <p:cNvSpPr/>
          <p:nvPr/>
        </p:nvSpPr>
        <p:spPr>
          <a:xfrm>
            <a:off x="4722000" y="288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4" name="tb"/>
          <p:cNvSpPr txBox="1"/>
          <p:nvPr/>
        </p:nvSpPr>
        <p:spPr>
          <a:xfrm>
            <a:off x="5002000" y="302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dirty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en-US" sz="1350" b="1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ローカルで CORS（通信制限）エラー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1050" b="1" kern="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</a:t>
            </a:r>
            <a:r>
              <a:rPr lang="en-US" sz="105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開発サーバー経由で配信し file:// を避ける</a:t>
            </a:r>
          </a:p>
        </p:txBody>
      </p:sp>
      <p:sp>
        <p:nvSpPr>
          <p:cNvPr id="235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6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37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466634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HANDS-ON</a:t>
            </a:r>
          </a:p>
        </p:txBody>
      </p:sp>
      <p:sp>
        <p:nvSpPr>
          <p:cNvPr id="23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モデルを読み込んで並べよう</a:t>
            </a:r>
          </a:p>
        </p:txBody>
      </p:sp>
      <p:sp>
        <p:nvSpPr>
          <p:cNvPr id="240" name="rect"/>
          <p:cNvSpPr/>
          <p:nvPr/>
        </p:nvSpPr>
        <p:spPr>
          <a:xfrm>
            <a:off x="6000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1" name="rect"/>
          <p:cNvSpPr/>
          <p:nvPr/>
        </p:nvSpPr>
        <p:spPr>
          <a:xfrm>
            <a:off x="6000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42" name="tb"/>
          <p:cNvSpPr txBox="1"/>
          <p:nvPr/>
        </p:nvSpPr>
        <p:spPr>
          <a:xfrm>
            <a:off x="7600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モデルを用意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.glb を配置する</a:t>
            </a:r>
          </a:p>
        </p:txBody>
      </p:sp>
      <p:sp>
        <p:nvSpPr>
          <p:cNvPr id="243" name="rect"/>
          <p:cNvSpPr/>
          <p:nvPr/>
        </p:nvSpPr>
        <p:spPr>
          <a:xfrm>
            <a:off x="22188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4" name="rect"/>
          <p:cNvSpPr/>
          <p:nvPr/>
        </p:nvSpPr>
        <p:spPr>
          <a:xfrm>
            <a:off x="22188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45" name="tb"/>
          <p:cNvSpPr txBox="1"/>
          <p:nvPr/>
        </p:nvSpPr>
        <p:spPr>
          <a:xfrm>
            <a:off x="23788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 で読み込む</a:t>
            </a:r>
          </a:p>
        </p:txBody>
      </p:sp>
      <p:sp>
        <p:nvSpPr>
          <p:cNvPr id="246" name="rect"/>
          <p:cNvSpPr/>
          <p:nvPr/>
        </p:nvSpPr>
        <p:spPr>
          <a:xfrm>
            <a:off x="38376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7" name="rect"/>
          <p:cNvSpPr/>
          <p:nvPr/>
        </p:nvSpPr>
        <p:spPr>
          <a:xfrm>
            <a:off x="38376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48" name="tb"/>
          <p:cNvSpPr txBox="1"/>
          <p:nvPr/>
        </p:nvSpPr>
        <p:spPr>
          <a:xfrm>
            <a:off x="39976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中心・スケール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Box3 で調整する</a:t>
            </a:r>
          </a:p>
        </p:txBody>
      </p:sp>
      <p:sp>
        <p:nvSpPr>
          <p:cNvPr id="249" name="rect"/>
          <p:cNvSpPr/>
          <p:nvPr/>
        </p:nvSpPr>
        <p:spPr>
          <a:xfrm>
            <a:off x="54564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" name="rect"/>
          <p:cNvSpPr/>
          <p:nvPr/>
        </p:nvSpPr>
        <p:spPr>
          <a:xfrm>
            <a:off x="54564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51" name="tb"/>
          <p:cNvSpPr txBox="1"/>
          <p:nvPr/>
        </p:nvSpPr>
        <p:spPr>
          <a:xfrm>
            <a:off x="56164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シーンに追加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add で複数配置</a:t>
            </a:r>
          </a:p>
        </p:txBody>
      </p:sp>
      <p:sp>
        <p:nvSpPr>
          <p:cNvPr id="252" name="rect"/>
          <p:cNvSpPr/>
          <p:nvPr/>
        </p:nvSpPr>
        <p:spPr>
          <a:xfrm>
            <a:off x="70752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3" name="rect"/>
          <p:cNvSpPr/>
          <p:nvPr/>
        </p:nvSpPr>
        <p:spPr>
          <a:xfrm>
            <a:off x="70752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54" name="tb"/>
          <p:cNvSpPr txBox="1"/>
          <p:nvPr/>
        </p:nvSpPr>
        <p:spPr>
          <a:xfrm>
            <a:off x="72352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操作と反応</a:t>
            </a:r>
          </a:p>
          <a:p>
            <a:pPr algn="l">
              <a:lnSpc>
                <a:spcPct val="120000"/>
              </a:lnSpc>
              <a:spcBef>
                <a:spcPts val="350"/>
              </a:spcBef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で選択</a:t>
            </a:r>
          </a:p>
        </p:txBody>
      </p:sp>
      <p:sp>
        <p:nvSpPr>
          <p:cNvPr id="255" name="rect"/>
          <p:cNvSpPr/>
          <p:nvPr/>
        </p:nvSpPr>
        <p:spPr>
          <a:xfrm>
            <a:off x="600000" y="3820000"/>
            <a:ext cx="794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A3E6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6" name="rect"/>
          <p:cNvSpPr/>
          <p:nvPr/>
        </p:nvSpPr>
        <p:spPr>
          <a:xfrm>
            <a:off x="600000" y="3820000"/>
            <a:ext cx="7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57" name="tb"/>
          <p:cNvSpPr txBox="1"/>
          <p:nvPr/>
        </p:nvSpPr>
        <p:spPr>
          <a:xfrm>
            <a:off x="880000" y="3980000"/>
            <a:ext cx="738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ゴール:  </a:t>
            </a:r>
            <a:r>
              <a:rPr lang="en-US" sz="11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読み込んだモデルが整った状態で並び、クリックで色が変わって反応する</a:t>
            </a:r>
          </a:p>
        </p:txBody>
      </p:sp>
      <p:sp>
        <p:nvSpPr>
          <p:cNvPr id="25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6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WRAP UP</a:t>
            </a:r>
          </a:p>
        </p:txBody>
      </p:sp>
      <p:sp>
        <p:nvSpPr>
          <p:cNvPr id="262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 &amp; 次回予告</a:t>
            </a:r>
          </a:p>
        </p:txBody>
      </p:sp>
      <p:sp>
        <p:nvSpPr>
          <p:cNvPr id="263" name="rect"/>
          <p:cNvSpPr/>
          <p:nvPr/>
        </p:nvSpPr>
        <p:spPr>
          <a:xfrm>
            <a:off x="600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4" name="tb"/>
          <p:cNvSpPr txBox="1"/>
          <p:nvPr/>
        </p:nvSpPr>
        <p:spPr>
          <a:xfrm>
            <a:off x="900000" y="1860000"/>
            <a:ext cx="3222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en-US" sz="13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今日のまとめ</a:t>
            </a:r>
          </a:p>
          <a:p>
            <a:pPr algn="l">
              <a:lnSpc>
                <a:spcPct val="115000"/>
              </a:lnSpc>
              <a:spcBef>
                <a:spcPts val="33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で glTF / GLB を読み込む</a:t>
            </a:r>
          </a:p>
          <a:p>
            <a:pPr algn="l">
              <a:lnSpc>
                <a:spcPct val="115000"/>
              </a:lnSpc>
              <a:spcBef>
                <a:spcPts val="33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gltf.scene をシーンに追加する</a:t>
            </a:r>
          </a:p>
          <a:p>
            <a:pPr algn="l">
              <a:lnSpc>
                <a:spcPct val="115000"/>
              </a:lnSpc>
              <a:spcBef>
                <a:spcPts val="33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Box3 で中心とスケールを整える</a:t>
            </a:r>
          </a:p>
          <a:p>
            <a:pPr algn="l">
              <a:lnSpc>
                <a:spcPct val="115000"/>
              </a:lnSpc>
              <a:spcBef>
                <a:spcPts val="33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LoadingManager で進捗を管理する</a:t>
            </a:r>
          </a:p>
          <a:p>
            <a:pPr algn="l">
              <a:lnSpc>
                <a:spcPct val="115000"/>
              </a:lnSpc>
              <a:spcBef>
                <a:spcPts val="330"/>
              </a:spcBef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Draco / KTX2 で軽量化する</a:t>
            </a:r>
          </a:p>
        </p:txBody>
      </p:sp>
      <p:sp>
        <p:nvSpPr>
          <p:cNvPr id="265" name="rect"/>
          <p:cNvSpPr/>
          <p:nvPr/>
        </p:nvSpPr>
        <p:spPr>
          <a:xfrm>
            <a:off x="4722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6" name="rect"/>
          <p:cNvSpPr/>
          <p:nvPr/>
        </p:nvSpPr>
        <p:spPr>
          <a:xfrm>
            <a:off x="4722000" y="1560000"/>
            <a:ext cx="3822000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67" name="tb"/>
          <p:cNvSpPr txBox="1"/>
          <p:nvPr/>
        </p:nvSpPr>
        <p:spPr>
          <a:xfrm>
            <a:off x="5022000" y="1880000"/>
            <a:ext cx="3222000" cy="21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次回: SESSION 07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lang="en-US" sz="1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アニメーションと動きの演出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キーフレームと補間で動きを設計します。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en-US" sz="1050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 </a:t>
            </a: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でクリップを再生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en-US" sz="1050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 </a:t>
            </a: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Clock と補間でなめらかに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en-US" sz="1050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 </a:t>
            </a: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状態に応じて動きを切り替え</a:t>
            </a:r>
          </a:p>
        </p:txBody>
      </p:sp>
      <p:sp>
        <p:nvSpPr>
          <p:cNvPr id="26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7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GLOSSARY</a:t>
            </a:r>
          </a:p>
        </p:txBody>
      </p:sp>
      <p:sp>
        <p:nvSpPr>
          <p:cNvPr id="262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用語集 — 今回登場した専門用語</a:t>
            </a:r>
          </a:p>
        </p:txBody>
      </p:sp>
      <p:sp>
        <p:nvSpPr>
          <p:cNvPr id="26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7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APPENDIX</a:t>
            </a:r>
          </a:p>
        </p:txBody>
      </p:sp>
      <p:sp>
        <p:nvSpPr>
          <p:cNvPr id="300" name="tb"/>
          <p:cNvSpPr txBox="1"/>
          <p:nvPr/>
        </p:nvSpPr>
        <p:spPr>
          <a:xfrm>
            <a:off x="596900" y="1168400"/>
            <a:ext cx="795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本セッションに登場した専門用語をまとめて確認する</a:t>
            </a:r>
          </a:p>
        </p:txBody>
      </p:sp>
      <p:sp>
        <p:nvSpPr>
          <p:cNvPr id="301" name="rect"/>
          <p:cNvSpPr/>
          <p:nvPr/>
        </p:nvSpPr>
        <p:spPr>
          <a:xfrm>
            <a:off x="596900" y="15621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rect"/>
          <p:cNvSpPr/>
          <p:nvPr/>
        </p:nvSpPr>
        <p:spPr>
          <a:xfrm>
            <a:off x="596900" y="15621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tb"/>
          <p:cNvSpPr txBox="1"/>
          <p:nvPr/>
        </p:nvSpPr>
        <p:spPr>
          <a:xfrm>
            <a:off x="787400" y="16637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glTF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3Dモデルの標準形式</a:t>
            </a:r>
          </a:p>
        </p:txBody>
      </p:sp>
      <p:sp>
        <p:nvSpPr>
          <p:cNvPr id="304" name="rect"/>
          <p:cNvSpPr/>
          <p:nvPr/>
        </p:nvSpPr>
        <p:spPr>
          <a:xfrm>
            <a:off x="3302000" y="15621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rect"/>
          <p:cNvSpPr/>
          <p:nvPr/>
        </p:nvSpPr>
        <p:spPr>
          <a:xfrm>
            <a:off x="3302000" y="15621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6" name="tb"/>
          <p:cNvSpPr txBox="1"/>
          <p:nvPr/>
        </p:nvSpPr>
        <p:spPr>
          <a:xfrm>
            <a:off x="3492500" y="16637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GLB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1ファイル形式</a:t>
            </a:r>
          </a:p>
        </p:txBody>
      </p:sp>
      <p:sp>
        <p:nvSpPr>
          <p:cNvPr id="307" name="rect"/>
          <p:cNvSpPr/>
          <p:nvPr/>
        </p:nvSpPr>
        <p:spPr>
          <a:xfrm>
            <a:off x="6007100" y="15621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rect"/>
          <p:cNvSpPr/>
          <p:nvPr/>
        </p:nvSpPr>
        <p:spPr>
          <a:xfrm>
            <a:off x="6007100" y="15621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tb"/>
          <p:cNvSpPr txBox="1"/>
          <p:nvPr/>
        </p:nvSpPr>
        <p:spPr>
          <a:xfrm>
            <a:off x="6197600" y="16637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GLTFLoader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読み込みクラス</a:t>
            </a:r>
          </a:p>
        </p:txBody>
      </p:sp>
      <p:sp>
        <p:nvSpPr>
          <p:cNvPr id="310" name="rect"/>
          <p:cNvSpPr/>
          <p:nvPr/>
        </p:nvSpPr>
        <p:spPr>
          <a:xfrm>
            <a:off x="596900" y="22987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rect"/>
          <p:cNvSpPr/>
          <p:nvPr/>
        </p:nvSpPr>
        <p:spPr>
          <a:xfrm>
            <a:off x="596900" y="22987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tb"/>
          <p:cNvSpPr txBox="1"/>
          <p:nvPr/>
        </p:nvSpPr>
        <p:spPr>
          <a:xfrm>
            <a:off x="787400" y="24003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LoadingManager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進捗管理クラス</a:t>
            </a:r>
          </a:p>
        </p:txBody>
      </p:sp>
      <p:sp>
        <p:nvSpPr>
          <p:cNvPr id="313" name="rect"/>
          <p:cNvSpPr/>
          <p:nvPr/>
        </p:nvSpPr>
        <p:spPr>
          <a:xfrm>
            <a:off x="3302000" y="22987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rect"/>
          <p:cNvSpPr/>
          <p:nvPr/>
        </p:nvSpPr>
        <p:spPr>
          <a:xfrm>
            <a:off x="3302000" y="22987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tb"/>
          <p:cNvSpPr txBox="1"/>
          <p:nvPr/>
        </p:nvSpPr>
        <p:spPr>
          <a:xfrm>
            <a:off x="3492500" y="24003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DRACOLoader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Draco展開クラス</a:t>
            </a:r>
          </a:p>
        </p:txBody>
      </p:sp>
      <p:sp>
        <p:nvSpPr>
          <p:cNvPr id="316" name="rect"/>
          <p:cNvSpPr/>
          <p:nvPr/>
        </p:nvSpPr>
        <p:spPr>
          <a:xfrm>
            <a:off x="6007100" y="22987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rect"/>
          <p:cNvSpPr/>
          <p:nvPr/>
        </p:nvSpPr>
        <p:spPr>
          <a:xfrm>
            <a:off x="6007100" y="22987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8" name="tb"/>
          <p:cNvSpPr txBox="1"/>
          <p:nvPr/>
        </p:nvSpPr>
        <p:spPr>
          <a:xfrm>
            <a:off x="6197600" y="24003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KTX2Loader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テクスチャ展開クラス</a:t>
            </a:r>
          </a:p>
        </p:txBody>
      </p:sp>
      <p:sp>
        <p:nvSpPr>
          <p:cNvPr id="319" name="rect"/>
          <p:cNvSpPr/>
          <p:nvPr/>
        </p:nvSpPr>
        <p:spPr>
          <a:xfrm>
            <a:off x="596900" y="30353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rect"/>
          <p:cNvSpPr/>
          <p:nvPr/>
        </p:nvSpPr>
        <p:spPr>
          <a:xfrm>
            <a:off x="596900" y="30353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b"/>
          <p:cNvSpPr txBox="1"/>
          <p:nvPr/>
        </p:nvSpPr>
        <p:spPr>
          <a:xfrm>
            <a:off x="787400" y="31369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Box3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範囲を測るクラス</a:t>
            </a:r>
          </a:p>
        </p:txBody>
      </p:sp>
      <p:sp>
        <p:nvSpPr>
          <p:cNvPr id="322" name="rect"/>
          <p:cNvSpPr/>
          <p:nvPr/>
        </p:nvSpPr>
        <p:spPr>
          <a:xfrm>
            <a:off x="3302000" y="30353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rect"/>
          <p:cNvSpPr/>
          <p:nvPr/>
        </p:nvSpPr>
        <p:spPr>
          <a:xfrm>
            <a:off x="3302000" y="30353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tb"/>
          <p:cNvSpPr txBox="1"/>
          <p:nvPr/>
        </p:nvSpPr>
        <p:spPr>
          <a:xfrm>
            <a:off x="3492500" y="31369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AnimationMixer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アニメ再生クラス</a:t>
            </a:r>
          </a:p>
        </p:txBody>
      </p:sp>
      <p:sp>
        <p:nvSpPr>
          <p:cNvPr id="325" name="rect"/>
          <p:cNvSpPr/>
          <p:nvPr/>
        </p:nvSpPr>
        <p:spPr>
          <a:xfrm>
            <a:off x="6007100" y="30353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6" name="rect"/>
          <p:cNvSpPr/>
          <p:nvPr/>
        </p:nvSpPr>
        <p:spPr>
          <a:xfrm>
            <a:off x="6007100" y="30353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tb"/>
          <p:cNvSpPr txBox="1"/>
          <p:nvPr/>
        </p:nvSpPr>
        <p:spPr>
          <a:xfrm>
            <a:off x="6197600" y="31369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dispose()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資産を解放するメソッド</a:t>
            </a:r>
          </a:p>
        </p:txBody>
      </p:sp>
      <p:sp>
        <p:nvSpPr>
          <p:cNvPr id="328" name="rect"/>
          <p:cNvSpPr/>
          <p:nvPr/>
        </p:nvSpPr>
        <p:spPr>
          <a:xfrm>
            <a:off x="596900" y="37719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9" name="rect"/>
          <p:cNvSpPr/>
          <p:nvPr/>
        </p:nvSpPr>
        <p:spPr>
          <a:xfrm>
            <a:off x="596900" y="37719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tb"/>
          <p:cNvSpPr txBox="1"/>
          <p:nvPr/>
        </p:nvSpPr>
        <p:spPr>
          <a:xfrm>
            <a:off x="787400" y="38735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clone()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複製して再利用</a:t>
            </a:r>
          </a:p>
        </p:txBody>
      </p:sp>
      <p:sp>
        <p:nvSpPr>
          <p:cNvPr id="331" name="rect"/>
          <p:cNvSpPr/>
          <p:nvPr/>
        </p:nvSpPr>
        <p:spPr>
          <a:xfrm>
            <a:off x="3302000" y="37719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rect"/>
          <p:cNvSpPr/>
          <p:nvPr/>
        </p:nvSpPr>
        <p:spPr>
          <a:xfrm>
            <a:off x="3302000" y="37719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3" name="tb"/>
          <p:cNvSpPr txBox="1"/>
          <p:nvPr/>
        </p:nvSpPr>
        <p:spPr>
          <a:xfrm>
            <a:off x="3492500" y="38735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CORS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オリジン間通信の制限</a:t>
            </a:r>
          </a:p>
        </p:txBody>
      </p:sp>
      <p:sp>
        <p:nvSpPr>
          <p:cNvPr id="334" name="rect"/>
          <p:cNvSpPr/>
          <p:nvPr/>
        </p:nvSpPr>
        <p:spPr>
          <a:xfrm>
            <a:off x="6007100" y="37719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5" name="rect"/>
          <p:cNvSpPr/>
          <p:nvPr/>
        </p:nvSpPr>
        <p:spPr>
          <a:xfrm>
            <a:off x="6007100" y="37719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6" name="tb"/>
          <p:cNvSpPr txBox="1"/>
          <p:nvPr/>
        </p:nvSpPr>
        <p:spPr>
          <a:xfrm>
            <a:off x="6197600" y="38735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NDC</a:t>
            </a:r>
          </a:p>
          <a:p>
            <a:pPr algn="l">
              <a:lnSpc>
                <a:spcPct val="115000"/>
              </a:lnSpc>
              <a:spcBef>
                <a:spcPts val="250"/>
              </a:spcBef>
            </a:pPr>
            <a:r>
              <a:rPr lang="en-US" sz="1000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正規化した座標値</a:t>
            </a:r>
          </a:p>
        </p:txBody>
      </p:sp>
    </p:spTree>
    <p:extLst>
      <p:ext uri="{BB962C8B-B14F-4D97-AF65-F5344CB8AC3E}">
        <p14:creationId xmlns:p14="http://schemas.microsoft.com/office/powerpoint/2010/main" val="3141046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DC1929-AC6C-4DD0-98B0-975F067FBCD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b2f4f7d-99e6-40c6-825d-4043120f954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456E8C-53D5-4439-A4EE-3C6D4B5B6C35}">
  <ds:schemaRefs>
    <ds:schemaRef ds:uri="91a5efbd-7d02-4308-8565-d8690abf65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6E9BFE4-3C3B-4700-A2A0-2A03D9FA7A2F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91a5efbd-7d02-4308-8565-d8690abf6588"/>
  </ds:schemaRefs>
</ds:datastoreItem>
</file>

<file path=customXml/itemProps3.xml><?xml version="1.0" encoding="utf-8"?>
<ds:datastoreItem xmlns:ds="http://schemas.openxmlformats.org/officeDocument/2006/customXml" ds:itemID="{9CA765A0-5BC8-4512-8168-7EE8771F47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画面に合わせる (16:9)</PresentationFormat>
  <Paragraphs>326</Paragraphs>
  <Slides>19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Yu Gothic UI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1</cp:revision>
  <dcterms:created xsi:type="dcterms:W3CDTF">2026-05-30T09:11:27Z</dcterms:created>
  <dcterms:modified xsi:type="dcterms:W3CDTF">2026-07-13T14:50:39Z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