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sldIdLst>
    <p:sldId id="256" r:id="rId5"/>
    <p:sldId id="279" r:id="rId6"/>
    <p:sldId id="257" r:id="rId7"/>
    <p:sldId id="258" r:id="rId8"/>
    <p:sldId id="281" r:id="rId9"/>
    <p:sldId id="259" r:id="rId10"/>
    <p:sldId id="260" r:id="rId11"/>
    <p:sldId id="261" r:id="rId12"/>
    <p:sldId id="276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7" r:id="rId22"/>
    <p:sldId id="272" r:id="rId23"/>
    <p:sldId id="273" r:id="rId24"/>
    <p:sldId id="275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44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54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b"/>
          <p:cNvSpPr txBox="1">
            <a:spLocks/>
          </p:cNvSpPr>
          <p:nvPr/>
        </p:nvSpPr>
        <p:spPr>
          <a:xfrm>
            <a:off x="5600000" y="250000"/>
            <a:ext cx="3300000" cy="22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13000" b="1" kern="0">
                <a:solidFill>
                  <a:srgbClr val="1F2A4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07</a:t>
            </a:r>
          </a:p>
        </p:txBody>
      </p:sp>
      <p:sp>
        <p:nvSpPr>
          <p:cNvPr id="12" name="tb"/>
          <p:cNvSpPr txBox="1">
            <a:spLocks/>
          </p:cNvSpPr>
          <p:nvPr/>
        </p:nvSpPr>
        <p:spPr>
          <a:xfrm>
            <a:off x="600000" y="900000"/>
            <a:ext cx="7944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200" b="1" kern="0" spc="3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SESSION 07 / 10</a:t>
            </a:r>
          </a:p>
        </p:txBody>
      </p:sp>
      <p:sp>
        <p:nvSpPr>
          <p:cNvPr id="13" name="tb"/>
          <p:cNvSpPr txBox="1">
            <a:spLocks/>
          </p:cNvSpPr>
          <p:nvPr/>
        </p:nvSpPr>
        <p:spPr>
          <a:xfrm>
            <a:off x="600000" y="1280000"/>
            <a:ext cx="7944000" cy="7600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70000" lnSpcReduction="20000"/>
          </a:bodyPr>
          <a:lstStyle/>
          <a:p>
            <a:pPr algn="l">
              <a:lnSpc>
                <a:spcPct val="105000"/>
              </a:lnSpc>
            </a:pPr>
            <a:r>
              <a:rPr lang="en-US" sz="4000" b="1" kern="0" err="1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アニメーションと</a:t>
            </a:r>
          </a:p>
          <a:p>
            <a:pPr algn="l">
              <a:lnSpc>
                <a:spcPct val="105000"/>
              </a:lnSpc>
            </a:pPr>
            <a:r>
              <a:rPr lang="en-US" sz="4000" b="1" kern="0" err="1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動きの演出</a:t>
            </a:r>
            <a:endParaRPr lang="en-US" sz="4000" b="1" kern="0" dirty="0">
              <a:solidFill>
                <a:srgbClr val="22D3EE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4" name="tb"/>
          <p:cNvSpPr txBox="1">
            <a:spLocks/>
          </p:cNvSpPr>
          <p:nvPr/>
        </p:nvSpPr>
        <p:spPr>
          <a:xfrm>
            <a:off x="600000" y="2820000"/>
            <a:ext cx="7000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2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時間を軸に動きを設計し、なめらかな演出をシーンに加える</a:t>
            </a:r>
          </a:p>
        </p:txBody>
      </p:sp>
      <p:sp>
        <p:nvSpPr>
          <p:cNvPr id="15" name="ln"/>
          <p:cNvSpPr/>
          <p:nvPr/>
        </p:nvSpPr>
        <p:spPr>
          <a:xfrm>
            <a:off x="600000" y="330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b"/>
          <p:cNvSpPr txBox="1">
            <a:spLocks/>
          </p:cNvSpPr>
          <p:nvPr/>
        </p:nvSpPr>
        <p:spPr>
          <a:xfrm>
            <a:off x="600000" y="3430000"/>
            <a:ext cx="7944000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Week 7     2 hours      Three.js × WebGL </a:t>
            </a: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実践講座</a:t>
            </a:r>
            <a:endParaRPr lang="en-US" sz="110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7" name="tb"/>
          <p:cNvSpPr txBox="1">
            <a:spLocks/>
          </p:cNvSpPr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 dirty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PURPOSE</a:t>
            </a:r>
          </a:p>
        </p:txBody>
      </p:sp>
      <p:sp>
        <p:nvSpPr>
          <p:cNvPr id="49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本セッションの目的</a:t>
            </a:r>
          </a:p>
        </p:txBody>
      </p:sp>
      <p:sp>
        <p:nvSpPr>
          <p:cNvPr id="50" name="tb"/>
          <p:cNvSpPr txBox="1"/>
          <p:nvPr/>
        </p:nvSpPr>
        <p:spPr>
          <a:xfrm>
            <a:off x="600000" y="117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オブジェクトの動きを設計し</a:t>
            </a:r>
            <a:r>
              <a:rPr lang="en-US" sz="1150" kern="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、</a:t>
            </a: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意図の伝わる演出をつくれるようにする</a:t>
            </a:r>
            <a:endParaRPr lang="en-US" sz="1150" kern="0" dirty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51" name="rect"/>
          <p:cNvSpPr/>
          <p:nvPr/>
        </p:nvSpPr>
        <p:spPr>
          <a:xfrm>
            <a:off x="600000" y="1700000"/>
            <a:ext cx="2474666" cy="23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"/>
          <p:cNvSpPr/>
          <p:nvPr/>
        </p:nvSpPr>
        <p:spPr>
          <a:xfrm>
            <a:off x="600000" y="1700000"/>
            <a:ext cx="2474666" cy="8000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53" name="tb"/>
          <p:cNvSpPr txBox="1"/>
          <p:nvPr/>
        </p:nvSpPr>
        <p:spPr>
          <a:xfrm>
            <a:off x="860000" y="1840000"/>
            <a:ext cx="1954666" cy="20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 spc="200" dirty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WHY</a:t>
            </a:r>
          </a:p>
          <a:p>
            <a:pPr algn="l">
              <a:lnSpc>
                <a:spcPct val="110000"/>
              </a:lnSpc>
            </a:pPr>
            <a:r>
              <a:rPr lang="en-US" sz="17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動きで伝える</a:t>
            </a:r>
          </a:p>
          <a:p>
            <a:pPr algn="l">
              <a:lnSpc>
                <a:spcPct val="110000"/>
              </a:lnSpc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静止したシーンに時間を与え</a:t>
            </a:r>
            <a:r>
              <a:rPr lang="en-US" sz="1050" kern="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、</a:t>
            </a: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見る人の視線を導く</a:t>
            </a:r>
          </a:p>
        </p:txBody>
      </p:sp>
      <p:sp>
        <p:nvSpPr>
          <p:cNvPr id="54" name="rect"/>
          <p:cNvSpPr/>
          <p:nvPr/>
        </p:nvSpPr>
        <p:spPr>
          <a:xfrm>
            <a:off x="3334666" y="1700000"/>
            <a:ext cx="2474666" cy="23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"/>
          <p:cNvSpPr/>
          <p:nvPr/>
        </p:nvSpPr>
        <p:spPr>
          <a:xfrm>
            <a:off x="3334666" y="1700000"/>
            <a:ext cx="2474666" cy="8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56" name="tb"/>
          <p:cNvSpPr txBox="1"/>
          <p:nvPr/>
        </p:nvSpPr>
        <p:spPr>
          <a:xfrm>
            <a:off x="3594666" y="1840000"/>
            <a:ext cx="1954666" cy="20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 spc="200" dirty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WHAT</a:t>
            </a:r>
          </a:p>
          <a:p>
            <a:pPr algn="l">
              <a:lnSpc>
                <a:spcPct val="110000"/>
              </a:lnSpc>
            </a:pPr>
            <a:r>
              <a:rPr lang="en-US" sz="17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補間で整える</a:t>
            </a:r>
          </a:p>
          <a:p>
            <a:pPr algn="l">
              <a:lnSpc>
                <a:spcPct val="110000"/>
              </a:lnSpc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キーフレーム再生とイージングでなめらかな変化をつくる</a:t>
            </a:r>
          </a:p>
        </p:txBody>
      </p:sp>
      <p:sp>
        <p:nvSpPr>
          <p:cNvPr id="57" name="rect"/>
          <p:cNvSpPr/>
          <p:nvPr/>
        </p:nvSpPr>
        <p:spPr>
          <a:xfrm>
            <a:off x="6069332" y="1700000"/>
            <a:ext cx="2474666" cy="23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"/>
          <p:cNvSpPr/>
          <p:nvPr/>
        </p:nvSpPr>
        <p:spPr>
          <a:xfrm>
            <a:off x="6069332" y="1700000"/>
            <a:ext cx="2474666" cy="8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59" name="tb"/>
          <p:cNvSpPr txBox="1"/>
          <p:nvPr/>
        </p:nvSpPr>
        <p:spPr>
          <a:xfrm>
            <a:off x="6329332" y="1840000"/>
            <a:ext cx="1954666" cy="20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 spc="200" dirty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NEXT</a:t>
            </a:r>
          </a:p>
          <a:p>
            <a:pPr algn="l">
              <a:lnSpc>
                <a:spcPct val="110000"/>
              </a:lnSpc>
            </a:pPr>
            <a:r>
              <a:rPr lang="en-US" sz="17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演出へつなげる</a:t>
            </a:r>
          </a:p>
          <a:p>
            <a:pPr algn="l">
              <a:lnSpc>
                <a:spcPct val="110000"/>
              </a:lnSpc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フェード・スケール・カメラワークを組み合わせる</a:t>
            </a:r>
          </a:p>
        </p:txBody>
      </p:sp>
      <p:sp>
        <p:nvSpPr>
          <p:cNvPr id="60" name="tb"/>
          <p:cNvSpPr txBox="1"/>
          <p:nvPr/>
        </p:nvSpPr>
        <p:spPr>
          <a:xfrm>
            <a:off x="600000" y="450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</a:t>
            </a:r>
            <a:r>
              <a:rPr lang="en-US" sz="1000" kern="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</a:t>
            </a: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補間</a:t>
            </a:r>
            <a:r>
              <a:rPr lang="en-US" sz="1000" kern="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</a:t>
            </a: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イージングを設計することで</a:t>
            </a:r>
            <a:r>
              <a:rPr lang="en-US" sz="1000" kern="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、</a:t>
            </a: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シーンが「作品」として動き出す</a:t>
            </a:r>
            <a:endParaRPr lang="en-US" sz="1000" kern="0" dirty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61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3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 dirty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PURPOSE</a:t>
            </a:r>
          </a:p>
        </p:txBody>
      </p:sp>
    </p:spTree>
    <p:extLst>
      <p:ext uri="{BB962C8B-B14F-4D97-AF65-F5344CB8AC3E}">
        <p14:creationId xmlns:p14="http://schemas.microsoft.com/office/powerpoint/2010/main" val="4727947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b"/>
          <p:cNvSpPr txBox="1">
            <a:spLocks/>
          </p:cNvSpPr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AGENDA</a:t>
            </a:r>
          </a:p>
        </p:txBody>
      </p:sp>
      <p:sp>
        <p:nvSpPr>
          <p:cNvPr id="19" name="tb"/>
          <p:cNvSpPr txBox="1">
            <a:spLocks/>
          </p:cNvSpPr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本日のアジェンダ</a:t>
            </a:r>
          </a:p>
        </p:txBody>
      </p:sp>
      <p:sp>
        <p:nvSpPr>
          <p:cNvPr id="20" name="rect"/>
          <p:cNvSpPr/>
          <p:nvPr/>
        </p:nvSpPr>
        <p:spPr>
          <a:xfrm>
            <a:off x="600000" y="1500000"/>
            <a:ext cx="7944000" cy="92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"/>
          <p:cNvSpPr/>
          <p:nvPr/>
        </p:nvSpPr>
        <p:spPr>
          <a:xfrm>
            <a:off x="600000" y="1500000"/>
            <a:ext cx="90000" cy="92000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b"/>
          <p:cNvSpPr txBox="1">
            <a:spLocks/>
          </p:cNvSpPr>
          <p:nvPr/>
        </p:nvSpPr>
        <p:spPr>
          <a:xfrm>
            <a:off x="850000" y="1620000"/>
            <a:ext cx="9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6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01</a:t>
            </a:r>
          </a:p>
        </p:txBody>
      </p:sp>
      <p:sp>
        <p:nvSpPr>
          <p:cNvPr id="23" name="tb"/>
          <p:cNvSpPr txBox="1">
            <a:spLocks/>
          </p:cNvSpPr>
          <p:nvPr/>
        </p:nvSpPr>
        <p:spPr>
          <a:xfrm>
            <a:off x="1850000" y="1650000"/>
            <a:ext cx="4700000" cy="6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5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モデルの動きを再生する</a:t>
            </a:r>
          </a:p>
          <a:p>
            <a:pPr algn="l">
              <a:lnSpc>
                <a:spcPct val="110000"/>
              </a:lnSpc>
            </a:pPr>
            <a:r>
              <a:rPr lang="en-US" sz="10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AnimationMixer </a:t>
            </a:r>
            <a:r>
              <a:rPr lang="ja-JP" altLang="en-US" sz="10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でクリップを扱う</a:t>
            </a:r>
            <a:endParaRPr lang="en-US" sz="105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24" name="tb"/>
          <p:cNvSpPr txBox="1">
            <a:spLocks/>
          </p:cNvSpPr>
          <p:nvPr/>
        </p:nvSpPr>
        <p:spPr>
          <a:xfrm>
            <a:off x="7044000" y="1620000"/>
            <a:ext cx="13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14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 min</a:t>
            </a:r>
          </a:p>
        </p:txBody>
      </p:sp>
      <p:sp>
        <p:nvSpPr>
          <p:cNvPr id="25" name="rect"/>
          <p:cNvSpPr/>
          <p:nvPr/>
        </p:nvSpPr>
        <p:spPr>
          <a:xfrm>
            <a:off x="600000" y="2510000"/>
            <a:ext cx="7944000" cy="92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"/>
          <p:cNvSpPr/>
          <p:nvPr/>
        </p:nvSpPr>
        <p:spPr>
          <a:xfrm>
            <a:off x="600000" y="2510000"/>
            <a:ext cx="90000" cy="92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27" name="tb"/>
          <p:cNvSpPr txBox="1">
            <a:spLocks/>
          </p:cNvSpPr>
          <p:nvPr/>
        </p:nvSpPr>
        <p:spPr>
          <a:xfrm>
            <a:off x="850000" y="2630000"/>
            <a:ext cx="9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6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</a:t>
            </a:r>
          </a:p>
        </p:txBody>
      </p:sp>
      <p:sp>
        <p:nvSpPr>
          <p:cNvPr id="28" name="tb"/>
          <p:cNvSpPr txBox="1">
            <a:spLocks/>
          </p:cNvSpPr>
          <p:nvPr/>
        </p:nvSpPr>
        <p:spPr>
          <a:xfrm>
            <a:off x="1850000" y="2660000"/>
            <a:ext cx="4700000" cy="6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5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動きをなめらかにする</a:t>
            </a:r>
          </a:p>
          <a:p>
            <a:pPr algn="l">
              <a:lnSpc>
                <a:spcPct val="110000"/>
              </a:lnSpc>
            </a:pPr>
            <a:r>
              <a:rPr lang="en-US" sz="10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delta time </a:t>
            </a:r>
            <a:r>
              <a:rPr lang="ja-JP" altLang="en-US" sz="10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と </a:t>
            </a:r>
            <a:r>
              <a:rPr lang="en-US" sz="10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Easing </a:t>
            </a:r>
            <a:r>
              <a:rPr lang="ja-JP" altLang="en-US" sz="10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で補間する</a:t>
            </a:r>
            <a:endParaRPr lang="en-US" sz="105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29" name="tb"/>
          <p:cNvSpPr txBox="1">
            <a:spLocks/>
          </p:cNvSpPr>
          <p:nvPr/>
        </p:nvSpPr>
        <p:spPr>
          <a:xfrm>
            <a:off x="7044000" y="2630000"/>
            <a:ext cx="13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14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40 min</a:t>
            </a:r>
          </a:p>
        </p:txBody>
      </p:sp>
      <p:sp>
        <p:nvSpPr>
          <p:cNvPr id="30" name="rect"/>
          <p:cNvSpPr/>
          <p:nvPr/>
        </p:nvSpPr>
        <p:spPr>
          <a:xfrm>
            <a:off x="600000" y="3520000"/>
            <a:ext cx="7944000" cy="92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"/>
          <p:cNvSpPr/>
          <p:nvPr/>
        </p:nvSpPr>
        <p:spPr>
          <a:xfrm>
            <a:off x="600000" y="3520000"/>
            <a:ext cx="90000" cy="92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32" name="tb"/>
          <p:cNvSpPr txBox="1">
            <a:spLocks/>
          </p:cNvSpPr>
          <p:nvPr/>
        </p:nvSpPr>
        <p:spPr>
          <a:xfrm>
            <a:off x="850000" y="3640000"/>
            <a:ext cx="9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6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</a:t>
            </a:r>
          </a:p>
        </p:txBody>
      </p:sp>
      <p:sp>
        <p:nvSpPr>
          <p:cNvPr id="33" name="tb"/>
          <p:cNvSpPr txBox="1">
            <a:spLocks/>
          </p:cNvSpPr>
          <p:nvPr/>
        </p:nvSpPr>
        <p:spPr>
          <a:xfrm>
            <a:off x="1850000" y="3670000"/>
            <a:ext cx="4700000" cy="6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5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ハンズオン演習</a:t>
            </a:r>
          </a:p>
          <a:p>
            <a:pPr algn="l">
              <a:lnSpc>
                <a:spcPct val="110000"/>
              </a:lnSpc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登場シーンをまるごと演出する</a:t>
            </a:r>
          </a:p>
        </p:txBody>
      </p:sp>
      <p:sp>
        <p:nvSpPr>
          <p:cNvPr id="34" name="tb"/>
          <p:cNvSpPr txBox="1">
            <a:spLocks/>
          </p:cNvSpPr>
          <p:nvPr/>
        </p:nvSpPr>
        <p:spPr>
          <a:xfrm>
            <a:off x="7044000" y="3640000"/>
            <a:ext cx="1300000" cy="6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14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50 min</a:t>
            </a:r>
          </a:p>
        </p:txBody>
      </p:sp>
      <p:sp>
        <p:nvSpPr>
          <p:cNvPr id="35" name="tb"/>
          <p:cNvSpPr txBox="1">
            <a:spLocks/>
          </p:cNvSpPr>
          <p:nvPr/>
        </p:nvSpPr>
        <p:spPr>
          <a:xfrm>
            <a:off x="600000" y="450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 60 min  →  ハンズオン 50 min  →  振り返り 10 min</a:t>
            </a:r>
          </a:p>
        </p:txBody>
      </p:sp>
      <p:sp>
        <p:nvSpPr>
          <p:cNvPr id="36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tb"/>
          <p:cNvSpPr txBox="1">
            <a:spLocks/>
          </p:cNvSpPr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38" name="tb"/>
          <p:cNvSpPr txBox="1">
            <a:spLocks/>
          </p:cNvSpPr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02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PREREQUISITE</a:t>
            </a:r>
          </a:p>
        </p:txBody>
      </p:sp>
      <p:sp>
        <p:nvSpPr>
          <p:cNvPr id="40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前提知識・準備物</a:t>
            </a:r>
          </a:p>
        </p:txBody>
      </p:sp>
      <p:sp>
        <p:nvSpPr>
          <p:cNvPr id="41" name="rect"/>
          <p:cNvSpPr/>
          <p:nvPr/>
        </p:nvSpPr>
        <p:spPr>
          <a:xfrm>
            <a:off x="600000" y="1560000"/>
            <a:ext cx="3822000" cy="29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"/>
          <p:cNvSpPr/>
          <p:nvPr/>
        </p:nvSpPr>
        <p:spPr>
          <a:xfrm>
            <a:off x="4722000" y="1560000"/>
            <a:ext cx="3822000" cy="29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tb"/>
          <p:cNvSpPr txBox="1"/>
          <p:nvPr/>
        </p:nvSpPr>
        <p:spPr>
          <a:xfrm>
            <a:off x="880000" y="1840000"/>
            <a:ext cx="3262000" cy="2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ja-JP" altLang="en-US" sz="12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</a:t>
            </a:r>
            <a:r>
              <a:rPr lang="en-US" altLang="ja-JP" sz="12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r>
              <a:rPr lang="ja-JP" altLang="en-US" sz="12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回の到達点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GLTFLoader </a:t>
            </a: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 </a:t>
            </a: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 / GLB </a:t>
            </a: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を読み込める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gltf.scene </a:t>
            </a: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をシーンに追加できる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Box3 </a:t>
            </a: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で中心とスケールを整えられる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animate() </a:t>
            </a: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の描画ループが回っている</a:t>
            </a:r>
            <a:endParaRPr lang="en-US" sz="11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44" name="tb"/>
          <p:cNvSpPr txBox="1"/>
          <p:nvPr/>
        </p:nvSpPr>
        <p:spPr>
          <a:xfrm>
            <a:off x="5002000" y="1840000"/>
            <a:ext cx="3262000" cy="2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2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今回必要なもの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1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前回のプロジェクト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my-threejs-app </a:t>
            </a:r>
            <a:r>
              <a:rPr lang="ja-JP" altLang="en-US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をそのまま使用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1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GSAP </a:t>
            </a:r>
            <a:r>
              <a:rPr lang="ja-JP" altLang="en-US" sz="11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または </a:t>
            </a:r>
            <a:r>
              <a:rPr lang="en-US" sz="11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tween.js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npm install gsap </a:t>
            </a:r>
            <a:r>
              <a:rPr lang="ja-JP" altLang="en-US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で導入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en-US" sz="11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アニメ入りモデル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lang="ja-JP" altLang="en-US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クリップを含む </a:t>
            </a:r>
            <a:r>
              <a:rPr lang="en-US" altLang="ja-JP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.</a:t>
            </a:r>
            <a:r>
              <a:rPr lang="en-US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glb </a:t>
            </a:r>
            <a:r>
              <a:rPr lang="ja-JP" altLang="en-US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を</a:t>
            </a:r>
            <a:r>
              <a:rPr lang="en-US" altLang="ja-JP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r>
              <a:rPr lang="ja-JP" altLang="en-US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つ</a:t>
            </a:r>
            <a:endParaRPr lang="en-US" sz="100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45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47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03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MOTION TYPES</a:t>
            </a:r>
            <a:endParaRPr lang="en-US" sz="1000" b="1" kern="0" spc="400" dirty="0">
              <a:solidFill>
                <a:srgbClr val="22D3EE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49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動きのつくり方は</a:t>
            </a:r>
            <a:r>
              <a:rPr lang="en-US" altLang="ja-JP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r>
              <a:rPr lang="ja-JP" alt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通り</a:t>
            </a:r>
            <a:endParaRPr lang="en-US" sz="2400" b="1" kern="0" dirty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50" name="tb"/>
          <p:cNvSpPr txBox="1"/>
          <p:nvPr/>
        </p:nvSpPr>
        <p:spPr>
          <a:xfrm>
            <a:off x="600000" y="117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動きの出どころで手法が変わる。目的に応じて使い分ける</a:t>
            </a:r>
            <a:endParaRPr lang="en-US" sz="1150" kern="0" dirty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51" name="rect"/>
          <p:cNvSpPr/>
          <p:nvPr/>
        </p:nvSpPr>
        <p:spPr>
          <a:xfrm>
            <a:off x="600000" y="1700000"/>
            <a:ext cx="2474666" cy="23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"/>
          <p:cNvSpPr/>
          <p:nvPr/>
        </p:nvSpPr>
        <p:spPr>
          <a:xfrm>
            <a:off x="600000" y="1700000"/>
            <a:ext cx="2474666" cy="8000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53" name="tb"/>
          <p:cNvSpPr txBox="1"/>
          <p:nvPr/>
        </p:nvSpPr>
        <p:spPr>
          <a:xfrm>
            <a:off x="860000" y="1840000"/>
            <a:ext cx="1954666" cy="20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 spc="2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手続きアニメ</a:t>
            </a:r>
            <a:endParaRPr lang="en-US" sz="1300" b="1" kern="0" spc="200" dirty="0">
              <a:solidFill>
                <a:srgbClr val="22D3EE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  <a:p>
            <a:pPr algn="l">
              <a:lnSpc>
                <a:spcPct val="110000"/>
              </a:lnSpc>
            </a:pPr>
            <a:r>
              <a:rPr lang="en-US" sz="17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コードで動かす</a:t>
            </a:r>
          </a:p>
          <a:p>
            <a:pPr algn="l">
              <a:lnSpc>
                <a:spcPct val="110000"/>
              </a:lnSpc>
            </a:pPr>
            <a:r>
              <a:rPr lang="en-US" sz="105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sin / cos </a:t>
            </a:r>
            <a:r>
              <a:rPr lang="ja-JP" altLang="en-US" sz="105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や加算で毎フレーム値を更新する</a:t>
            </a:r>
            <a:endParaRPr lang="en-US" sz="105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54" name="rect"/>
          <p:cNvSpPr/>
          <p:nvPr/>
        </p:nvSpPr>
        <p:spPr>
          <a:xfrm>
            <a:off x="3334666" y="1700000"/>
            <a:ext cx="2474666" cy="23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"/>
          <p:cNvSpPr/>
          <p:nvPr/>
        </p:nvSpPr>
        <p:spPr>
          <a:xfrm>
            <a:off x="3334666" y="1700000"/>
            <a:ext cx="2474666" cy="8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56" name="tb"/>
          <p:cNvSpPr txBox="1"/>
          <p:nvPr/>
        </p:nvSpPr>
        <p:spPr>
          <a:xfrm>
            <a:off x="3594666" y="1840000"/>
            <a:ext cx="1954666" cy="20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 spc="2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補間ライブラリ</a:t>
            </a:r>
            <a:endParaRPr lang="en-US" sz="1300" b="1" kern="0" spc="200" dirty="0">
              <a:solidFill>
                <a:srgbClr val="EC4899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  <a:p>
            <a:pPr algn="l">
              <a:lnSpc>
                <a:spcPct val="110000"/>
              </a:lnSpc>
            </a:pPr>
            <a:r>
              <a:rPr lang="en-US" sz="17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トゥイーン</a:t>
            </a:r>
          </a:p>
          <a:p>
            <a:pPr algn="l">
              <a:lnSpc>
                <a:spcPct val="110000"/>
              </a:lnSpc>
            </a:pPr>
            <a:r>
              <a:rPr lang="en-US" sz="105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GSAP / tween.js </a:t>
            </a:r>
            <a:r>
              <a:rPr lang="ja-JP" altLang="en-US" sz="105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で始点と終点をつなぐ</a:t>
            </a:r>
            <a:endParaRPr lang="en-US" sz="105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57" name="rect"/>
          <p:cNvSpPr/>
          <p:nvPr/>
        </p:nvSpPr>
        <p:spPr>
          <a:xfrm>
            <a:off x="6069332" y="1700000"/>
            <a:ext cx="2474666" cy="23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"/>
          <p:cNvSpPr/>
          <p:nvPr/>
        </p:nvSpPr>
        <p:spPr>
          <a:xfrm>
            <a:off x="6069332" y="1700000"/>
            <a:ext cx="2474666" cy="8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59" name="tb"/>
          <p:cNvSpPr txBox="1"/>
          <p:nvPr/>
        </p:nvSpPr>
        <p:spPr>
          <a:xfrm>
            <a:off x="6329332" y="1840000"/>
            <a:ext cx="1954666" cy="20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 spc="20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キーフレーム</a:t>
            </a:r>
            <a:endParaRPr lang="en-US" sz="1300" b="1" kern="0" spc="200" dirty="0">
              <a:solidFill>
                <a:srgbClr val="A3E635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  <a:p>
            <a:pPr algn="l">
              <a:lnSpc>
                <a:spcPct val="110000"/>
              </a:lnSpc>
            </a:pPr>
            <a:r>
              <a:rPr lang="en-US" sz="1700" b="1" kern="0" spc="20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DCC</a:t>
            </a:r>
            <a:r>
              <a:rPr lang="ja-JP" altLang="en-US" sz="1700" b="1" kern="0" spc="20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制作の動き</a:t>
            </a:r>
          </a:p>
          <a:p>
            <a:pPr algn="l">
              <a:lnSpc>
                <a:spcPct val="110000"/>
              </a:lnSpc>
            </a:pPr>
            <a:r>
              <a:rPr lang="en-US" sz="105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 </a:t>
            </a:r>
            <a:r>
              <a:rPr lang="ja-JP" altLang="en-US" sz="105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同梱クリップを </a:t>
            </a:r>
            <a:r>
              <a:rPr lang="en-US" sz="105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AnimationMixer </a:t>
            </a:r>
            <a:r>
              <a:rPr lang="ja-JP" altLang="en-US" sz="105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で再生</a:t>
            </a:r>
            <a:endParaRPr lang="en-US" sz="105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60" name="tb"/>
          <p:cNvSpPr txBox="1"/>
          <p:nvPr/>
        </p:nvSpPr>
        <p:spPr>
          <a:xfrm>
            <a:off x="600000" y="450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altLang="ja-JP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r>
              <a:rPr lang="ja-JP" alt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つを重ねて使うことで、演出の幅が一気に広がる</a:t>
            </a:r>
            <a:endParaRPr lang="en-US" sz="1000" kern="0" dirty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61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3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 dirty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BACKGROUND</a:t>
            </a:r>
          </a:p>
        </p:txBody>
      </p:sp>
    </p:spTree>
    <p:extLst>
      <p:ext uri="{BB962C8B-B14F-4D97-AF65-F5344CB8AC3E}">
        <p14:creationId xmlns:p14="http://schemas.microsoft.com/office/powerpoint/2010/main" val="1162674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OVERVIEW</a:t>
            </a:r>
          </a:p>
        </p:txBody>
      </p:sp>
      <p:sp>
        <p:nvSpPr>
          <p:cNvPr id="49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動きづくりの</a:t>
            </a:r>
            <a:r>
              <a:rPr lang="en-US" altLang="ja-JP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r>
              <a:rPr lang="ja-JP" alt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</a:t>
            </a:r>
            <a:endParaRPr lang="en-US" sz="2400" b="1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50" name="tb"/>
          <p:cNvSpPr txBox="1"/>
          <p:nvPr/>
        </p:nvSpPr>
        <p:spPr>
          <a:xfrm>
            <a:off x="600000" y="117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時間を測り、値を補間し、演出としてまとめるまでの流れ</a:t>
            </a:r>
          </a:p>
        </p:txBody>
      </p:sp>
      <p:sp>
        <p:nvSpPr>
          <p:cNvPr id="51" name="rect"/>
          <p:cNvSpPr/>
          <p:nvPr/>
        </p:nvSpPr>
        <p:spPr>
          <a:xfrm>
            <a:off x="600000" y="1700000"/>
            <a:ext cx="2474666" cy="23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"/>
          <p:cNvSpPr/>
          <p:nvPr/>
        </p:nvSpPr>
        <p:spPr>
          <a:xfrm>
            <a:off x="600000" y="1700000"/>
            <a:ext cx="2474666" cy="8000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53" name="tb"/>
          <p:cNvSpPr txBox="1"/>
          <p:nvPr/>
        </p:nvSpPr>
        <p:spPr>
          <a:xfrm>
            <a:off x="860000" y="1840000"/>
            <a:ext cx="1954666" cy="20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 spc="2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TIME</a:t>
            </a:r>
          </a:p>
          <a:p>
            <a:pPr algn="l">
              <a:lnSpc>
                <a:spcPct val="110000"/>
              </a:lnSpc>
            </a:pPr>
            <a:r>
              <a:rPr lang="en-US" sz="17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時間を測る</a:t>
            </a:r>
          </a:p>
          <a:p>
            <a:pPr algn="l">
              <a:lnSpc>
                <a:spcPct val="110000"/>
              </a:lnSpc>
            </a:pPr>
            <a:r>
              <a:rPr lang="en-US" sz="105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Clock </a:t>
            </a:r>
            <a:r>
              <a:rPr lang="ja-JP" altLang="en-US" sz="105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 </a:t>
            </a:r>
            <a:r>
              <a:rPr lang="en-US" sz="105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delta </a:t>
            </a:r>
            <a:r>
              <a:rPr lang="ja-JP" altLang="en-US" sz="105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で経過時間を取得する</a:t>
            </a:r>
            <a:endParaRPr lang="en-US" sz="105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54" name="rect"/>
          <p:cNvSpPr/>
          <p:nvPr/>
        </p:nvSpPr>
        <p:spPr>
          <a:xfrm>
            <a:off x="3334666" y="1700000"/>
            <a:ext cx="2474666" cy="23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"/>
          <p:cNvSpPr/>
          <p:nvPr/>
        </p:nvSpPr>
        <p:spPr>
          <a:xfrm>
            <a:off x="3334666" y="1700000"/>
            <a:ext cx="2474666" cy="8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56" name="tb"/>
          <p:cNvSpPr txBox="1"/>
          <p:nvPr/>
        </p:nvSpPr>
        <p:spPr>
          <a:xfrm>
            <a:off x="3594666" y="1840000"/>
            <a:ext cx="1954666" cy="20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 spc="2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INTERPOLATE</a:t>
            </a:r>
          </a:p>
          <a:p>
            <a:pPr algn="l">
              <a:lnSpc>
                <a:spcPct val="110000"/>
              </a:lnSpc>
            </a:pPr>
            <a:r>
              <a:rPr lang="en-US" sz="17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補間する</a:t>
            </a:r>
          </a:p>
          <a:p>
            <a:pPr algn="l">
              <a:lnSpc>
                <a:spcPct val="110000"/>
              </a:lnSpc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始点と終点の間をイージングでつなぐ</a:t>
            </a:r>
          </a:p>
        </p:txBody>
      </p:sp>
      <p:sp>
        <p:nvSpPr>
          <p:cNvPr id="57" name="rect"/>
          <p:cNvSpPr/>
          <p:nvPr/>
        </p:nvSpPr>
        <p:spPr>
          <a:xfrm>
            <a:off x="6069332" y="1700000"/>
            <a:ext cx="2474666" cy="23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"/>
          <p:cNvSpPr/>
          <p:nvPr/>
        </p:nvSpPr>
        <p:spPr>
          <a:xfrm>
            <a:off x="6069332" y="1700000"/>
            <a:ext cx="2474666" cy="8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59" name="tb"/>
          <p:cNvSpPr txBox="1"/>
          <p:nvPr/>
        </p:nvSpPr>
        <p:spPr>
          <a:xfrm>
            <a:off x="6329332" y="1840000"/>
            <a:ext cx="1954666" cy="202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 spc="20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DIRECT</a:t>
            </a:r>
          </a:p>
          <a:p>
            <a:pPr algn="l">
              <a:lnSpc>
                <a:spcPct val="110000"/>
              </a:lnSpc>
            </a:pPr>
            <a:r>
              <a:rPr lang="en-US" sz="17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演出する</a:t>
            </a:r>
          </a:p>
          <a:p>
            <a:pPr algn="l">
              <a:lnSpc>
                <a:spcPct val="110000"/>
              </a:lnSpc>
            </a:pPr>
            <a:r>
              <a:rPr lang="en-US" sz="10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複数の動きを重ねて登場シーンをつくる</a:t>
            </a:r>
          </a:p>
        </p:txBody>
      </p:sp>
      <p:sp>
        <p:nvSpPr>
          <p:cNvPr id="60" name="tb"/>
          <p:cNvSpPr txBox="1"/>
          <p:nvPr/>
        </p:nvSpPr>
        <p:spPr>
          <a:xfrm>
            <a:off x="600000" y="450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測る → 補間する → 演出する の流れで、動きに意図が宿る</a:t>
            </a:r>
          </a:p>
        </p:txBody>
      </p:sp>
      <p:sp>
        <p:nvSpPr>
          <p:cNvPr id="61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63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04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ELEMENT 01</a:t>
            </a:r>
          </a:p>
        </p:txBody>
      </p:sp>
      <p:sp>
        <p:nvSpPr>
          <p:cNvPr id="65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AnimationMixer — </a:t>
            </a:r>
            <a:r>
              <a:rPr lang="ja-JP" alt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クリップを再生する</a:t>
            </a:r>
            <a:endParaRPr lang="en-US" sz="2400" b="1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66" name="tb"/>
          <p:cNvSpPr txBox="1"/>
          <p:nvPr/>
        </p:nvSpPr>
        <p:spPr>
          <a:xfrm>
            <a:off x="600000" y="117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 </a:t>
            </a:r>
            <a:r>
              <a:rPr lang="ja-JP" alt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に同梱されたアニメーションを取り出して動かす</a:t>
            </a:r>
            <a:endParaRPr lang="en-US" sz="115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67" name="rect"/>
          <p:cNvSpPr/>
          <p:nvPr/>
        </p:nvSpPr>
        <p:spPr>
          <a:xfrm>
            <a:off x="600000" y="1560000"/>
            <a:ext cx="4700000" cy="2280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tb"/>
          <p:cNvSpPr txBox="1"/>
          <p:nvPr/>
        </p:nvSpPr>
        <p:spPr>
          <a:xfrm>
            <a:off x="750000" y="1710000"/>
            <a:ext cx="4400000" cy="19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mixer =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new THREE.AnimationMixer(gltf.scene);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action =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mixer.clipAction(gltf.animations[0]);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action.play();          // </a:t>
            </a:r>
            <a:r>
              <a:rPr lang="ja-JP" alt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再生開始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mixer.update(clock.getDelta());</a:t>
            </a:r>
          </a:p>
        </p:txBody>
      </p:sp>
      <p:sp>
        <p:nvSpPr>
          <p:cNvPr id="69" name="rect"/>
          <p:cNvSpPr/>
          <p:nvPr/>
        </p:nvSpPr>
        <p:spPr>
          <a:xfrm>
            <a:off x="5620000" y="156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"/>
          <p:cNvSpPr/>
          <p:nvPr/>
        </p:nvSpPr>
        <p:spPr>
          <a:xfrm>
            <a:off x="5620000" y="1560000"/>
            <a:ext cx="60000" cy="66000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71" name="tb"/>
          <p:cNvSpPr txBox="1"/>
          <p:nvPr/>
        </p:nvSpPr>
        <p:spPr>
          <a:xfrm>
            <a:off x="5820000" y="167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clipAction()</a:t>
            </a: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クリップから操作を得る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72" name="rect"/>
          <p:cNvSpPr/>
          <p:nvPr/>
        </p:nvSpPr>
        <p:spPr>
          <a:xfrm>
            <a:off x="5620000" y="232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"/>
          <p:cNvSpPr/>
          <p:nvPr/>
        </p:nvSpPr>
        <p:spPr>
          <a:xfrm>
            <a:off x="5620000" y="2320000"/>
            <a:ext cx="60000" cy="66000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74" name="tb"/>
          <p:cNvSpPr txBox="1"/>
          <p:nvPr/>
        </p:nvSpPr>
        <p:spPr>
          <a:xfrm>
            <a:off x="5820000" y="243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play() / stop()</a:t>
            </a: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再生と停止を制御する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75" name="rect"/>
          <p:cNvSpPr/>
          <p:nvPr/>
        </p:nvSpPr>
        <p:spPr>
          <a:xfrm>
            <a:off x="5620000" y="308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"/>
          <p:cNvSpPr/>
          <p:nvPr/>
        </p:nvSpPr>
        <p:spPr>
          <a:xfrm>
            <a:off x="5620000" y="3080000"/>
            <a:ext cx="60000" cy="66000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77" name="tb"/>
          <p:cNvSpPr txBox="1"/>
          <p:nvPr/>
        </p:nvSpPr>
        <p:spPr>
          <a:xfrm>
            <a:off x="5820000" y="319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mixer.update()</a:t>
            </a: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毎フレーム時間を送る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78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80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05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ELEMENT 02</a:t>
            </a:r>
          </a:p>
        </p:txBody>
      </p:sp>
      <p:sp>
        <p:nvSpPr>
          <p:cNvPr id="82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Clock — </a:t>
            </a:r>
            <a:r>
              <a:rPr lang="ja-JP" alt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時間を基準にする</a:t>
            </a:r>
            <a:endParaRPr lang="en-US" sz="2400" b="1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83" name="tb"/>
          <p:cNvSpPr txBox="1"/>
          <p:nvPr/>
        </p:nvSpPr>
        <p:spPr>
          <a:xfrm>
            <a:off x="600000" y="117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フレームレートに左右されない動きをつくる</a:t>
            </a:r>
          </a:p>
        </p:txBody>
      </p:sp>
      <p:sp>
        <p:nvSpPr>
          <p:cNvPr id="84" name="rect"/>
          <p:cNvSpPr/>
          <p:nvPr/>
        </p:nvSpPr>
        <p:spPr>
          <a:xfrm>
            <a:off x="600000" y="1560000"/>
            <a:ext cx="4700000" cy="2280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tb"/>
          <p:cNvSpPr txBox="1"/>
          <p:nvPr/>
        </p:nvSpPr>
        <p:spPr>
          <a:xfrm>
            <a:off x="750000" y="1710000"/>
            <a:ext cx="4400000" cy="19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clock = new THREE.Clock();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function animate() {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const dt = clock.getDelta();   // </a:t>
            </a:r>
            <a:r>
              <a:rPr lang="ja-JP" alt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経過秒</a:t>
            </a:r>
          </a:p>
          <a:p>
            <a:pPr algn="l">
              <a:lnSpc>
                <a:spcPct val="135000"/>
              </a:lnSpc>
            </a:pPr>
            <a:r>
              <a:rPr lang="ja-JP" altLang="en-US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</a:t>
            </a:r>
            <a:r>
              <a:rPr lang="en-US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mesh.rotation.y += 1.2 * dt;   // </a:t>
            </a:r>
            <a:r>
              <a:rPr lang="ja-JP" altLang="en-US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速度</a:t>
            </a:r>
            <a:r>
              <a:rPr lang="en-US" altLang="ja-JP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×</a:t>
            </a:r>
            <a:r>
              <a:rPr lang="ja-JP" altLang="en-US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時間</a:t>
            </a:r>
          </a:p>
          <a:p>
            <a:pPr algn="l">
              <a:lnSpc>
                <a:spcPct val="135000"/>
              </a:lnSpc>
            </a:pPr>
            <a:r>
              <a:rPr lang="ja-JP" alt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</a:t>
            </a: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mixer.update(dt);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renderer.render(scene, camera);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}</a:t>
            </a:r>
          </a:p>
        </p:txBody>
      </p:sp>
      <p:sp>
        <p:nvSpPr>
          <p:cNvPr id="86" name="rect"/>
          <p:cNvSpPr/>
          <p:nvPr/>
        </p:nvSpPr>
        <p:spPr>
          <a:xfrm>
            <a:off x="5620000" y="156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7" name="rect"/>
          <p:cNvSpPr/>
          <p:nvPr/>
        </p:nvSpPr>
        <p:spPr>
          <a:xfrm>
            <a:off x="5620000" y="1560000"/>
            <a:ext cx="60000" cy="66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88" name="tb"/>
          <p:cNvSpPr txBox="1"/>
          <p:nvPr/>
        </p:nvSpPr>
        <p:spPr>
          <a:xfrm>
            <a:off x="5820000" y="167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getDelta()</a:t>
            </a: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前フレームからの秒数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89" name="rect"/>
          <p:cNvSpPr/>
          <p:nvPr/>
        </p:nvSpPr>
        <p:spPr>
          <a:xfrm>
            <a:off x="5620000" y="232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" name="rect"/>
          <p:cNvSpPr/>
          <p:nvPr/>
        </p:nvSpPr>
        <p:spPr>
          <a:xfrm>
            <a:off x="5620000" y="2320000"/>
            <a:ext cx="60000" cy="66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91" name="tb"/>
          <p:cNvSpPr txBox="1"/>
          <p:nvPr/>
        </p:nvSpPr>
        <p:spPr>
          <a:xfrm>
            <a:off x="5820000" y="243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getElapsedTime()</a:t>
            </a: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開始からの合計秒数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92" name="rect"/>
          <p:cNvSpPr/>
          <p:nvPr/>
        </p:nvSpPr>
        <p:spPr>
          <a:xfrm>
            <a:off x="5620000" y="308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3" name="rect"/>
          <p:cNvSpPr/>
          <p:nvPr/>
        </p:nvSpPr>
        <p:spPr>
          <a:xfrm>
            <a:off x="5620000" y="3080000"/>
            <a:ext cx="60000" cy="66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94" name="tb"/>
          <p:cNvSpPr txBox="1"/>
          <p:nvPr/>
        </p:nvSpPr>
        <p:spPr>
          <a:xfrm>
            <a:off x="5820000" y="319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115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速度 </a:t>
            </a:r>
            <a:r>
              <a:rPr lang="en-US" altLang="ja-JP" sz="115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× </a:t>
            </a:r>
            <a:r>
              <a:rPr lang="en-US" sz="115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dt</a:t>
            </a: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端末差をなくす基本形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95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97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06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ELEMENT 03</a:t>
            </a:r>
          </a:p>
        </p:txBody>
      </p:sp>
      <p:sp>
        <p:nvSpPr>
          <p:cNvPr id="99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GSAP / tween.js — </a:t>
            </a:r>
            <a:r>
              <a:rPr lang="ja-JP" alt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補間で演出する</a:t>
            </a:r>
            <a:endParaRPr lang="en-US" sz="2400" b="1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00" name="tb"/>
          <p:cNvSpPr txBox="1"/>
          <p:nvPr/>
        </p:nvSpPr>
        <p:spPr>
          <a:xfrm>
            <a:off x="600000" y="117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始点と終点を指定し、</a:t>
            </a: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Easing </a:t>
            </a:r>
            <a:r>
              <a:rPr lang="ja-JP" alt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でなめらかにつなぐ</a:t>
            </a:r>
            <a:endParaRPr lang="en-US" sz="1150" kern="0" dirty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01" name="rect"/>
          <p:cNvSpPr/>
          <p:nvPr/>
        </p:nvSpPr>
        <p:spPr>
          <a:xfrm>
            <a:off x="600000" y="1560000"/>
            <a:ext cx="4700000" cy="2280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tb"/>
          <p:cNvSpPr txBox="1"/>
          <p:nvPr/>
        </p:nvSpPr>
        <p:spPr>
          <a:xfrm>
            <a:off x="750000" y="1710000"/>
            <a:ext cx="4400000" cy="19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import gsap from 'gsap';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lang="en-US" sz="7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gsap.to(model.position, {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y: 1.5,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duration: 1.2,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ease: 'power2.out',   // </a:t>
            </a:r>
            <a:r>
              <a:rPr lang="ja-JP" alt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減速して着地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});</a:t>
            </a:r>
          </a:p>
        </p:txBody>
      </p:sp>
      <p:sp>
        <p:nvSpPr>
          <p:cNvPr id="103" name="rect"/>
          <p:cNvSpPr/>
          <p:nvPr/>
        </p:nvSpPr>
        <p:spPr>
          <a:xfrm>
            <a:off x="5620000" y="156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"/>
          <p:cNvSpPr/>
          <p:nvPr/>
        </p:nvSpPr>
        <p:spPr>
          <a:xfrm>
            <a:off x="5620000" y="1560000"/>
            <a:ext cx="60000" cy="66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105" name="tb"/>
          <p:cNvSpPr txBox="1"/>
          <p:nvPr/>
        </p:nvSpPr>
        <p:spPr>
          <a:xfrm>
            <a:off x="5820000" y="167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duration</a:t>
            </a: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変化にかける時間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06" name="rect"/>
          <p:cNvSpPr/>
          <p:nvPr/>
        </p:nvSpPr>
        <p:spPr>
          <a:xfrm>
            <a:off x="5620000" y="232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rect"/>
          <p:cNvSpPr/>
          <p:nvPr/>
        </p:nvSpPr>
        <p:spPr>
          <a:xfrm>
            <a:off x="5620000" y="2320000"/>
            <a:ext cx="60000" cy="66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108" name="tb"/>
          <p:cNvSpPr txBox="1"/>
          <p:nvPr/>
        </p:nvSpPr>
        <p:spPr>
          <a:xfrm>
            <a:off x="5820000" y="243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ease</a:t>
            </a: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変化の速度カーブ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09" name="rect"/>
          <p:cNvSpPr/>
          <p:nvPr/>
        </p:nvSpPr>
        <p:spPr>
          <a:xfrm>
            <a:off x="5620000" y="3080000"/>
            <a:ext cx="2924000" cy="6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rect"/>
          <p:cNvSpPr/>
          <p:nvPr/>
        </p:nvSpPr>
        <p:spPr>
          <a:xfrm>
            <a:off x="5620000" y="3080000"/>
            <a:ext cx="60000" cy="66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111" name="tb"/>
          <p:cNvSpPr txBox="1"/>
          <p:nvPr/>
        </p:nvSpPr>
        <p:spPr>
          <a:xfrm>
            <a:off x="5820000" y="3190000"/>
            <a:ext cx="256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delay / onComplete</a:t>
            </a:r>
            <a:endParaRPr lang="en-US" sz="1150" b="1" kern="0" dirty="0">
              <a:solidFill>
                <a:srgbClr val="A3E635"/>
              </a:solidFill>
              <a:latin typeface="Consolas" pitchFamily="34" charset="0"/>
              <a:ea typeface="Yu Gothic UI" pitchFamily="34" charset="-122"/>
              <a:cs typeface="Consolas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順番と後処理をつなぐ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12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3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114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07 / 18</a:t>
            </a:r>
          </a:p>
        </p:txBody>
      </p:sp>
    </p:spTree>
    <p:extLst>
      <p:ext uri="{BB962C8B-B14F-4D97-AF65-F5344CB8AC3E}">
        <p14:creationId xmlns:p14="http://schemas.microsoft.com/office/powerpoint/2010/main" val="2652642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b"/>
          <p:cNvSpPr txBox="1"/>
          <p:nvPr/>
        </p:nvSpPr>
        <p:spPr>
          <a:xfrm>
            <a:off x="600000" y="155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 spc="4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PART 02</a:t>
            </a:r>
          </a:p>
        </p:txBody>
      </p:sp>
      <p:sp>
        <p:nvSpPr>
          <p:cNvPr id="116" name="tb"/>
          <p:cNvSpPr txBox="1"/>
          <p:nvPr/>
        </p:nvSpPr>
        <p:spPr>
          <a:xfrm>
            <a:off x="600000" y="1950000"/>
            <a:ext cx="7944000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42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動きを演出する</a:t>
            </a:r>
          </a:p>
        </p:txBody>
      </p:sp>
      <p:sp>
        <p:nvSpPr>
          <p:cNvPr id="117" name="ln"/>
          <p:cNvSpPr/>
          <p:nvPr/>
        </p:nvSpPr>
        <p:spPr>
          <a:xfrm>
            <a:off x="600000" y="2820000"/>
            <a:ext cx="2600000" cy="0"/>
          </a:xfrm>
          <a:prstGeom prst="line">
            <a:avLst/>
          </a:prstGeom>
          <a:ln w="19050">
            <a:solidFill>
              <a:srgbClr val="EC48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8" name="tb"/>
          <p:cNvSpPr txBox="1"/>
          <p:nvPr/>
        </p:nvSpPr>
        <p:spPr>
          <a:xfrm>
            <a:off x="600000" y="2980000"/>
            <a:ext cx="7944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複数の動きを重ね、シーンとして見せる方法を学ぶ</a:t>
            </a:r>
          </a:p>
        </p:txBody>
      </p:sp>
      <p:sp>
        <p:nvSpPr>
          <p:cNvPr id="119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121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08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CONCEPT</a:t>
            </a:r>
          </a:p>
        </p:txBody>
      </p:sp>
      <p:sp>
        <p:nvSpPr>
          <p:cNvPr id="123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アニメーション </a:t>
            </a:r>
            <a:r>
              <a:rPr lang="en-US" altLang="ja-JP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= </a:t>
            </a: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Time × Interpolation × Easing</a:t>
            </a:r>
          </a:p>
        </p:txBody>
      </p:sp>
      <p:sp>
        <p:nvSpPr>
          <p:cNvPr id="124" name="rect"/>
          <p:cNvSpPr/>
          <p:nvPr/>
        </p:nvSpPr>
        <p:spPr>
          <a:xfrm>
            <a:off x="600000" y="1720000"/>
            <a:ext cx="2261333" cy="23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5" name="tb"/>
          <p:cNvSpPr txBox="1"/>
          <p:nvPr/>
        </p:nvSpPr>
        <p:spPr>
          <a:xfrm>
            <a:off x="780000" y="1880000"/>
            <a:ext cx="1901333" cy="20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15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Time</a:t>
            </a:r>
          </a:p>
          <a:p>
            <a:pPr algn="ctr">
              <a:lnSpc>
                <a:spcPct val="110000"/>
              </a:lnSpc>
            </a:pPr>
            <a:r>
              <a:rPr lang="en-US" sz="12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</a:t>
            </a:r>
          </a:p>
          <a:p>
            <a:pPr algn="ctr">
              <a:lnSpc>
                <a:spcPct val="110000"/>
              </a:lnSpc>
            </a:pPr>
            <a:r>
              <a:rPr lang="en-US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delta </a:t>
            </a:r>
            <a:r>
              <a:rPr lang="ja-JP" altLang="en-US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で経過を測り</a:t>
            </a:r>
          </a:p>
          <a:p>
            <a:pPr algn="ctr">
              <a:lnSpc>
                <a:spcPct val="110000"/>
              </a:lnSpc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端末差をなくす</a:t>
            </a:r>
          </a:p>
        </p:txBody>
      </p:sp>
      <p:sp>
        <p:nvSpPr>
          <p:cNvPr id="126" name="tb"/>
          <p:cNvSpPr txBox="1"/>
          <p:nvPr/>
        </p:nvSpPr>
        <p:spPr>
          <a:xfrm>
            <a:off x="3011333" y="1720000"/>
            <a:ext cx="580000" cy="235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6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</a:p>
        </p:txBody>
      </p:sp>
      <p:sp>
        <p:nvSpPr>
          <p:cNvPr id="127" name="rect"/>
          <p:cNvSpPr/>
          <p:nvPr/>
        </p:nvSpPr>
        <p:spPr>
          <a:xfrm>
            <a:off x="3441333" y="1720000"/>
            <a:ext cx="2261333" cy="23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8" name="tb"/>
          <p:cNvSpPr txBox="1"/>
          <p:nvPr/>
        </p:nvSpPr>
        <p:spPr>
          <a:xfrm>
            <a:off x="3621333" y="1880000"/>
            <a:ext cx="1901333" cy="20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155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Interpolation</a:t>
            </a:r>
          </a:p>
          <a:p>
            <a:pPr algn="ctr">
              <a:lnSpc>
                <a:spcPct val="110000"/>
              </a:lnSpc>
            </a:pPr>
            <a:r>
              <a:rPr lang="en-US" sz="12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補間</a:t>
            </a:r>
          </a:p>
          <a:p>
            <a:pPr algn="ctr">
              <a:lnSpc>
                <a:spcPct val="110000"/>
              </a:lnSpc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始点と終点の間を</a:t>
            </a:r>
          </a:p>
          <a:p>
            <a:pPr algn="ctr">
              <a:lnSpc>
                <a:spcPct val="110000"/>
              </a:lnSpc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連続した値で埋める</a:t>
            </a:r>
          </a:p>
        </p:txBody>
      </p:sp>
      <p:sp>
        <p:nvSpPr>
          <p:cNvPr id="129" name="tb"/>
          <p:cNvSpPr txBox="1"/>
          <p:nvPr/>
        </p:nvSpPr>
        <p:spPr>
          <a:xfrm>
            <a:off x="5852666" y="1720000"/>
            <a:ext cx="580000" cy="235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6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×</a:t>
            </a:r>
          </a:p>
        </p:txBody>
      </p:sp>
      <p:sp>
        <p:nvSpPr>
          <p:cNvPr id="130" name="rect"/>
          <p:cNvSpPr/>
          <p:nvPr/>
        </p:nvSpPr>
        <p:spPr>
          <a:xfrm>
            <a:off x="6282666" y="1720000"/>
            <a:ext cx="2261333" cy="23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" name="tb"/>
          <p:cNvSpPr txBox="1"/>
          <p:nvPr/>
        </p:nvSpPr>
        <p:spPr>
          <a:xfrm>
            <a:off x="6462666" y="1880000"/>
            <a:ext cx="1901333" cy="203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155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Easing</a:t>
            </a:r>
          </a:p>
          <a:p>
            <a:pPr algn="ctr">
              <a:lnSpc>
                <a:spcPct val="110000"/>
              </a:lnSpc>
            </a:pPr>
            <a:r>
              <a:rPr lang="en-US" sz="12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緩急</a:t>
            </a:r>
          </a:p>
          <a:p>
            <a:pPr algn="ctr">
              <a:lnSpc>
                <a:spcPct val="110000"/>
              </a:lnSpc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速度カーブで</a:t>
            </a:r>
          </a:p>
          <a:p>
            <a:pPr algn="ctr">
              <a:lnSpc>
                <a:spcPct val="110000"/>
              </a:lnSpc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印象と意図を決める</a:t>
            </a:r>
          </a:p>
        </p:txBody>
      </p:sp>
      <p:sp>
        <p:nvSpPr>
          <p:cNvPr id="132" name="tb"/>
          <p:cNvSpPr txBox="1"/>
          <p:nvPr/>
        </p:nvSpPr>
        <p:spPr>
          <a:xfrm>
            <a:off x="600000" y="450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altLang="ja-JP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r>
              <a:rPr lang="ja-JP" alt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つがそろって初めて、機械的な移動が「演出」になる</a:t>
            </a:r>
            <a:endParaRPr lang="en-US" sz="100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33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4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135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09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COMPARE</a:t>
            </a:r>
          </a:p>
        </p:txBody>
      </p:sp>
      <p:sp>
        <p:nvSpPr>
          <p:cNvPr id="137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AnimationMixer </a:t>
            </a:r>
            <a:r>
              <a:rPr lang="ja-JP" alt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と </a:t>
            </a: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GSAP </a:t>
            </a:r>
            <a:r>
              <a:rPr lang="ja-JP" alt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を使い分ける</a:t>
            </a:r>
            <a:endParaRPr lang="en-US" sz="2400" b="1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38" name="rect"/>
          <p:cNvSpPr/>
          <p:nvPr/>
        </p:nvSpPr>
        <p:spPr>
          <a:xfrm>
            <a:off x="600000" y="1560000"/>
            <a:ext cx="3822000" cy="278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9" name="rect"/>
          <p:cNvSpPr/>
          <p:nvPr/>
        </p:nvSpPr>
        <p:spPr>
          <a:xfrm>
            <a:off x="600000" y="1560000"/>
            <a:ext cx="3822000" cy="8000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140" name="tb"/>
          <p:cNvSpPr txBox="1"/>
          <p:nvPr/>
        </p:nvSpPr>
        <p:spPr>
          <a:xfrm>
            <a:off x="900000" y="1880000"/>
            <a:ext cx="322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90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AnimationMixer</a:t>
            </a:r>
          </a:p>
        </p:txBody>
      </p:sp>
      <p:sp>
        <p:nvSpPr>
          <p:cNvPr id="141" name="tb"/>
          <p:cNvSpPr txBox="1"/>
          <p:nvPr/>
        </p:nvSpPr>
        <p:spPr>
          <a:xfrm>
            <a:off x="900000" y="2560000"/>
            <a:ext cx="3222000" cy="5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用途</a:t>
            </a:r>
          </a:p>
          <a:p>
            <a:pPr algn="l">
              <a:lnSpc>
                <a:spcPct val="110000"/>
              </a:lnSpc>
            </a:pPr>
            <a:r>
              <a:rPr lang="en-US" sz="12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モデル同梱の動きを再生</a:t>
            </a:r>
          </a:p>
        </p:txBody>
      </p:sp>
      <p:sp>
        <p:nvSpPr>
          <p:cNvPr id="142" name="tb"/>
          <p:cNvSpPr txBox="1"/>
          <p:nvPr/>
        </p:nvSpPr>
        <p:spPr>
          <a:xfrm>
            <a:off x="900000" y="3160000"/>
            <a:ext cx="3222000" cy="5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素材</a:t>
            </a:r>
          </a:p>
          <a:p>
            <a:pPr algn="l">
              <a:lnSpc>
                <a:spcPct val="110000"/>
              </a:lnSpc>
            </a:pPr>
            <a:r>
              <a:rPr lang="en-US" sz="1200" b="1" kern="0" spc="20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glTF </a:t>
            </a:r>
            <a:r>
              <a:rPr lang="ja-JP" altLang="en-US" sz="1200" b="1" kern="0" spc="20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のキーフレーム</a:t>
            </a:r>
            <a:endParaRPr lang="en-US" sz="12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43" name="tb"/>
          <p:cNvSpPr txBox="1"/>
          <p:nvPr/>
        </p:nvSpPr>
        <p:spPr>
          <a:xfrm>
            <a:off x="900000" y="3760000"/>
            <a:ext cx="3222000" cy="5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特徴</a:t>
            </a:r>
          </a:p>
          <a:p>
            <a:pPr algn="l">
              <a:lnSpc>
                <a:spcPct val="110000"/>
              </a:lnSpc>
            </a:pPr>
            <a:r>
              <a:rPr lang="en-US" sz="12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歩く・手を振るなど複雑な動き</a:t>
            </a:r>
          </a:p>
        </p:txBody>
      </p:sp>
      <p:sp>
        <p:nvSpPr>
          <p:cNvPr id="144" name="rect"/>
          <p:cNvSpPr/>
          <p:nvPr/>
        </p:nvSpPr>
        <p:spPr>
          <a:xfrm>
            <a:off x="4722000" y="1560000"/>
            <a:ext cx="3822000" cy="278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5" name="rect"/>
          <p:cNvSpPr/>
          <p:nvPr/>
        </p:nvSpPr>
        <p:spPr>
          <a:xfrm>
            <a:off x="4722000" y="1560000"/>
            <a:ext cx="3822000" cy="8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146" name="tb"/>
          <p:cNvSpPr txBox="1"/>
          <p:nvPr/>
        </p:nvSpPr>
        <p:spPr>
          <a:xfrm>
            <a:off x="5022000" y="1880000"/>
            <a:ext cx="322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900" b="1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GSAP / tween.js</a:t>
            </a:r>
          </a:p>
        </p:txBody>
      </p:sp>
      <p:sp>
        <p:nvSpPr>
          <p:cNvPr id="147" name="tb"/>
          <p:cNvSpPr txBox="1"/>
          <p:nvPr/>
        </p:nvSpPr>
        <p:spPr>
          <a:xfrm>
            <a:off x="5022000" y="2560000"/>
            <a:ext cx="3222000" cy="5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用途</a:t>
            </a:r>
          </a:p>
          <a:p>
            <a:pPr algn="l">
              <a:lnSpc>
                <a:spcPct val="110000"/>
              </a:lnSpc>
            </a:pPr>
            <a:r>
              <a:rPr lang="en-US" sz="12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位置・不透明度などの演出</a:t>
            </a:r>
          </a:p>
        </p:txBody>
      </p:sp>
      <p:sp>
        <p:nvSpPr>
          <p:cNvPr id="148" name="tb"/>
          <p:cNvSpPr txBox="1"/>
          <p:nvPr/>
        </p:nvSpPr>
        <p:spPr>
          <a:xfrm>
            <a:off x="5022000" y="3160000"/>
            <a:ext cx="3222000" cy="5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素材</a:t>
            </a:r>
          </a:p>
          <a:p>
            <a:pPr algn="l">
              <a:lnSpc>
                <a:spcPct val="110000"/>
              </a:lnSpc>
            </a:pPr>
            <a:r>
              <a:rPr lang="en-US" sz="12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コードで書く始点と終点</a:t>
            </a:r>
          </a:p>
        </p:txBody>
      </p:sp>
      <p:sp>
        <p:nvSpPr>
          <p:cNvPr id="149" name="tb"/>
          <p:cNvSpPr txBox="1"/>
          <p:nvPr/>
        </p:nvSpPr>
        <p:spPr>
          <a:xfrm>
            <a:off x="5022000" y="3760000"/>
            <a:ext cx="3222000" cy="5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20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特徴</a:t>
            </a:r>
          </a:p>
          <a:p>
            <a:pPr algn="l">
              <a:lnSpc>
                <a:spcPct val="110000"/>
              </a:lnSpc>
            </a:pPr>
            <a:r>
              <a:rPr lang="en-US" sz="1200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イージングを細かく設計できる</a:t>
            </a:r>
          </a:p>
        </p:txBody>
      </p:sp>
      <p:sp>
        <p:nvSpPr>
          <p:cNvPr id="150" name="tb"/>
          <p:cNvSpPr txBox="1"/>
          <p:nvPr/>
        </p:nvSpPr>
        <p:spPr>
          <a:xfrm>
            <a:off x="600000" y="450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キャラの動きは </a:t>
            </a: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Mixer、</a:t>
            </a:r>
            <a:r>
              <a:rPr lang="ja-JP" alt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登場やカメラの演出は </a:t>
            </a: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GSAP </a:t>
            </a:r>
            <a:r>
              <a:rPr lang="ja-JP" alt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が扱いやすい</a:t>
            </a:r>
            <a:endParaRPr lang="en-US" sz="100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51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2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153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CYCLE</a:t>
            </a:r>
          </a:p>
        </p:txBody>
      </p:sp>
      <p:sp>
        <p:nvSpPr>
          <p:cNvPr id="155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周期的な動き：</a:t>
            </a: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sin </a:t>
            </a:r>
            <a:r>
              <a:rPr lang="ja-JP" alt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と </a:t>
            </a: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cos</a:t>
            </a:r>
          </a:p>
        </p:txBody>
      </p:sp>
      <p:sp>
        <p:nvSpPr>
          <p:cNvPr id="156" name="tb"/>
          <p:cNvSpPr txBox="1"/>
          <p:nvPr/>
        </p:nvSpPr>
        <p:spPr>
          <a:xfrm>
            <a:off x="600000" y="117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三角関数で、止まらず往復し続ける動きをつくる</a:t>
            </a:r>
          </a:p>
        </p:txBody>
      </p:sp>
      <p:sp>
        <p:nvSpPr>
          <p:cNvPr id="157" name="rect"/>
          <p:cNvSpPr/>
          <p:nvPr/>
        </p:nvSpPr>
        <p:spPr>
          <a:xfrm>
            <a:off x="600000" y="1600000"/>
            <a:ext cx="2394666" cy="10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8" name="rect"/>
          <p:cNvSpPr/>
          <p:nvPr/>
        </p:nvSpPr>
        <p:spPr>
          <a:xfrm>
            <a:off x="600000" y="1600000"/>
            <a:ext cx="60000" cy="1000000"/>
          </a:xfrm>
          <a:prstGeom prst="rect">
            <a:avLst/>
          </a:prstGeom>
          <a:solidFill>
            <a:srgbClr val="22D3EE"/>
          </a:solidFill>
        </p:spPr>
        <p:txBody>
          <a:bodyPr/>
          <a:lstStyle/>
          <a:p>
            <a:endParaRPr lang="en-US"/>
          </a:p>
        </p:txBody>
      </p:sp>
      <p:sp>
        <p:nvSpPr>
          <p:cNvPr id="159" name="tb"/>
          <p:cNvSpPr txBox="1"/>
          <p:nvPr/>
        </p:nvSpPr>
        <p:spPr>
          <a:xfrm>
            <a:off x="800000" y="1780000"/>
            <a:ext cx="2034666" cy="6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時間を取る</a:t>
            </a:r>
          </a:p>
          <a:p>
            <a:pPr algn="l">
              <a:lnSpc>
                <a:spcPct val="110000"/>
              </a:lnSpc>
            </a:pPr>
            <a:r>
              <a:rPr lang="en-US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getElapsedTime </a:t>
            </a:r>
            <a:r>
              <a:rPr lang="ja-JP" altLang="en-US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で経過秒</a:t>
            </a:r>
            <a:endParaRPr lang="en-US" sz="100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60" name="tb"/>
          <p:cNvSpPr txBox="1"/>
          <p:nvPr/>
        </p:nvSpPr>
        <p:spPr>
          <a:xfrm>
            <a:off x="2994666" y="1600000"/>
            <a:ext cx="5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</a:p>
        </p:txBody>
      </p:sp>
      <p:sp>
        <p:nvSpPr>
          <p:cNvPr id="161" name="rect"/>
          <p:cNvSpPr/>
          <p:nvPr/>
        </p:nvSpPr>
        <p:spPr>
          <a:xfrm>
            <a:off x="3494666" y="1600000"/>
            <a:ext cx="2394666" cy="10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2" name="rect"/>
          <p:cNvSpPr/>
          <p:nvPr/>
        </p:nvSpPr>
        <p:spPr>
          <a:xfrm>
            <a:off x="3494666" y="1600000"/>
            <a:ext cx="60000" cy="100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163" name="tb"/>
          <p:cNvSpPr txBox="1"/>
          <p:nvPr/>
        </p:nvSpPr>
        <p:spPr>
          <a:xfrm>
            <a:off x="3694666" y="1780000"/>
            <a:ext cx="2034666" cy="6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波にする</a:t>
            </a:r>
          </a:p>
          <a:p>
            <a:pPr algn="l">
              <a:lnSpc>
                <a:spcPct val="110000"/>
              </a:lnSpc>
            </a:pPr>
            <a:r>
              <a:rPr lang="en-US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sin </a:t>
            </a:r>
            <a:r>
              <a:rPr lang="ja-JP" altLang="en-US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 </a:t>
            </a:r>
            <a:r>
              <a:rPr lang="en-US" altLang="ja-JP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-1〜1 </a:t>
            </a:r>
            <a:r>
              <a:rPr lang="ja-JP" altLang="en-US" sz="1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を往復させる</a:t>
            </a:r>
            <a:endParaRPr lang="en-US" sz="100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64" name="tb"/>
          <p:cNvSpPr txBox="1"/>
          <p:nvPr/>
        </p:nvSpPr>
        <p:spPr>
          <a:xfrm>
            <a:off x="5889332" y="1600000"/>
            <a:ext cx="500000" cy="10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</a:p>
        </p:txBody>
      </p:sp>
      <p:sp>
        <p:nvSpPr>
          <p:cNvPr id="165" name="rect"/>
          <p:cNvSpPr/>
          <p:nvPr/>
        </p:nvSpPr>
        <p:spPr>
          <a:xfrm>
            <a:off x="6389332" y="1600000"/>
            <a:ext cx="2394666" cy="10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6" name="rect"/>
          <p:cNvSpPr/>
          <p:nvPr/>
        </p:nvSpPr>
        <p:spPr>
          <a:xfrm>
            <a:off x="6389332" y="1600000"/>
            <a:ext cx="60000" cy="100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167" name="tb"/>
          <p:cNvSpPr txBox="1"/>
          <p:nvPr/>
        </p:nvSpPr>
        <p:spPr>
          <a:xfrm>
            <a:off x="6589332" y="1780000"/>
            <a:ext cx="2034666" cy="6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振幅と周期</a:t>
            </a: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係数で幅と速さを決める</a:t>
            </a:r>
          </a:p>
        </p:txBody>
      </p:sp>
      <p:sp>
        <p:nvSpPr>
          <p:cNvPr id="168" name="rect"/>
          <p:cNvSpPr/>
          <p:nvPr/>
        </p:nvSpPr>
        <p:spPr>
          <a:xfrm>
            <a:off x="600000" y="2800000"/>
            <a:ext cx="7944000" cy="1350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9" name="tb"/>
          <p:cNvSpPr txBox="1"/>
          <p:nvPr/>
        </p:nvSpPr>
        <p:spPr>
          <a:xfrm>
            <a:off x="750000" y="2950000"/>
            <a:ext cx="7644000" cy="10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t = clock.getElapsedTime();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mesh.position.y = Math.sin(t * 2) * 0.5;   // </a:t>
            </a:r>
            <a:r>
              <a:rPr lang="ja-JP" alt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上下に浮遊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mesh.rotation.y = t * 0.4;                 // </a:t>
            </a:r>
            <a:r>
              <a:rPr lang="ja-JP" altLang="en-US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ゆっくり回転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light.position.x = Math.cos(t) * 3;        // </a:t>
            </a:r>
            <a:r>
              <a:rPr lang="ja-JP" alt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光を回す</a:t>
            </a:r>
            <a:endParaRPr lang="en-US" sz="1050" kern="0">
              <a:solidFill>
                <a:srgbClr val="22D3EE"/>
              </a:solidFill>
              <a:latin typeface="Consolas" pitchFamily="34" charset="0"/>
              <a:ea typeface="Yu Gothic UI" pitchFamily="34" charset="-122"/>
              <a:cs typeface="Consolas" pitchFamily="34" charset="0"/>
            </a:endParaRPr>
          </a:p>
        </p:txBody>
      </p:sp>
      <p:sp>
        <p:nvSpPr>
          <p:cNvPr id="170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1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172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CODE</a:t>
            </a:r>
          </a:p>
        </p:txBody>
      </p:sp>
      <p:sp>
        <p:nvSpPr>
          <p:cNvPr id="174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最小コードで動きを演出</a:t>
            </a:r>
          </a:p>
        </p:txBody>
      </p:sp>
      <p:sp>
        <p:nvSpPr>
          <p:cNvPr id="175" name="rect"/>
          <p:cNvSpPr/>
          <p:nvPr/>
        </p:nvSpPr>
        <p:spPr>
          <a:xfrm>
            <a:off x="600000" y="1520000"/>
            <a:ext cx="7944000" cy="2900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6" name="tb"/>
          <p:cNvSpPr txBox="1"/>
          <p:nvPr/>
        </p:nvSpPr>
        <p:spPr>
          <a:xfrm>
            <a:off x="750000" y="1670000"/>
            <a:ext cx="7644000" cy="2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import * as THREE from 'three';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import gsap from 'gsap';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clock = new THREE.Clock();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mixer = new THREE.AnimationMixer(model);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mixer.clipAction(gltf.animations[0]).play();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gsap.from(model.position, { y: -2, duration: 1.2, ease: 'power3.out' });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gsap.from(model.scale, { x: 0, y: 0, z: 0, duration: 1, ease: 'back.out' });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(function loop(){ mixer.update(clock.getDelta());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94A3B8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renderer.render(scene, camera); requestAnimationFrame(loop); })();</a:t>
            </a:r>
            <a:endParaRPr lang="en-US" sz="1050" kern="0">
              <a:solidFill>
                <a:srgbClr val="22D3EE"/>
              </a:solidFill>
              <a:latin typeface="Consolas" pitchFamily="34" charset="0"/>
              <a:ea typeface="Yu Gothic UI" pitchFamily="34" charset="-122"/>
              <a:cs typeface="Consolas" pitchFamily="34" charset="0"/>
            </a:endParaRPr>
          </a:p>
        </p:txBody>
      </p:sp>
      <p:sp>
        <p:nvSpPr>
          <p:cNvPr id="177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8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179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FLOW</a:t>
            </a:r>
          </a:p>
        </p:txBody>
      </p:sp>
      <p:sp>
        <p:nvSpPr>
          <p:cNvPr id="181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演出づくりの流れ</a:t>
            </a:r>
          </a:p>
        </p:txBody>
      </p:sp>
      <p:sp>
        <p:nvSpPr>
          <p:cNvPr id="182" name="rect"/>
          <p:cNvSpPr/>
          <p:nvPr/>
        </p:nvSpPr>
        <p:spPr>
          <a:xfrm>
            <a:off x="600000" y="1750000"/>
            <a:ext cx="1701000" cy="21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3" name="tb"/>
          <p:cNvSpPr txBox="1"/>
          <p:nvPr/>
        </p:nvSpPr>
        <p:spPr>
          <a:xfrm>
            <a:off x="720000" y="1900000"/>
            <a:ext cx="1461000" cy="18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32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</a:p>
          <a:p>
            <a:pPr algn="ctr">
              <a:lnSpc>
                <a:spcPct val="110000"/>
              </a:lnSpc>
            </a:pPr>
            <a:r>
              <a:rPr lang="en-US" sz="13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動きを決める</a:t>
            </a:r>
          </a:p>
          <a:p>
            <a:pPr algn="ctr">
              <a:lnSpc>
                <a:spcPct val="110000"/>
              </a:lnSpc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どこからどこへ動かすか</a:t>
            </a:r>
          </a:p>
        </p:txBody>
      </p:sp>
      <p:sp>
        <p:nvSpPr>
          <p:cNvPr id="184" name="tb"/>
          <p:cNvSpPr txBox="1"/>
          <p:nvPr/>
        </p:nvSpPr>
        <p:spPr>
          <a:xfrm>
            <a:off x="2391000" y="1750000"/>
            <a:ext cx="380000" cy="21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</a:p>
        </p:txBody>
      </p:sp>
      <p:sp>
        <p:nvSpPr>
          <p:cNvPr id="185" name="rect"/>
          <p:cNvSpPr/>
          <p:nvPr/>
        </p:nvSpPr>
        <p:spPr>
          <a:xfrm>
            <a:off x="2681000" y="1750000"/>
            <a:ext cx="1701000" cy="21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6" name="tb"/>
          <p:cNvSpPr txBox="1"/>
          <p:nvPr/>
        </p:nvSpPr>
        <p:spPr>
          <a:xfrm>
            <a:off x="2801000" y="1900000"/>
            <a:ext cx="1461000" cy="18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32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</a:p>
          <a:p>
            <a:pPr algn="ctr">
              <a:lnSpc>
                <a:spcPct val="110000"/>
              </a:lnSpc>
            </a:pPr>
            <a:r>
              <a:rPr lang="en-US" sz="13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時間を決める</a:t>
            </a:r>
          </a:p>
          <a:p>
            <a:pPr algn="ctr">
              <a:lnSpc>
                <a:spcPct val="110000"/>
              </a:lnSpc>
            </a:pPr>
            <a:r>
              <a:rPr lang="en-US" sz="9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duration </a:t>
            </a:r>
            <a:r>
              <a:rPr lang="ja-JP" altLang="en-US" sz="9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と </a:t>
            </a:r>
            <a:r>
              <a:rPr lang="en-US" sz="9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delay </a:t>
            </a:r>
            <a:r>
              <a:rPr lang="ja-JP" altLang="en-US" sz="9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を置く</a:t>
            </a:r>
            <a:endParaRPr lang="en-US" sz="95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87" name="tb"/>
          <p:cNvSpPr txBox="1"/>
          <p:nvPr/>
        </p:nvSpPr>
        <p:spPr>
          <a:xfrm>
            <a:off x="4472000" y="1750000"/>
            <a:ext cx="380000" cy="21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</a:p>
        </p:txBody>
      </p:sp>
      <p:sp>
        <p:nvSpPr>
          <p:cNvPr id="188" name="rect"/>
          <p:cNvSpPr/>
          <p:nvPr/>
        </p:nvSpPr>
        <p:spPr>
          <a:xfrm>
            <a:off x="4762000" y="1750000"/>
            <a:ext cx="1701000" cy="21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9" name="tb"/>
          <p:cNvSpPr txBox="1"/>
          <p:nvPr/>
        </p:nvSpPr>
        <p:spPr>
          <a:xfrm>
            <a:off x="4882000" y="1900000"/>
            <a:ext cx="1461000" cy="18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32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</a:p>
          <a:p>
            <a:pPr algn="ctr">
              <a:lnSpc>
                <a:spcPct val="110000"/>
              </a:lnSpc>
            </a:pPr>
            <a:r>
              <a:rPr lang="en-US" sz="13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緩急を決める</a:t>
            </a:r>
          </a:p>
          <a:p>
            <a:pPr algn="ctr">
              <a:lnSpc>
                <a:spcPct val="110000"/>
              </a:lnSpc>
            </a:pPr>
            <a:r>
              <a:rPr lang="en-US" sz="9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ease </a:t>
            </a:r>
            <a:r>
              <a:rPr lang="ja-JP" altLang="en-US" sz="9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で印象を調整する</a:t>
            </a:r>
            <a:endParaRPr lang="en-US" sz="95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90" name="tb"/>
          <p:cNvSpPr txBox="1"/>
          <p:nvPr/>
        </p:nvSpPr>
        <p:spPr>
          <a:xfrm>
            <a:off x="6553000" y="1750000"/>
            <a:ext cx="380000" cy="21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200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</a:p>
        </p:txBody>
      </p:sp>
      <p:sp>
        <p:nvSpPr>
          <p:cNvPr id="191" name="rect"/>
          <p:cNvSpPr/>
          <p:nvPr/>
        </p:nvSpPr>
        <p:spPr>
          <a:xfrm>
            <a:off x="6843000" y="1750000"/>
            <a:ext cx="1701000" cy="210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2" name="tb"/>
          <p:cNvSpPr txBox="1"/>
          <p:nvPr/>
        </p:nvSpPr>
        <p:spPr>
          <a:xfrm>
            <a:off x="6963000" y="1900000"/>
            <a:ext cx="1461000" cy="180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en-US" sz="32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</a:p>
          <a:p>
            <a:pPr algn="ctr">
              <a:lnSpc>
                <a:spcPct val="110000"/>
              </a:lnSpc>
            </a:pPr>
            <a:r>
              <a:rPr lang="en-US" sz="13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重ねて仕上げる</a:t>
            </a:r>
          </a:p>
          <a:p>
            <a:pPr algn="ctr">
              <a:lnSpc>
                <a:spcPct val="110000"/>
              </a:lnSpc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複数の動きを時間差で並べる</a:t>
            </a:r>
          </a:p>
        </p:txBody>
      </p:sp>
      <p:sp>
        <p:nvSpPr>
          <p:cNvPr id="193" name="tb"/>
          <p:cNvSpPr txBox="1"/>
          <p:nvPr/>
        </p:nvSpPr>
        <p:spPr>
          <a:xfrm>
            <a:off x="600000" y="450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動きは「距離・時間・緩急」の</a:t>
            </a:r>
            <a:r>
              <a:rPr lang="en-US" altLang="ja-JP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r>
              <a:rPr lang="ja-JP" alt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点セットで設計する</a:t>
            </a:r>
            <a:endParaRPr lang="en-US" sz="100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194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5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196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13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TECHNIQUE</a:t>
            </a:r>
          </a:p>
        </p:txBody>
      </p:sp>
      <p:sp>
        <p:nvSpPr>
          <p:cNvPr id="198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動きを切り替える</a:t>
            </a:r>
          </a:p>
        </p:txBody>
      </p:sp>
      <p:sp>
        <p:nvSpPr>
          <p:cNvPr id="199" name="tb"/>
          <p:cNvSpPr txBox="1"/>
          <p:nvPr/>
        </p:nvSpPr>
        <p:spPr>
          <a:xfrm>
            <a:off x="600000" y="117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待機から歩行へ、クロスフェードでなめらかにつなぐ</a:t>
            </a:r>
          </a:p>
        </p:txBody>
      </p:sp>
      <p:sp>
        <p:nvSpPr>
          <p:cNvPr id="200" name="rect"/>
          <p:cNvSpPr/>
          <p:nvPr/>
        </p:nvSpPr>
        <p:spPr>
          <a:xfrm>
            <a:off x="600000" y="1560000"/>
            <a:ext cx="4700000" cy="1900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1" name="tb"/>
          <p:cNvSpPr txBox="1"/>
          <p:nvPr/>
        </p:nvSpPr>
        <p:spPr>
          <a:xfrm>
            <a:off x="750000" y="1710000"/>
            <a:ext cx="4400000" cy="1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idle = mixer.clipAction(clips[0]);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const walk = mixer.clipAction(clips[1]);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idle.play();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  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// 0.5</a:t>
            </a:r>
            <a:r>
              <a:rPr lang="ja-JP" alt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秒かけて切り替える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idle.crossFadeTo(walk.play(), 0.5, true);</a:t>
            </a:r>
          </a:p>
        </p:txBody>
      </p:sp>
      <p:sp>
        <p:nvSpPr>
          <p:cNvPr id="202" name="rect"/>
          <p:cNvSpPr/>
          <p:nvPr/>
        </p:nvSpPr>
        <p:spPr>
          <a:xfrm>
            <a:off x="5620000" y="1560000"/>
            <a:ext cx="2924000" cy="5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3" name="rect"/>
          <p:cNvSpPr/>
          <p:nvPr/>
        </p:nvSpPr>
        <p:spPr>
          <a:xfrm>
            <a:off x="5620000" y="1560000"/>
            <a:ext cx="60000" cy="56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204" name="tb"/>
          <p:cNvSpPr txBox="1"/>
          <p:nvPr/>
        </p:nvSpPr>
        <p:spPr>
          <a:xfrm>
            <a:off x="5820000" y="1660000"/>
            <a:ext cx="2564000" cy="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5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clipAction </a:t>
            </a:r>
            <a:r>
              <a:rPr lang="ja-JP" altLang="en-US" sz="105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複数</a:t>
            </a: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状態ごとに用意する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205" name="rect"/>
          <p:cNvSpPr/>
          <p:nvPr/>
        </p:nvSpPr>
        <p:spPr>
          <a:xfrm>
            <a:off x="5620000" y="2210000"/>
            <a:ext cx="2924000" cy="5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6" name="rect"/>
          <p:cNvSpPr/>
          <p:nvPr/>
        </p:nvSpPr>
        <p:spPr>
          <a:xfrm>
            <a:off x="5620000" y="2210000"/>
            <a:ext cx="60000" cy="56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207" name="tb"/>
          <p:cNvSpPr txBox="1"/>
          <p:nvPr/>
        </p:nvSpPr>
        <p:spPr>
          <a:xfrm>
            <a:off x="5820000" y="2310000"/>
            <a:ext cx="2564000" cy="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5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crossFadeTo()</a:t>
            </a: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なめらかに乗り換える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208" name="rect"/>
          <p:cNvSpPr/>
          <p:nvPr/>
        </p:nvSpPr>
        <p:spPr>
          <a:xfrm>
            <a:off x="5620000" y="2860000"/>
            <a:ext cx="2924000" cy="5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9" name="rect"/>
          <p:cNvSpPr/>
          <p:nvPr/>
        </p:nvSpPr>
        <p:spPr>
          <a:xfrm>
            <a:off x="5620000" y="2860000"/>
            <a:ext cx="60000" cy="56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210" name="tb"/>
          <p:cNvSpPr txBox="1"/>
          <p:nvPr/>
        </p:nvSpPr>
        <p:spPr>
          <a:xfrm>
            <a:off x="5820000" y="2960000"/>
            <a:ext cx="2564000" cy="3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50" b="1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setLoop / timeScale</a:t>
            </a: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繰り返しと速さを制御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211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2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213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14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QUALITY</a:t>
            </a:r>
          </a:p>
        </p:txBody>
      </p:sp>
      <p:sp>
        <p:nvSpPr>
          <p:cNvPr id="215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なめらかに動かす</a:t>
            </a:r>
          </a:p>
        </p:txBody>
      </p:sp>
      <p:sp>
        <p:nvSpPr>
          <p:cNvPr id="216" name="tb"/>
          <p:cNvSpPr txBox="1"/>
          <p:nvPr/>
        </p:nvSpPr>
        <p:spPr>
          <a:xfrm>
            <a:off x="600000" y="1170000"/>
            <a:ext cx="794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カクつきを避け、意図どおりの緩急を出す</a:t>
            </a:r>
          </a:p>
        </p:txBody>
      </p:sp>
      <p:sp>
        <p:nvSpPr>
          <p:cNvPr id="217" name="rect"/>
          <p:cNvSpPr/>
          <p:nvPr/>
        </p:nvSpPr>
        <p:spPr>
          <a:xfrm>
            <a:off x="600000" y="1560000"/>
            <a:ext cx="7944000" cy="1450000"/>
          </a:xfrm>
          <a:prstGeom prst="roundRect">
            <a:avLst/>
          </a:prstGeom>
          <a:solidFill>
            <a:srgbClr val="111827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8" name="tb"/>
          <p:cNvSpPr txBox="1"/>
          <p:nvPr/>
        </p:nvSpPr>
        <p:spPr>
          <a:xfrm>
            <a:off x="750000" y="1710000"/>
            <a:ext cx="7644000" cy="11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clock.getDelta();          // </a:t>
            </a:r>
            <a:r>
              <a:rPr lang="ja-JP" alt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時間基準で更新する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ease: 'power2.out';        // </a:t>
            </a:r>
            <a:r>
              <a:rPr lang="ja-JP" altLang="en-US" sz="105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減速で自然に着地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gsap.timeline();           // </a:t>
            </a:r>
            <a:r>
              <a:rPr lang="ja-JP" altLang="en-US" sz="1050" kern="0">
                <a:solidFill>
                  <a:srgbClr val="A3E635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複数の動きを時間差で並べる</a:t>
            </a:r>
          </a:p>
          <a:p>
            <a:pPr algn="l">
              <a:lnSpc>
                <a:spcPct val="135000"/>
              </a:lnSpc>
            </a:pPr>
            <a:r>
              <a:rPr lang="en-US" sz="1050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action.timeScale = 1.5;    // </a:t>
            </a:r>
            <a:r>
              <a:rPr lang="ja-JP" altLang="en-US" sz="1050" kern="0">
                <a:solidFill>
                  <a:srgbClr val="EC4899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再生速度を調整</a:t>
            </a:r>
            <a:endParaRPr lang="en-US" sz="1050" kern="0">
              <a:solidFill>
                <a:srgbClr val="22D3EE"/>
              </a:solidFill>
              <a:latin typeface="Consolas" pitchFamily="34" charset="0"/>
              <a:ea typeface="Yu Gothic UI" pitchFamily="34" charset="-122"/>
              <a:cs typeface="Consolas" pitchFamily="34" charset="0"/>
            </a:endParaRPr>
          </a:p>
        </p:txBody>
      </p:sp>
      <p:sp>
        <p:nvSpPr>
          <p:cNvPr id="219" name="rect"/>
          <p:cNvSpPr/>
          <p:nvPr/>
        </p:nvSpPr>
        <p:spPr>
          <a:xfrm>
            <a:off x="600000" y="3200000"/>
            <a:ext cx="7944000" cy="10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EC48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" name="rect"/>
          <p:cNvSpPr/>
          <p:nvPr/>
        </p:nvSpPr>
        <p:spPr>
          <a:xfrm>
            <a:off x="600000" y="3200000"/>
            <a:ext cx="70000" cy="105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221" name="tb"/>
          <p:cNvSpPr txBox="1"/>
          <p:nvPr/>
        </p:nvSpPr>
        <p:spPr>
          <a:xfrm>
            <a:off x="880000" y="3360000"/>
            <a:ext cx="7384000" cy="7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125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動きが不自然なときは</a:t>
            </a:r>
            <a:r>
              <a:rPr lang="en-US" altLang="ja-JP" sz="125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?</a:t>
            </a:r>
          </a:p>
          <a:p>
            <a:pPr algn="l">
              <a:lnSpc>
                <a:spcPct val="110000"/>
              </a:lnSpc>
            </a:pPr>
            <a:r>
              <a:rPr lang="ja-JP" altLang="en-US" sz="10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一定速の </a:t>
            </a:r>
            <a:r>
              <a:rPr lang="en-US" sz="10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linear </a:t>
            </a:r>
            <a:r>
              <a:rPr lang="ja-JP" altLang="en-US" sz="10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をやめ、出入りに緩急をつける。更新は必ず </a:t>
            </a:r>
            <a:r>
              <a:rPr lang="en-US" sz="10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delta </a:t>
            </a:r>
            <a:r>
              <a:rPr lang="ja-JP" altLang="en-US" sz="10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基準にし、同時に動かす要素は </a:t>
            </a:r>
            <a:r>
              <a:rPr lang="en-US" sz="10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timeline </a:t>
            </a:r>
            <a:r>
              <a:rPr lang="ja-JP" altLang="en-US" sz="10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で整理する。</a:t>
            </a:r>
            <a:endParaRPr lang="en-US" sz="105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222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3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224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DEBUG</a:t>
            </a:r>
          </a:p>
        </p:txBody>
      </p:sp>
      <p:sp>
        <p:nvSpPr>
          <p:cNvPr id="226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よくあるつまずきポイント</a:t>
            </a:r>
          </a:p>
        </p:txBody>
      </p:sp>
      <p:sp>
        <p:nvSpPr>
          <p:cNvPr id="227" name="rect"/>
          <p:cNvSpPr/>
          <p:nvPr/>
        </p:nvSpPr>
        <p:spPr>
          <a:xfrm>
            <a:off x="600000" y="1660000"/>
            <a:ext cx="3822000" cy="104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8" name="tb"/>
          <p:cNvSpPr txBox="1"/>
          <p:nvPr/>
        </p:nvSpPr>
        <p:spPr>
          <a:xfrm>
            <a:off x="880000" y="1800000"/>
            <a:ext cx="326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  </a:t>
            </a:r>
            <a:r>
              <a:rPr lang="ja-JP" altLang="en-US" sz="13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アニメが再生されない</a:t>
            </a:r>
          </a:p>
          <a:p>
            <a:pPr algn="l">
              <a:lnSpc>
                <a:spcPct val="110000"/>
              </a:lnSpc>
            </a:pPr>
            <a:r>
              <a:rPr 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  animate </a:t>
            </a:r>
            <a:r>
              <a:rPr lang="ja-JP" alt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内の </a:t>
            </a:r>
            <a:r>
              <a:rPr 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mixer.update(delta) </a:t>
            </a:r>
            <a:r>
              <a:rPr lang="ja-JP" alt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を確認する</a:t>
            </a:r>
            <a:endParaRPr lang="en-US" sz="105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229" name="rect"/>
          <p:cNvSpPr/>
          <p:nvPr/>
        </p:nvSpPr>
        <p:spPr>
          <a:xfrm>
            <a:off x="4722000" y="1660000"/>
            <a:ext cx="3822000" cy="104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0" name="tb"/>
          <p:cNvSpPr txBox="1"/>
          <p:nvPr/>
        </p:nvSpPr>
        <p:spPr>
          <a:xfrm>
            <a:off x="5002000" y="1800000"/>
            <a:ext cx="326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  </a:t>
            </a:r>
            <a:r>
              <a:rPr lang="ja-JP" altLang="en-US" sz="13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端末で速さが変わる</a:t>
            </a:r>
          </a:p>
          <a:p>
            <a:pPr algn="l">
              <a:lnSpc>
                <a:spcPct val="110000"/>
              </a:lnSpc>
            </a:pPr>
            <a:r>
              <a:rPr 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  </a:t>
            </a:r>
            <a:r>
              <a:rPr lang="ja-JP" alt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フレーム数ではなく </a:t>
            </a:r>
            <a:r>
              <a:rPr 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delta time </a:t>
            </a:r>
            <a:r>
              <a:rPr lang="ja-JP" alt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で更新する</a:t>
            </a:r>
            <a:endParaRPr lang="en-US" sz="105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231" name="rect"/>
          <p:cNvSpPr/>
          <p:nvPr/>
        </p:nvSpPr>
        <p:spPr>
          <a:xfrm>
            <a:off x="600000" y="2880000"/>
            <a:ext cx="3822000" cy="104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2" name="tb"/>
          <p:cNvSpPr txBox="1"/>
          <p:nvPr/>
        </p:nvSpPr>
        <p:spPr>
          <a:xfrm>
            <a:off x="880000" y="3020000"/>
            <a:ext cx="326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  </a:t>
            </a:r>
            <a:r>
              <a:rPr lang="ja-JP" altLang="en-US" sz="13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切り替えでガクッと飛ぶ</a:t>
            </a:r>
          </a:p>
          <a:p>
            <a:pPr algn="l">
              <a:lnSpc>
                <a:spcPct val="110000"/>
              </a:lnSpc>
            </a:pPr>
            <a:r>
              <a:rPr 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  crossFadeTo </a:t>
            </a:r>
            <a:r>
              <a:rPr lang="ja-JP" alt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で時間をかけて乗り換える</a:t>
            </a:r>
            <a:endParaRPr lang="en-US" sz="105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233" name="rect"/>
          <p:cNvSpPr/>
          <p:nvPr/>
        </p:nvSpPr>
        <p:spPr>
          <a:xfrm>
            <a:off x="4722000" y="2880000"/>
            <a:ext cx="3822000" cy="104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4" name="tb"/>
          <p:cNvSpPr txBox="1"/>
          <p:nvPr/>
        </p:nvSpPr>
        <p:spPr>
          <a:xfrm>
            <a:off x="5002000" y="3020000"/>
            <a:ext cx="3262000" cy="76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300" b="1" kern="0" dirty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  </a:t>
            </a:r>
            <a:r>
              <a:rPr lang="ja-JP" altLang="en-US" sz="13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動きが機械的に見える</a:t>
            </a:r>
          </a:p>
          <a:p>
            <a:pPr algn="l">
              <a:lnSpc>
                <a:spcPct val="110000"/>
              </a:lnSpc>
            </a:pPr>
            <a:r>
              <a:rPr lang="en-US" sz="1050" b="1" kern="0" dirty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  </a:t>
            </a:r>
            <a:r>
              <a:rPr 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linear </a:t>
            </a:r>
            <a:r>
              <a:rPr lang="ja-JP" alt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をやめ、</a:t>
            </a:r>
            <a:r>
              <a:rPr 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ease </a:t>
            </a:r>
            <a:r>
              <a:rPr lang="ja-JP" altLang="en-US" sz="105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と時間差を設計する</a:t>
            </a:r>
            <a:endParaRPr lang="en-US" sz="105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235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6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237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466634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HANDS-ON</a:t>
            </a:r>
          </a:p>
        </p:txBody>
      </p:sp>
      <p:sp>
        <p:nvSpPr>
          <p:cNvPr id="239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登場シーンを演出しよう</a:t>
            </a:r>
          </a:p>
        </p:txBody>
      </p:sp>
      <p:sp>
        <p:nvSpPr>
          <p:cNvPr id="240" name="rect"/>
          <p:cNvSpPr/>
          <p:nvPr/>
        </p:nvSpPr>
        <p:spPr>
          <a:xfrm>
            <a:off x="600000" y="1560000"/>
            <a:ext cx="1468800" cy="20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1" name="rect"/>
          <p:cNvSpPr/>
          <p:nvPr/>
        </p:nvSpPr>
        <p:spPr>
          <a:xfrm>
            <a:off x="600000" y="1560000"/>
            <a:ext cx="1468800" cy="7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242" name="tb"/>
          <p:cNvSpPr txBox="1"/>
          <p:nvPr/>
        </p:nvSpPr>
        <p:spPr>
          <a:xfrm>
            <a:off x="760000" y="1840000"/>
            <a:ext cx="1148800" cy="15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</a:t>
            </a:r>
          </a:p>
          <a:p>
            <a:pPr algn="l">
              <a:lnSpc>
                <a:spcPct val="110000"/>
              </a:lnSpc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モデルを読み込む</a:t>
            </a:r>
          </a:p>
          <a:p>
            <a:pPr algn="l">
              <a:lnSpc>
                <a:spcPct val="110000"/>
              </a:lnSpc>
            </a:pPr>
            <a:r>
              <a:rPr lang="ja-JP" altLang="en-US" sz="9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 </a:t>
            </a:r>
            <a:r>
              <a:rPr lang="en-US" altLang="ja-JP" sz="9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.</a:t>
            </a:r>
            <a:r>
              <a:rPr lang="en-US" sz="9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glb </a:t>
            </a:r>
            <a:r>
              <a:rPr lang="ja-JP" altLang="en-US" sz="9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を使用</a:t>
            </a:r>
            <a:endParaRPr lang="en-US" sz="95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243" name="rect"/>
          <p:cNvSpPr/>
          <p:nvPr/>
        </p:nvSpPr>
        <p:spPr>
          <a:xfrm>
            <a:off x="2218800" y="1560000"/>
            <a:ext cx="1468800" cy="20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4" name="rect"/>
          <p:cNvSpPr/>
          <p:nvPr/>
        </p:nvSpPr>
        <p:spPr>
          <a:xfrm>
            <a:off x="2218800" y="1560000"/>
            <a:ext cx="1468800" cy="7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245" name="tb"/>
          <p:cNvSpPr txBox="1"/>
          <p:nvPr/>
        </p:nvSpPr>
        <p:spPr>
          <a:xfrm>
            <a:off x="2378800" y="1840000"/>
            <a:ext cx="1148800" cy="15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</a:t>
            </a:r>
          </a:p>
          <a:p>
            <a:pPr algn="l">
              <a:lnSpc>
                <a:spcPct val="110000"/>
              </a:lnSpc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クリップ再生</a:t>
            </a:r>
          </a:p>
          <a:p>
            <a:pPr algn="l">
              <a:lnSpc>
                <a:spcPct val="110000"/>
              </a:lnSpc>
            </a:pPr>
            <a:r>
              <a:rPr lang="en-US" sz="9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AnimationMixer </a:t>
            </a:r>
            <a:r>
              <a:rPr lang="ja-JP" altLang="en-US" sz="950" b="1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で動かす</a:t>
            </a:r>
            <a:endParaRPr lang="en-US" sz="950" kern="0">
              <a:solidFill>
                <a:srgbClr val="94A3B8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246" name="rect"/>
          <p:cNvSpPr/>
          <p:nvPr/>
        </p:nvSpPr>
        <p:spPr>
          <a:xfrm>
            <a:off x="3837600" y="1560000"/>
            <a:ext cx="1468800" cy="20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7" name="rect"/>
          <p:cNvSpPr/>
          <p:nvPr/>
        </p:nvSpPr>
        <p:spPr>
          <a:xfrm>
            <a:off x="3837600" y="1560000"/>
            <a:ext cx="1468800" cy="7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248" name="tb"/>
          <p:cNvSpPr txBox="1"/>
          <p:nvPr/>
        </p:nvSpPr>
        <p:spPr>
          <a:xfrm>
            <a:off x="3997600" y="1840000"/>
            <a:ext cx="1148800" cy="15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</a:t>
            </a:r>
          </a:p>
          <a:p>
            <a:pPr algn="l">
              <a:lnSpc>
                <a:spcPct val="110000"/>
              </a:lnSpc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フェードイン</a:t>
            </a:r>
          </a:p>
          <a:p>
            <a:pPr algn="l">
              <a:lnSpc>
                <a:spcPct val="110000"/>
              </a:lnSpc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不透明度を補間する</a:t>
            </a:r>
          </a:p>
        </p:txBody>
      </p:sp>
      <p:sp>
        <p:nvSpPr>
          <p:cNvPr id="249" name="rect"/>
          <p:cNvSpPr/>
          <p:nvPr/>
        </p:nvSpPr>
        <p:spPr>
          <a:xfrm>
            <a:off x="5456400" y="1560000"/>
            <a:ext cx="1468800" cy="20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0" name="rect"/>
          <p:cNvSpPr/>
          <p:nvPr/>
        </p:nvSpPr>
        <p:spPr>
          <a:xfrm>
            <a:off x="5456400" y="1560000"/>
            <a:ext cx="1468800" cy="7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251" name="tb"/>
          <p:cNvSpPr txBox="1"/>
          <p:nvPr/>
        </p:nvSpPr>
        <p:spPr>
          <a:xfrm>
            <a:off x="5616400" y="1840000"/>
            <a:ext cx="1148800" cy="15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</a:t>
            </a:r>
          </a:p>
          <a:p>
            <a:pPr algn="l">
              <a:lnSpc>
                <a:spcPct val="110000"/>
              </a:lnSpc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スケール変化</a:t>
            </a:r>
          </a:p>
          <a:p>
            <a:pPr algn="l">
              <a:lnSpc>
                <a:spcPct val="110000"/>
              </a:lnSpc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小さく出して原寸へ</a:t>
            </a:r>
          </a:p>
        </p:txBody>
      </p:sp>
      <p:sp>
        <p:nvSpPr>
          <p:cNvPr id="252" name="rect"/>
          <p:cNvSpPr/>
          <p:nvPr/>
        </p:nvSpPr>
        <p:spPr>
          <a:xfrm>
            <a:off x="7075200" y="1560000"/>
            <a:ext cx="1468800" cy="205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3" name="rect"/>
          <p:cNvSpPr/>
          <p:nvPr/>
        </p:nvSpPr>
        <p:spPr>
          <a:xfrm>
            <a:off x="7075200" y="1560000"/>
            <a:ext cx="1468800" cy="7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254" name="tb"/>
          <p:cNvSpPr txBox="1"/>
          <p:nvPr/>
        </p:nvSpPr>
        <p:spPr>
          <a:xfrm>
            <a:off x="7235200" y="1840000"/>
            <a:ext cx="1148800" cy="153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100" b="1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5</a:t>
            </a:r>
          </a:p>
          <a:p>
            <a:pPr algn="l">
              <a:lnSpc>
                <a:spcPct val="110000"/>
              </a:lnSpc>
            </a:pPr>
            <a:r>
              <a:rPr lang="en-US" sz="125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カメラワーク</a:t>
            </a:r>
          </a:p>
          <a:p>
            <a:pPr algn="l">
              <a:lnSpc>
                <a:spcPct val="110000"/>
              </a:lnSpc>
            </a:pPr>
            <a:r>
              <a:rPr lang="en-US" sz="95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寄りから引きへ動かす</a:t>
            </a:r>
          </a:p>
        </p:txBody>
      </p:sp>
      <p:sp>
        <p:nvSpPr>
          <p:cNvPr id="255" name="rect"/>
          <p:cNvSpPr/>
          <p:nvPr/>
        </p:nvSpPr>
        <p:spPr>
          <a:xfrm>
            <a:off x="600000" y="3820000"/>
            <a:ext cx="7944000" cy="56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A3E6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6" name="rect"/>
          <p:cNvSpPr/>
          <p:nvPr/>
        </p:nvSpPr>
        <p:spPr>
          <a:xfrm>
            <a:off x="600000" y="3820000"/>
            <a:ext cx="70000" cy="560000"/>
          </a:xfrm>
          <a:prstGeom prst="rect">
            <a:avLst/>
          </a:prstGeom>
          <a:solidFill>
            <a:srgbClr val="A3E635"/>
          </a:solidFill>
        </p:spPr>
        <p:txBody>
          <a:bodyPr/>
          <a:lstStyle/>
          <a:p>
            <a:endParaRPr lang="en-US"/>
          </a:p>
        </p:txBody>
      </p:sp>
      <p:sp>
        <p:nvSpPr>
          <p:cNvPr id="257" name="tb"/>
          <p:cNvSpPr txBox="1"/>
          <p:nvPr/>
        </p:nvSpPr>
        <p:spPr>
          <a:xfrm>
            <a:off x="880000" y="3980000"/>
            <a:ext cx="7384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115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ゴール</a:t>
            </a:r>
            <a:r>
              <a:rPr lang="en-US" altLang="ja-JP" sz="115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:  </a:t>
            </a:r>
            <a:r>
              <a:rPr lang="ja-JP" altLang="en-US" sz="115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モデルがなめらかに登場し、動きながらカメラが引いて全体を見せる</a:t>
            </a:r>
            <a:endParaRPr lang="en-US" sz="115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258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9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260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17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WRAP UP</a:t>
            </a:r>
          </a:p>
        </p:txBody>
      </p:sp>
      <p:sp>
        <p:nvSpPr>
          <p:cNvPr id="262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まとめ &amp; 次回予告</a:t>
            </a:r>
          </a:p>
        </p:txBody>
      </p:sp>
      <p:sp>
        <p:nvSpPr>
          <p:cNvPr id="263" name="rect"/>
          <p:cNvSpPr/>
          <p:nvPr/>
        </p:nvSpPr>
        <p:spPr>
          <a:xfrm>
            <a:off x="600000" y="1560000"/>
            <a:ext cx="3822000" cy="278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4" name="tb"/>
          <p:cNvSpPr txBox="1"/>
          <p:nvPr/>
        </p:nvSpPr>
        <p:spPr>
          <a:xfrm>
            <a:off x="900000" y="1860000"/>
            <a:ext cx="3222000" cy="21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spcAft>
                <a:spcPts val="250"/>
              </a:spcAft>
            </a:pPr>
            <a:r>
              <a:rPr lang="en-US" sz="13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今日のまとめ</a:t>
            </a:r>
          </a:p>
          <a:p>
            <a:pPr algn="l">
              <a:lnSpc>
                <a:spcPct val="110000"/>
              </a:lnSpc>
              <a:spcAft>
                <a:spcPts val="250"/>
              </a:spcAft>
            </a:pP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AnimationMixer </a:t>
            </a: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でクリップを再生する</a:t>
            </a:r>
          </a:p>
          <a:p>
            <a:pPr algn="l">
              <a:lnSpc>
                <a:spcPct val="110000"/>
              </a:lnSpc>
              <a:spcAft>
                <a:spcPts val="250"/>
              </a:spcAft>
            </a:pP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Clock </a:t>
            </a: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 </a:t>
            </a: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delta </a:t>
            </a: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で時間基準に更新する</a:t>
            </a:r>
          </a:p>
          <a:p>
            <a:pPr algn="l">
              <a:lnSpc>
                <a:spcPct val="110000"/>
              </a:lnSpc>
              <a:spcAft>
                <a:spcPts val="250"/>
              </a:spcAft>
            </a:pP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GSAP / tween.js </a:t>
            </a: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 </a:t>
            </a: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ease </a:t>
            </a: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で緩急をつくる</a:t>
            </a:r>
          </a:p>
          <a:p>
            <a:pPr algn="l">
              <a:lnSpc>
                <a:spcPct val="110000"/>
              </a:lnSpc>
              <a:spcAft>
                <a:spcPts val="250"/>
              </a:spcAft>
            </a:pP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sin / cos </a:t>
            </a: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で周期的な動きを足す</a:t>
            </a:r>
          </a:p>
          <a:p>
            <a:pPr algn="l">
              <a:lnSpc>
                <a:spcPct val="110000"/>
              </a:lnSpc>
              <a:spcAft>
                <a:spcPts val="250"/>
              </a:spcAft>
            </a:pP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r>
              <a:rPr 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crossFadeTo </a:t>
            </a:r>
            <a:r>
              <a:rPr lang="ja-JP" altLang="en-US" sz="1100" b="1" kern="0">
                <a:solidFill>
                  <a:srgbClr val="A3E63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で状態をつなぐ</a:t>
            </a:r>
            <a:endParaRPr lang="en-US" sz="11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265" name="rect"/>
          <p:cNvSpPr/>
          <p:nvPr/>
        </p:nvSpPr>
        <p:spPr>
          <a:xfrm>
            <a:off x="4722000" y="1560000"/>
            <a:ext cx="3822000" cy="2780000"/>
          </a:xfrm>
          <a:prstGeom prst="roundRect">
            <a:avLst/>
          </a:prstGeom>
          <a:solidFill>
            <a:srgbClr val="111A2E"/>
          </a:solidFill>
          <a:ln w="6350">
            <a:solidFill>
              <a:srgbClr val="EC489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6" name="rect"/>
          <p:cNvSpPr/>
          <p:nvPr/>
        </p:nvSpPr>
        <p:spPr>
          <a:xfrm>
            <a:off x="4722000" y="1560000"/>
            <a:ext cx="3822000" cy="80000"/>
          </a:xfrm>
          <a:prstGeom prst="rect">
            <a:avLst/>
          </a:prstGeom>
          <a:solidFill>
            <a:srgbClr val="EC4899"/>
          </a:solidFill>
        </p:spPr>
        <p:txBody>
          <a:bodyPr/>
          <a:lstStyle/>
          <a:p>
            <a:endParaRPr lang="en-US"/>
          </a:p>
        </p:txBody>
      </p:sp>
      <p:sp>
        <p:nvSpPr>
          <p:cNvPr id="267" name="tb"/>
          <p:cNvSpPr txBox="1"/>
          <p:nvPr/>
        </p:nvSpPr>
        <p:spPr>
          <a:xfrm>
            <a:off x="5022000" y="1880000"/>
            <a:ext cx="3222000" cy="21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ja-JP" altLang="en-US" sz="1200" b="1" kern="0" spc="2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次回</a:t>
            </a:r>
            <a:r>
              <a:rPr lang="en-US" altLang="ja-JP" sz="1200" b="1" kern="0" spc="2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: </a:t>
            </a:r>
            <a:r>
              <a:rPr lang="en-US" sz="1200" b="1" kern="0" spc="2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SESSION 08</a:t>
            </a:r>
          </a:p>
          <a:p>
            <a:pPr algn="l">
              <a:lnSpc>
                <a:spcPct val="110000"/>
              </a:lnSpc>
            </a:pPr>
            <a:r>
              <a:rPr lang="en-US" sz="1600" b="1" kern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ポストプロセスとエフェクト</a:t>
            </a: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画面全体の質感を後処理で底上げします。</a:t>
            </a:r>
          </a:p>
          <a:p>
            <a:pPr algn="l">
              <a:lnSpc>
                <a:spcPct val="110000"/>
              </a:lnSpc>
            </a:pPr>
            <a:r>
              <a:rPr lang="ja-JP" altLang="en-US" sz="1050" b="1" kern="0" spc="2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 </a:t>
            </a:r>
            <a:r>
              <a:rPr lang="en-US" sz="1050" b="1" kern="0" spc="2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EffectComposer </a:t>
            </a:r>
            <a:r>
              <a:rPr lang="ja-JP" altLang="en-US" sz="1050" b="1" kern="0" spc="2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と </a:t>
            </a:r>
            <a:r>
              <a:rPr lang="en-US" sz="1050" b="1" kern="0" spc="2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Pass </a:t>
            </a:r>
            <a:r>
              <a:rPr lang="ja-JP" altLang="en-US" sz="1050" b="1" kern="0" spc="2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の考え方</a:t>
            </a:r>
          </a:p>
          <a:p>
            <a:pPr algn="l">
              <a:lnSpc>
                <a:spcPct val="110000"/>
              </a:lnSpc>
            </a:pPr>
            <a:r>
              <a:rPr lang="ja-JP" altLang="en-US" sz="1050" b="1" kern="0" spc="2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 </a:t>
            </a:r>
            <a:r>
              <a:rPr lang="en-US" sz="1050" b="1" kern="0" spc="2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UnrealBloomPass </a:t>
            </a:r>
            <a:r>
              <a:rPr lang="ja-JP" altLang="en-US" sz="1050" b="1" kern="0" spc="20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で発光表現</a:t>
            </a:r>
          </a:p>
          <a:p>
            <a:pPr algn="l">
              <a:lnSpc>
                <a:spcPct val="110000"/>
              </a:lnSpc>
            </a:pPr>
            <a:r>
              <a:rPr lang="en-US" sz="1050" kern="0">
                <a:solidFill>
                  <a:srgbClr val="EC489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 負荷とのバランスを取る</a:t>
            </a:r>
            <a:endParaRPr lang="en-US" sz="105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268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9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270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18 /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b"/>
          <p:cNvSpPr txBox="1"/>
          <p:nvPr/>
        </p:nvSpPr>
        <p:spPr>
          <a:xfrm>
            <a:off x="600000" y="430000"/>
            <a:ext cx="7944000" cy="24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1000" b="1" kern="0" spc="400" dirty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GLOSSARY</a:t>
            </a:r>
          </a:p>
        </p:txBody>
      </p:sp>
      <p:sp>
        <p:nvSpPr>
          <p:cNvPr id="262" name="tb"/>
          <p:cNvSpPr txBox="1"/>
          <p:nvPr/>
        </p:nvSpPr>
        <p:spPr>
          <a:xfrm>
            <a:off x="600000" y="690000"/>
            <a:ext cx="7944000" cy="47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2400" b="1" kern="0" dirty="0">
                <a:solidFill>
                  <a:srgbClr val="F8FAF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用語集 — 今回登場した専門用語</a:t>
            </a:r>
          </a:p>
        </p:txBody>
      </p:sp>
      <p:sp>
        <p:nvSpPr>
          <p:cNvPr id="268" name="ln"/>
          <p:cNvSpPr/>
          <p:nvPr/>
        </p:nvSpPr>
        <p:spPr>
          <a:xfrm>
            <a:off x="600000" y="4770000"/>
            <a:ext cx="7944000" cy="0"/>
          </a:xfrm>
          <a:prstGeom prst="line">
            <a:avLst/>
          </a:prstGeom>
          <a:ln w="6350">
            <a:solidFill>
              <a:srgbClr val="1F2A44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9" name="tb"/>
          <p:cNvSpPr txBox="1"/>
          <p:nvPr/>
        </p:nvSpPr>
        <p:spPr>
          <a:xfrm>
            <a:off x="600000" y="4830000"/>
            <a:ext cx="40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</a:pPr>
            <a:r>
              <a:rPr lang="en-US" sz="800" kern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Three.js × WebGL 実践講座</a:t>
            </a:r>
          </a:p>
        </p:txBody>
      </p:sp>
      <p:sp>
        <p:nvSpPr>
          <p:cNvPr id="270" name="tb"/>
          <p:cNvSpPr txBox="1"/>
          <p:nvPr/>
        </p:nvSpPr>
        <p:spPr>
          <a:xfrm>
            <a:off x="7144000" y="4830000"/>
            <a:ext cx="1400000" cy="2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lang="en-US" sz="800" b="1" kern="0" dirty="0">
                <a:solidFill>
                  <a:srgbClr val="22D3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APPENDIX</a:t>
            </a:r>
          </a:p>
        </p:txBody>
      </p:sp>
      <p:sp>
        <p:nvSpPr>
          <p:cNvPr id="300" name="tb"/>
          <p:cNvSpPr txBox="1"/>
          <p:nvPr/>
        </p:nvSpPr>
        <p:spPr>
          <a:xfrm>
            <a:off x="596900" y="1168400"/>
            <a:ext cx="79502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kern="0" dirty="0">
                <a:solidFill>
                  <a:srgbClr val="94A3B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本セッションに登場した専門用語をまとめて確認する</a:t>
            </a:r>
          </a:p>
        </p:txBody>
      </p:sp>
      <p:sp>
        <p:nvSpPr>
          <p:cNvPr id="301" name="rect"/>
          <p:cNvSpPr/>
          <p:nvPr/>
        </p:nvSpPr>
        <p:spPr>
          <a:xfrm>
            <a:off x="596900" y="15621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2" name="rect"/>
          <p:cNvSpPr/>
          <p:nvPr/>
        </p:nvSpPr>
        <p:spPr>
          <a:xfrm>
            <a:off x="596900" y="15621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3" name="tb"/>
          <p:cNvSpPr txBox="1"/>
          <p:nvPr/>
        </p:nvSpPr>
        <p:spPr>
          <a:xfrm>
            <a:off x="787400" y="16637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AnimationMixer</a:t>
            </a:r>
            <a:endParaRPr lang="en-US" sz="1150" b="1" kern="0" dirty="0">
              <a:solidFill>
                <a:srgbClr val="22D3EE"/>
              </a:solidFill>
              <a:latin typeface="Consolas" pitchFamily="34" charset="0"/>
              <a:ea typeface="Yu Gothic UI" pitchFamily="34" charset="-122"/>
              <a:cs typeface="Consolas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アニメ再生の管理役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304" name="rect"/>
          <p:cNvSpPr/>
          <p:nvPr/>
        </p:nvSpPr>
        <p:spPr>
          <a:xfrm>
            <a:off x="3302000" y="15621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5" name="rect"/>
          <p:cNvSpPr/>
          <p:nvPr/>
        </p:nvSpPr>
        <p:spPr>
          <a:xfrm>
            <a:off x="3302000" y="15621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6" name="tb"/>
          <p:cNvSpPr txBox="1"/>
          <p:nvPr/>
        </p:nvSpPr>
        <p:spPr>
          <a:xfrm>
            <a:off x="3492500" y="16637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AnimationClip</a:t>
            </a:r>
            <a:endParaRPr lang="en-US" sz="1150" b="1" kern="0" dirty="0">
              <a:solidFill>
                <a:srgbClr val="22D3EE"/>
              </a:solidFill>
              <a:latin typeface="Consolas" pitchFamily="34" charset="0"/>
              <a:ea typeface="Yu Gothic UI" pitchFamily="34" charset="-122"/>
              <a:cs typeface="Consolas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一連の動きのデータ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307" name="rect"/>
          <p:cNvSpPr/>
          <p:nvPr/>
        </p:nvSpPr>
        <p:spPr>
          <a:xfrm>
            <a:off x="6007100" y="15621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8" name="rect"/>
          <p:cNvSpPr/>
          <p:nvPr/>
        </p:nvSpPr>
        <p:spPr>
          <a:xfrm>
            <a:off x="6007100" y="15621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9" name="tb"/>
          <p:cNvSpPr txBox="1"/>
          <p:nvPr/>
        </p:nvSpPr>
        <p:spPr>
          <a:xfrm>
            <a:off x="6197600" y="16637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clipAction()</a:t>
            </a:r>
            <a:endParaRPr lang="en-US" sz="1150" b="1" kern="0" dirty="0">
              <a:solidFill>
                <a:srgbClr val="22D3EE"/>
              </a:solidFill>
              <a:latin typeface="Consolas" pitchFamily="34" charset="0"/>
              <a:ea typeface="Yu Gothic UI" pitchFamily="34" charset="-122"/>
              <a:cs typeface="Consolas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クリップを操作する窓口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310" name="rect"/>
          <p:cNvSpPr/>
          <p:nvPr/>
        </p:nvSpPr>
        <p:spPr>
          <a:xfrm>
            <a:off x="596900" y="22987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1" name="rect"/>
          <p:cNvSpPr/>
          <p:nvPr/>
        </p:nvSpPr>
        <p:spPr>
          <a:xfrm>
            <a:off x="596900" y="22987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2" name="tb"/>
          <p:cNvSpPr txBox="1"/>
          <p:nvPr/>
        </p:nvSpPr>
        <p:spPr>
          <a:xfrm>
            <a:off x="787400" y="24003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Clock</a:t>
            </a:r>
            <a:endParaRPr lang="en-US" sz="1150" b="1" kern="0" dirty="0">
              <a:solidFill>
                <a:srgbClr val="22D3EE"/>
              </a:solidFill>
              <a:latin typeface="Consolas" pitchFamily="34" charset="0"/>
              <a:ea typeface="Yu Gothic UI" pitchFamily="34" charset="-122"/>
              <a:cs typeface="Consolas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経過時間を測るクラス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313" name="rect"/>
          <p:cNvSpPr/>
          <p:nvPr/>
        </p:nvSpPr>
        <p:spPr>
          <a:xfrm>
            <a:off x="3302000" y="22987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4" name="rect"/>
          <p:cNvSpPr/>
          <p:nvPr/>
        </p:nvSpPr>
        <p:spPr>
          <a:xfrm>
            <a:off x="3302000" y="22987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5" name="tb"/>
          <p:cNvSpPr txBox="1"/>
          <p:nvPr/>
        </p:nvSpPr>
        <p:spPr>
          <a:xfrm>
            <a:off x="3492500" y="24003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delta time</a:t>
            </a:r>
            <a:endParaRPr lang="en-US" sz="1150" b="1" kern="0" dirty="0">
              <a:solidFill>
                <a:srgbClr val="22D3EE"/>
              </a:solidFill>
              <a:latin typeface="Consolas" pitchFamily="34" charset="0"/>
              <a:ea typeface="Yu Gothic UI" pitchFamily="34" charset="-122"/>
              <a:cs typeface="Consolas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前フレームからの秒数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316" name="rect"/>
          <p:cNvSpPr/>
          <p:nvPr/>
        </p:nvSpPr>
        <p:spPr>
          <a:xfrm>
            <a:off x="6007100" y="22987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7" name="rect"/>
          <p:cNvSpPr/>
          <p:nvPr/>
        </p:nvSpPr>
        <p:spPr>
          <a:xfrm>
            <a:off x="6007100" y="22987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8" name="tb"/>
          <p:cNvSpPr txBox="1"/>
          <p:nvPr/>
        </p:nvSpPr>
        <p:spPr>
          <a:xfrm>
            <a:off x="6197600" y="24003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Easing</a:t>
            </a:r>
            <a:endParaRPr lang="en-US" sz="1150" b="1" kern="0" dirty="0">
              <a:solidFill>
                <a:srgbClr val="22D3EE"/>
              </a:solidFill>
              <a:latin typeface="Consolas" pitchFamily="34" charset="0"/>
              <a:ea typeface="Yu Gothic UI" pitchFamily="34" charset="-122"/>
              <a:cs typeface="Consolas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変化の速度カーブ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319" name="rect"/>
          <p:cNvSpPr/>
          <p:nvPr/>
        </p:nvSpPr>
        <p:spPr>
          <a:xfrm>
            <a:off x="596900" y="30353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0" name="rect"/>
          <p:cNvSpPr/>
          <p:nvPr/>
        </p:nvSpPr>
        <p:spPr>
          <a:xfrm>
            <a:off x="596900" y="30353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1" name="tb"/>
          <p:cNvSpPr txBox="1"/>
          <p:nvPr/>
        </p:nvSpPr>
        <p:spPr>
          <a:xfrm>
            <a:off x="787400" y="31369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GSAP</a:t>
            </a:r>
            <a:endParaRPr lang="en-US" sz="1150" b="1" kern="0" dirty="0">
              <a:solidFill>
                <a:srgbClr val="22D3EE"/>
              </a:solidFill>
              <a:latin typeface="Consolas" pitchFamily="34" charset="0"/>
              <a:ea typeface="Yu Gothic UI" pitchFamily="34" charset="-122"/>
              <a:cs typeface="Consolas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補間アニメのライブラリ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322" name="rect"/>
          <p:cNvSpPr/>
          <p:nvPr/>
        </p:nvSpPr>
        <p:spPr>
          <a:xfrm>
            <a:off x="3302000" y="30353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3" name="rect"/>
          <p:cNvSpPr/>
          <p:nvPr/>
        </p:nvSpPr>
        <p:spPr>
          <a:xfrm>
            <a:off x="3302000" y="30353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4" name="tb"/>
          <p:cNvSpPr txBox="1"/>
          <p:nvPr/>
        </p:nvSpPr>
        <p:spPr>
          <a:xfrm>
            <a:off x="3492500" y="31369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tween.js</a:t>
            </a:r>
            <a:endParaRPr lang="en-US" sz="1150" b="1" kern="0" dirty="0">
              <a:solidFill>
                <a:srgbClr val="22D3EE"/>
              </a:solidFill>
              <a:latin typeface="Consolas" pitchFamily="34" charset="0"/>
              <a:ea typeface="Yu Gothic UI" pitchFamily="34" charset="-122"/>
              <a:cs typeface="Consolas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軽量な補間ライブラリ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325" name="rect"/>
          <p:cNvSpPr/>
          <p:nvPr/>
        </p:nvSpPr>
        <p:spPr>
          <a:xfrm>
            <a:off x="6007100" y="30353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6" name="rect"/>
          <p:cNvSpPr/>
          <p:nvPr/>
        </p:nvSpPr>
        <p:spPr>
          <a:xfrm>
            <a:off x="6007100" y="30353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7" name="tb"/>
          <p:cNvSpPr txBox="1"/>
          <p:nvPr/>
        </p:nvSpPr>
        <p:spPr>
          <a:xfrm>
            <a:off x="6197600" y="31369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crossFadeTo</a:t>
            </a:r>
            <a:r>
              <a:rPr lang="en-US" sz="1150" b="1" kern="0" dirty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()</a:t>
            </a: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動きを乗り換える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328" name="rect"/>
          <p:cNvSpPr/>
          <p:nvPr/>
        </p:nvSpPr>
        <p:spPr>
          <a:xfrm>
            <a:off x="596900" y="37719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9" name="rect"/>
          <p:cNvSpPr/>
          <p:nvPr/>
        </p:nvSpPr>
        <p:spPr>
          <a:xfrm>
            <a:off x="596900" y="37719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0" name="tb"/>
          <p:cNvSpPr txBox="1"/>
          <p:nvPr/>
        </p:nvSpPr>
        <p:spPr>
          <a:xfrm>
            <a:off x="787400" y="38735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timeScale</a:t>
            </a:r>
            <a:endParaRPr lang="en-US" sz="1150" b="1" kern="0" dirty="0">
              <a:solidFill>
                <a:srgbClr val="22D3EE"/>
              </a:solidFill>
              <a:latin typeface="Consolas" pitchFamily="34" charset="0"/>
              <a:ea typeface="Yu Gothic UI" pitchFamily="34" charset="-122"/>
              <a:cs typeface="Consolas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再生速度の倍率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331" name="rect"/>
          <p:cNvSpPr/>
          <p:nvPr/>
        </p:nvSpPr>
        <p:spPr>
          <a:xfrm>
            <a:off x="3302000" y="37719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2" name="rect"/>
          <p:cNvSpPr/>
          <p:nvPr/>
        </p:nvSpPr>
        <p:spPr>
          <a:xfrm>
            <a:off x="3302000" y="37719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3" name="tb"/>
          <p:cNvSpPr txBox="1"/>
          <p:nvPr/>
        </p:nvSpPr>
        <p:spPr>
          <a:xfrm>
            <a:off x="3492500" y="38735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timeline</a:t>
            </a:r>
            <a:endParaRPr lang="en-US" sz="1150" b="1" kern="0" dirty="0">
              <a:solidFill>
                <a:srgbClr val="22D3EE"/>
              </a:solidFill>
              <a:latin typeface="Consolas" pitchFamily="34" charset="0"/>
              <a:ea typeface="Yu Gothic UI" pitchFamily="34" charset="-122"/>
              <a:cs typeface="Consolas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動きを時間軸で並べる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  <p:sp>
        <p:nvSpPr>
          <p:cNvPr id="334" name="rect"/>
          <p:cNvSpPr/>
          <p:nvPr/>
        </p:nvSpPr>
        <p:spPr>
          <a:xfrm>
            <a:off x="6007100" y="3771900"/>
            <a:ext cx="2540000" cy="660400"/>
          </a:xfrm>
          <a:prstGeom prst="rect">
            <a:avLst/>
          </a:prstGeom>
          <a:solidFill>
            <a:srgbClr val="111A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5" name="rect"/>
          <p:cNvSpPr/>
          <p:nvPr/>
        </p:nvSpPr>
        <p:spPr>
          <a:xfrm>
            <a:off x="6007100" y="3771900"/>
            <a:ext cx="63500" cy="6604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6" name="tb"/>
          <p:cNvSpPr txBox="1"/>
          <p:nvPr/>
        </p:nvSpPr>
        <p:spPr>
          <a:xfrm>
            <a:off x="6197600" y="3873500"/>
            <a:ext cx="2184400" cy="46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1150" b="1" kern="0">
                <a:solidFill>
                  <a:srgbClr val="22D3EE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キーフレーム</a:t>
            </a:r>
            <a:endParaRPr lang="en-US" sz="1150" b="1" kern="0" dirty="0">
              <a:solidFill>
                <a:srgbClr val="22D3EE"/>
              </a:solidFill>
              <a:latin typeface="Consolas" pitchFamily="34" charset="0"/>
              <a:ea typeface="Yu Gothic UI" pitchFamily="34" charset="-122"/>
              <a:cs typeface="Consolas" pitchFamily="34" charset="0"/>
            </a:endParaRPr>
          </a:p>
          <a:p>
            <a:pPr algn="l">
              <a:lnSpc>
                <a:spcPct val="110000"/>
              </a:lnSpc>
            </a:pPr>
            <a:r>
              <a:rPr lang="en-US" sz="1000" kern="0">
                <a:solidFill>
                  <a:srgbClr val="F8FAFC"/>
                </a:solidFill>
                <a:latin typeface="Consolas" pitchFamily="34" charset="0"/>
                <a:ea typeface="Yu Gothic UI" pitchFamily="34" charset="-122"/>
                <a:cs typeface="Consolas" pitchFamily="34" charset="0"/>
              </a:rPr>
              <a:t>動きの節目となる値</a:t>
            </a:r>
            <a:endParaRPr lang="en-US" sz="1000" kern="0">
              <a:solidFill>
                <a:srgbClr val="F8FAFC"/>
              </a:solidFill>
              <a:latin typeface="Yu Gothic UI" pitchFamily="34" charset="0"/>
              <a:ea typeface="Yu Gothic UI" pitchFamily="34" charset="-122"/>
              <a:cs typeface="Yu Gothic U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41046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3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DC1929-AC6C-4DD0-98B0-975F067FBCD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bb2f4f7d-99e6-40c6-825d-4043120f954d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42FDA3ABBCD154A9210F0A70488BDA5" ma:contentTypeVersion="13" ma:contentTypeDescription="新しいドキュメントを作成します。" ma:contentTypeScope="" ma:versionID="f113d3662dbff0b3d5c059083f0e6c17">
  <xsd:schema xmlns:xsd="http://www.w3.org/2001/XMLSchema" xmlns:xs="http://www.w3.org/2001/XMLSchema" xmlns:p="http://schemas.microsoft.com/office/2006/metadata/properties" xmlns:ns3="91a5efbd-7d02-4308-8565-d8690abf6588" targetNamespace="http://schemas.microsoft.com/office/2006/metadata/properties" ma:root="true" ma:fieldsID="18fefd990dfabeaf438368bc46c1ae56" ns3:_="">
    <xsd:import namespace="91a5efbd-7d02-4308-8565-d8690abf658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LengthInSeconds" minOccurs="0"/>
                <xsd:element ref="ns3:MediaServiceBillingMetadata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5efbd-7d02-4308-8565-d8690abf658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1a5efbd-7d02-4308-8565-d8690abf6588" xsi:nil="true"/>
  </documentManagement>
</p:properties>
</file>

<file path=customXml/itemProps1.xml><?xml version="1.0" encoding="utf-8"?>
<ds:datastoreItem xmlns:ds="http://schemas.openxmlformats.org/officeDocument/2006/customXml" ds:itemID="{5C456E8C-53D5-4439-A4EE-3C6D4B5B6C35}">
  <ds:schemaRefs>
    <ds:schemaRef ds:uri="91a5efbd-7d02-4308-8565-d8690abf65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CA765A0-5BC8-4512-8168-7EE8771F47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E9BFE4-3C3B-4700-A2A0-2A03D9FA7A2F}">
  <ds:schemaRefs>
    <ds:schemaRef ds:uri="http://schemas.openxmlformats.org/package/2006/metadata/core-properties"/>
    <ds:schemaRef ds:uri="91a5efbd-7d02-4308-8565-d8690abf6588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8d41d6d7-36ce-4e0c-8c6d-cf2c54c39039}" enabled="0" method="" siteId="{8d41d6d7-36ce-4e0c-8c6d-cf2c54c3903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1380</Words>
  <Application>Microsoft Office PowerPoint</Application>
  <PresentationFormat>画面に合わせる (16:9)</PresentationFormat>
  <Paragraphs>355</Paragraphs>
  <Slides>21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5" baseType="lpstr">
      <vt:lpstr>Yu Gothic UI</vt:lpstr>
      <vt:lpstr>Arial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NH-STAFF 高橋真広</cp:lastModifiedBy>
  <cp:revision>1</cp:revision>
  <dcterms:created xsi:type="dcterms:W3CDTF">2026-05-30T09:11:27Z</dcterms:created>
  <dcterms:modified xsi:type="dcterms:W3CDTF">2026-09-01T04:21:01Z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0x010100142FDA3ABBCD154A9210F0A70488BDA5</vt:lpwstr>
  </property>
</Properties>
</file>